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7"/>
  </p:notesMasterIdLst>
  <p:sldIdLst>
    <p:sldId id="256" r:id="rId2"/>
    <p:sldId id="257" r:id="rId3"/>
    <p:sldId id="258" r:id="rId4"/>
    <p:sldId id="259" r:id="rId5"/>
    <p:sldId id="260" r:id="rId6"/>
    <p:sldId id="261" r:id="rId7"/>
    <p:sldId id="262" r:id="rId8"/>
    <p:sldId id="263" r:id="rId9"/>
    <p:sldId id="264" r:id="rId10"/>
    <p:sldId id="265" r:id="rId11"/>
    <p:sldId id="289" r:id="rId12"/>
    <p:sldId id="303" r:id="rId13"/>
    <p:sldId id="304" r:id="rId14"/>
    <p:sldId id="305" r:id="rId15"/>
    <p:sldId id="306" r:id="rId16"/>
    <p:sldId id="307" r:id="rId17"/>
    <p:sldId id="308" r:id="rId18"/>
    <p:sldId id="309" r:id="rId19"/>
    <p:sldId id="310" r:id="rId20"/>
    <p:sldId id="311" r:id="rId21"/>
    <p:sldId id="298" r:id="rId22"/>
    <p:sldId id="299" r:id="rId23"/>
    <p:sldId id="300" r:id="rId24"/>
    <p:sldId id="301" r:id="rId25"/>
    <p:sldId id="290" r:id="rId26"/>
    <p:sldId id="291" r:id="rId27"/>
    <p:sldId id="292" r:id="rId28"/>
    <p:sldId id="293" r:id="rId29"/>
    <p:sldId id="294" r:id="rId30"/>
    <p:sldId id="295" r:id="rId31"/>
    <p:sldId id="296" r:id="rId32"/>
    <p:sldId id="297" r:id="rId33"/>
    <p:sldId id="266" r:id="rId34"/>
    <p:sldId id="267" r:id="rId35"/>
    <p:sldId id="268" r:id="rId36"/>
    <p:sldId id="269" r:id="rId37"/>
    <p:sldId id="270" r:id="rId38"/>
    <p:sldId id="271" r:id="rId39"/>
    <p:sldId id="272" r:id="rId40"/>
    <p:sldId id="273" r:id="rId41"/>
    <p:sldId id="274" r:id="rId42"/>
    <p:sldId id="275" r:id="rId43"/>
    <p:sldId id="276" r:id="rId44"/>
    <p:sldId id="277" r:id="rId45"/>
    <p:sldId id="278" r:id="rId46"/>
    <p:sldId id="279" r:id="rId47"/>
    <p:sldId id="280" r:id="rId48"/>
    <p:sldId id="281" r:id="rId49"/>
    <p:sldId id="282" r:id="rId50"/>
    <p:sldId id="283" r:id="rId51"/>
    <p:sldId id="284" r:id="rId52"/>
    <p:sldId id="285" r:id="rId53"/>
    <p:sldId id="286" r:id="rId54"/>
    <p:sldId id="287" r:id="rId55"/>
    <p:sldId id="288" r:id="rId5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48" d="100"/>
          <a:sy n="48" d="100"/>
        </p:scale>
        <p:origin x="67" y="7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charts/_rels/chart1.xml.rels><?xml version="1.0" encoding="UTF-8" standalone="yes"?>
<Relationships xmlns="http://schemas.openxmlformats.org/package/2006/relationships"><Relationship Id="rId3" Type="http://schemas.openxmlformats.org/officeDocument/2006/relationships/oleObject" Target="file:///C:\aniruddh%20files\PGDM\Project%20analysis%20(2).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aniruddh%20files\PGDM\Project%20analysis%20(2).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aniruddh%20files\PGDM\Project%20analysis%20(2).xlsx" TargetMode="External"/><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a:t>Skewness</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areaChart>
        <c:grouping val="standard"/>
        <c:varyColors val="0"/>
        <c:ser>
          <c:idx val="0"/>
          <c:order val="0"/>
          <c:spPr>
            <a:solidFill>
              <a:schemeClr val="accent1"/>
            </a:solidFill>
            <a:ln>
              <a:noFill/>
            </a:ln>
            <a:effectLst/>
          </c:spPr>
          <c:val>
            <c:numRef>
              <c:f>'Q1'!$D$4:$D$7</c:f>
              <c:numCache>
                <c:formatCode>General</c:formatCode>
                <c:ptCount val="4"/>
                <c:pt idx="0">
                  <c:v>1</c:v>
                </c:pt>
                <c:pt idx="1">
                  <c:v>2</c:v>
                </c:pt>
                <c:pt idx="2">
                  <c:v>3</c:v>
                </c:pt>
                <c:pt idx="3">
                  <c:v>4</c:v>
                </c:pt>
              </c:numCache>
            </c:numRef>
          </c:val>
          <c:extLst>
            <c:ext xmlns:c16="http://schemas.microsoft.com/office/drawing/2014/chart" uri="{C3380CC4-5D6E-409C-BE32-E72D297353CC}">
              <c16:uniqueId val="{00000000-6885-4527-9A5B-D726B21518DD}"/>
            </c:ext>
          </c:extLst>
        </c:ser>
        <c:ser>
          <c:idx val="1"/>
          <c:order val="1"/>
          <c:spPr>
            <a:solidFill>
              <a:schemeClr val="accent2"/>
            </a:solidFill>
            <a:ln>
              <a:noFill/>
            </a:ln>
            <a:effectLst/>
          </c:spPr>
          <c:val>
            <c:numRef>
              <c:f>'Q1'!$E$4:$E$7</c:f>
              <c:numCache>
                <c:formatCode>General</c:formatCode>
                <c:ptCount val="4"/>
                <c:pt idx="0">
                  <c:v>14</c:v>
                </c:pt>
                <c:pt idx="1">
                  <c:v>25</c:v>
                </c:pt>
                <c:pt idx="2">
                  <c:v>37</c:v>
                </c:pt>
                <c:pt idx="3">
                  <c:v>36</c:v>
                </c:pt>
              </c:numCache>
            </c:numRef>
          </c:val>
          <c:extLst>
            <c:ext xmlns:c16="http://schemas.microsoft.com/office/drawing/2014/chart" uri="{C3380CC4-5D6E-409C-BE32-E72D297353CC}">
              <c16:uniqueId val="{00000001-6885-4527-9A5B-D726B21518DD}"/>
            </c:ext>
          </c:extLst>
        </c:ser>
        <c:dLbls>
          <c:showLegendKey val="0"/>
          <c:showVal val="0"/>
          <c:showCatName val="0"/>
          <c:showSerName val="0"/>
          <c:showPercent val="0"/>
          <c:showBubbleSize val="0"/>
        </c:dLbls>
        <c:axId val="1430124255"/>
        <c:axId val="1430112255"/>
      </c:areaChart>
      <c:catAx>
        <c:axId val="1430124255"/>
        <c:scaling>
          <c:orientation val="minMax"/>
        </c:scaling>
        <c:delete val="0"/>
        <c:axPos val="b"/>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30112255"/>
        <c:crosses val="autoZero"/>
        <c:auto val="1"/>
        <c:lblAlgn val="ctr"/>
        <c:lblOffset val="100"/>
        <c:noMultiLvlLbl val="0"/>
      </c:catAx>
      <c:valAx>
        <c:axId val="143011225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30124255"/>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zero"/>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a:t>Skewness</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areaChart>
        <c:grouping val="standard"/>
        <c:varyColors val="0"/>
        <c:ser>
          <c:idx val="0"/>
          <c:order val="0"/>
          <c:tx>
            <c:strRef>
              <c:f>'Q2'!$D$3</c:f>
              <c:strCache>
                <c:ptCount val="1"/>
                <c:pt idx="0">
                  <c:v>Code</c:v>
                </c:pt>
              </c:strCache>
            </c:strRef>
          </c:tx>
          <c:spPr>
            <a:solidFill>
              <a:schemeClr val="accent1"/>
            </a:solidFill>
            <a:ln>
              <a:noFill/>
            </a:ln>
            <a:effectLst/>
          </c:spPr>
          <c:val>
            <c:numRef>
              <c:f>'Q2'!$D$4:$D$7</c:f>
              <c:numCache>
                <c:formatCode>General</c:formatCode>
                <c:ptCount val="4"/>
                <c:pt idx="0">
                  <c:v>1</c:v>
                </c:pt>
                <c:pt idx="1">
                  <c:v>2</c:v>
                </c:pt>
                <c:pt idx="2">
                  <c:v>3</c:v>
                </c:pt>
                <c:pt idx="3">
                  <c:v>4</c:v>
                </c:pt>
              </c:numCache>
            </c:numRef>
          </c:val>
          <c:extLst>
            <c:ext xmlns:c16="http://schemas.microsoft.com/office/drawing/2014/chart" uri="{C3380CC4-5D6E-409C-BE32-E72D297353CC}">
              <c16:uniqueId val="{00000000-BC45-49D5-BA82-280EB673DB13}"/>
            </c:ext>
          </c:extLst>
        </c:ser>
        <c:ser>
          <c:idx val="1"/>
          <c:order val="1"/>
          <c:tx>
            <c:strRef>
              <c:f>'Q2'!$E$3</c:f>
              <c:strCache>
                <c:ptCount val="1"/>
                <c:pt idx="0">
                  <c:v>Numbers</c:v>
                </c:pt>
              </c:strCache>
            </c:strRef>
          </c:tx>
          <c:spPr>
            <a:solidFill>
              <a:schemeClr val="accent2"/>
            </a:solidFill>
            <a:ln>
              <a:noFill/>
            </a:ln>
            <a:effectLst/>
          </c:spPr>
          <c:val>
            <c:numRef>
              <c:f>'Q2'!$E$4:$E$7</c:f>
              <c:numCache>
                <c:formatCode>General</c:formatCode>
                <c:ptCount val="4"/>
                <c:pt idx="0">
                  <c:v>19</c:v>
                </c:pt>
                <c:pt idx="1">
                  <c:v>42</c:v>
                </c:pt>
                <c:pt idx="2">
                  <c:v>43</c:v>
                </c:pt>
                <c:pt idx="3">
                  <c:v>8</c:v>
                </c:pt>
              </c:numCache>
            </c:numRef>
          </c:val>
          <c:extLst>
            <c:ext xmlns:c16="http://schemas.microsoft.com/office/drawing/2014/chart" uri="{C3380CC4-5D6E-409C-BE32-E72D297353CC}">
              <c16:uniqueId val="{00000001-BC45-49D5-BA82-280EB673DB13}"/>
            </c:ext>
          </c:extLst>
        </c:ser>
        <c:dLbls>
          <c:showLegendKey val="0"/>
          <c:showVal val="0"/>
          <c:showCatName val="0"/>
          <c:showSerName val="0"/>
          <c:showPercent val="0"/>
          <c:showBubbleSize val="0"/>
        </c:dLbls>
        <c:axId val="1416775807"/>
        <c:axId val="1416771487"/>
      </c:areaChart>
      <c:catAx>
        <c:axId val="1416775807"/>
        <c:scaling>
          <c:orientation val="minMax"/>
        </c:scaling>
        <c:delete val="0"/>
        <c:axPos val="b"/>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16771487"/>
        <c:crosses val="autoZero"/>
        <c:auto val="1"/>
        <c:lblAlgn val="ctr"/>
        <c:lblOffset val="100"/>
        <c:noMultiLvlLbl val="0"/>
      </c:catAx>
      <c:valAx>
        <c:axId val="1416771487"/>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16775807"/>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zero"/>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a:t>Skewness</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areaChart>
        <c:grouping val="standard"/>
        <c:varyColors val="0"/>
        <c:ser>
          <c:idx val="0"/>
          <c:order val="0"/>
          <c:tx>
            <c:strRef>
              <c:f>'Q3'!$E$2</c:f>
              <c:strCache>
                <c:ptCount val="1"/>
                <c:pt idx="0">
                  <c:v>Code</c:v>
                </c:pt>
              </c:strCache>
            </c:strRef>
          </c:tx>
          <c:spPr>
            <a:solidFill>
              <a:schemeClr val="accent1"/>
            </a:solidFill>
            <a:ln>
              <a:noFill/>
            </a:ln>
            <a:effectLst/>
          </c:spPr>
          <c:val>
            <c:numRef>
              <c:f>'Q3'!$E$3:$E$6</c:f>
              <c:numCache>
                <c:formatCode>General</c:formatCode>
                <c:ptCount val="4"/>
                <c:pt idx="0">
                  <c:v>1</c:v>
                </c:pt>
                <c:pt idx="1">
                  <c:v>2</c:v>
                </c:pt>
                <c:pt idx="2">
                  <c:v>3</c:v>
                </c:pt>
                <c:pt idx="3">
                  <c:v>4</c:v>
                </c:pt>
              </c:numCache>
            </c:numRef>
          </c:val>
          <c:extLst>
            <c:ext xmlns:c16="http://schemas.microsoft.com/office/drawing/2014/chart" uri="{C3380CC4-5D6E-409C-BE32-E72D297353CC}">
              <c16:uniqueId val="{00000000-574F-4F62-BC6C-FB247E89BA53}"/>
            </c:ext>
          </c:extLst>
        </c:ser>
        <c:ser>
          <c:idx val="1"/>
          <c:order val="1"/>
          <c:tx>
            <c:strRef>
              <c:f>'Q3'!$F$2</c:f>
              <c:strCache>
                <c:ptCount val="1"/>
                <c:pt idx="0">
                  <c:v>Numbers</c:v>
                </c:pt>
              </c:strCache>
            </c:strRef>
          </c:tx>
          <c:spPr>
            <a:solidFill>
              <a:schemeClr val="accent2"/>
            </a:solidFill>
            <a:ln>
              <a:noFill/>
            </a:ln>
            <a:effectLst/>
          </c:spPr>
          <c:val>
            <c:numRef>
              <c:f>'Q3'!$F$3:$F$6</c:f>
              <c:numCache>
                <c:formatCode>General</c:formatCode>
                <c:ptCount val="4"/>
                <c:pt idx="0">
                  <c:v>22</c:v>
                </c:pt>
                <c:pt idx="1">
                  <c:v>47</c:v>
                </c:pt>
                <c:pt idx="2">
                  <c:v>33</c:v>
                </c:pt>
                <c:pt idx="3">
                  <c:v>10</c:v>
                </c:pt>
              </c:numCache>
            </c:numRef>
          </c:val>
          <c:extLst>
            <c:ext xmlns:c16="http://schemas.microsoft.com/office/drawing/2014/chart" uri="{C3380CC4-5D6E-409C-BE32-E72D297353CC}">
              <c16:uniqueId val="{00000001-574F-4F62-BC6C-FB247E89BA53}"/>
            </c:ext>
          </c:extLst>
        </c:ser>
        <c:dLbls>
          <c:showLegendKey val="0"/>
          <c:showVal val="0"/>
          <c:showCatName val="0"/>
          <c:showSerName val="0"/>
          <c:showPercent val="0"/>
          <c:showBubbleSize val="0"/>
        </c:dLbls>
        <c:axId val="1461231456"/>
        <c:axId val="1461245856"/>
      </c:areaChart>
      <c:catAx>
        <c:axId val="1461231456"/>
        <c:scaling>
          <c:orientation val="minMax"/>
        </c:scaling>
        <c:delete val="0"/>
        <c:axPos val="b"/>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61245856"/>
        <c:crosses val="autoZero"/>
        <c:auto val="1"/>
        <c:lblAlgn val="ctr"/>
        <c:lblOffset val="100"/>
        <c:noMultiLvlLbl val="0"/>
      </c:catAx>
      <c:valAx>
        <c:axId val="146124585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61231456"/>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zero"/>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28B3834-D0CF-4C47-87EF-14C067169253}" type="datetimeFigureOut">
              <a:rPr lang="en-IN" smtClean="0"/>
              <a:t>12-09-2024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26E4DC-831C-41BF-B978-0F65056B52F3}" type="slidenum">
              <a:rPr lang="en-IN" smtClean="0"/>
              <a:t>‹#›</a:t>
            </a:fld>
            <a:endParaRPr lang="en-IN"/>
          </a:p>
        </p:txBody>
      </p:sp>
    </p:spTree>
    <p:extLst>
      <p:ext uri="{BB962C8B-B14F-4D97-AF65-F5344CB8AC3E}">
        <p14:creationId xmlns:p14="http://schemas.microsoft.com/office/powerpoint/2010/main" val="7089744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526E4DC-831C-41BF-B978-0F65056B52F3}" type="slidenum">
              <a:rPr lang="en-IN" smtClean="0"/>
              <a:t>37</a:t>
            </a:fld>
            <a:endParaRPr lang="en-IN"/>
          </a:p>
        </p:txBody>
      </p:sp>
    </p:spTree>
    <p:extLst>
      <p:ext uri="{BB962C8B-B14F-4D97-AF65-F5344CB8AC3E}">
        <p14:creationId xmlns:p14="http://schemas.microsoft.com/office/powerpoint/2010/main" val="26282925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C514007-0DA2-4250-9FF3-78A4D534503C}" type="datetimeFigureOut">
              <a:rPr lang="en-IN" smtClean="0"/>
              <a:t>12-09-2024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4F865C7-B592-4AEE-97B8-A2105CF59A68}" type="slidenum">
              <a:rPr lang="en-IN" smtClean="0"/>
              <a:t>‹#›</a:t>
            </a:fld>
            <a:endParaRPr lang="en-IN"/>
          </a:p>
        </p:txBody>
      </p:sp>
    </p:spTree>
    <p:extLst>
      <p:ext uri="{BB962C8B-B14F-4D97-AF65-F5344CB8AC3E}">
        <p14:creationId xmlns:p14="http://schemas.microsoft.com/office/powerpoint/2010/main" val="30972744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C514007-0DA2-4250-9FF3-78A4D534503C}" type="datetimeFigureOut">
              <a:rPr lang="en-IN" smtClean="0"/>
              <a:t>12-09-2024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4F865C7-B592-4AEE-97B8-A2105CF59A68}" type="slidenum">
              <a:rPr lang="en-IN" smtClean="0"/>
              <a:t>‹#›</a:t>
            </a:fld>
            <a:endParaRPr lang="en-IN"/>
          </a:p>
        </p:txBody>
      </p:sp>
    </p:spTree>
    <p:extLst>
      <p:ext uri="{BB962C8B-B14F-4D97-AF65-F5344CB8AC3E}">
        <p14:creationId xmlns:p14="http://schemas.microsoft.com/office/powerpoint/2010/main" val="42097194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C514007-0DA2-4250-9FF3-78A4D534503C}" type="datetimeFigureOut">
              <a:rPr lang="en-IN" smtClean="0"/>
              <a:t>12-09-2024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4F865C7-B592-4AEE-97B8-A2105CF59A68}" type="slidenum">
              <a:rPr lang="en-IN" smtClean="0"/>
              <a:t>‹#›</a:t>
            </a:fld>
            <a:endParaRPr lang="en-IN"/>
          </a:p>
        </p:txBody>
      </p:sp>
    </p:spTree>
    <p:extLst>
      <p:ext uri="{BB962C8B-B14F-4D97-AF65-F5344CB8AC3E}">
        <p14:creationId xmlns:p14="http://schemas.microsoft.com/office/powerpoint/2010/main" val="2810534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C514007-0DA2-4250-9FF3-78A4D534503C}" type="datetimeFigureOut">
              <a:rPr lang="en-IN" smtClean="0"/>
              <a:t>12-09-2024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4F865C7-B592-4AEE-97B8-A2105CF59A68}" type="slidenum">
              <a:rPr lang="en-IN" smtClean="0"/>
              <a:t>‹#›</a:t>
            </a:fld>
            <a:endParaRPr lang="en-IN"/>
          </a:p>
        </p:txBody>
      </p:sp>
    </p:spTree>
    <p:extLst>
      <p:ext uri="{BB962C8B-B14F-4D97-AF65-F5344CB8AC3E}">
        <p14:creationId xmlns:p14="http://schemas.microsoft.com/office/powerpoint/2010/main" val="19926591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C514007-0DA2-4250-9FF3-78A4D534503C}" type="datetimeFigureOut">
              <a:rPr lang="en-IN" smtClean="0"/>
              <a:t>12-09-2024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4F865C7-B592-4AEE-97B8-A2105CF59A68}" type="slidenum">
              <a:rPr lang="en-IN" smtClean="0"/>
              <a:t>‹#›</a:t>
            </a:fld>
            <a:endParaRPr lang="en-IN"/>
          </a:p>
        </p:txBody>
      </p:sp>
    </p:spTree>
    <p:extLst>
      <p:ext uri="{BB962C8B-B14F-4D97-AF65-F5344CB8AC3E}">
        <p14:creationId xmlns:p14="http://schemas.microsoft.com/office/powerpoint/2010/main" val="40808803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C514007-0DA2-4250-9FF3-78A4D534503C}" type="datetimeFigureOut">
              <a:rPr lang="en-IN" smtClean="0"/>
              <a:t>12-09-2024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4F865C7-B592-4AEE-97B8-A2105CF59A68}" type="slidenum">
              <a:rPr lang="en-IN" smtClean="0"/>
              <a:t>‹#›</a:t>
            </a:fld>
            <a:endParaRPr lang="en-IN"/>
          </a:p>
        </p:txBody>
      </p:sp>
    </p:spTree>
    <p:extLst>
      <p:ext uri="{BB962C8B-B14F-4D97-AF65-F5344CB8AC3E}">
        <p14:creationId xmlns:p14="http://schemas.microsoft.com/office/powerpoint/2010/main" val="36785246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C514007-0DA2-4250-9FF3-78A4D534503C}" type="datetimeFigureOut">
              <a:rPr lang="en-IN" smtClean="0"/>
              <a:t>12-09-2024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4F865C7-B592-4AEE-97B8-A2105CF59A68}" type="slidenum">
              <a:rPr lang="en-IN" smtClean="0"/>
              <a:t>‹#›</a:t>
            </a:fld>
            <a:endParaRPr lang="en-IN"/>
          </a:p>
        </p:txBody>
      </p:sp>
    </p:spTree>
    <p:extLst>
      <p:ext uri="{BB962C8B-B14F-4D97-AF65-F5344CB8AC3E}">
        <p14:creationId xmlns:p14="http://schemas.microsoft.com/office/powerpoint/2010/main" val="24848262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C514007-0DA2-4250-9FF3-78A4D534503C}" type="datetimeFigureOut">
              <a:rPr lang="en-IN" smtClean="0"/>
              <a:t>12-09-2024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4F865C7-B592-4AEE-97B8-A2105CF59A68}" type="slidenum">
              <a:rPr lang="en-IN" smtClean="0"/>
              <a:t>‹#›</a:t>
            </a:fld>
            <a:endParaRPr lang="en-IN"/>
          </a:p>
        </p:txBody>
      </p:sp>
    </p:spTree>
    <p:extLst>
      <p:ext uri="{BB962C8B-B14F-4D97-AF65-F5344CB8AC3E}">
        <p14:creationId xmlns:p14="http://schemas.microsoft.com/office/powerpoint/2010/main" val="34979560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C514007-0DA2-4250-9FF3-78A4D534503C}" type="datetimeFigureOut">
              <a:rPr lang="en-IN" smtClean="0"/>
              <a:t>12-09-2024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4F865C7-B592-4AEE-97B8-A2105CF59A68}" type="slidenum">
              <a:rPr lang="en-IN" smtClean="0"/>
              <a:t>‹#›</a:t>
            </a:fld>
            <a:endParaRPr lang="en-IN"/>
          </a:p>
        </p:txBody>
      </p:sp>
    </p:spTree>
    <p:extLst>
      <p:ext uri="{BB962C8B-B14F-4D97-AF65-F5344CB8AC3E}">
        <p14:creationId xmlns:p14="http://schemas.microsoft.com/office/powerpoint/2010/main" val="36034725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C514007-0DA2-4250-9FF3-78A4D534503C}" type="datetimeFigureOut">
              <a:rPr lang="en-IN" smtClean="0"/>
              <a:t>12-09-2024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4F865C7-B592-4AEE-97B8-A2105CF59A68}" type="slidenum">
              <a:rPr lang="en-IN" smtClean="0"/>
              <a:t>‹#›</a:t>
            </a:fld>
            <a:endParaRPr lang="en-IN"/>
          </a:p>
        </p:txBody>
      </p:sp>
    </p:spTree>
    <p:extLst>
      <p:ext uri="{BB962C8B-B14F-4D97-AF65-F5344CB8AC3E}">
        <p14:creationId xmlns:p14="http://schemas.microsoft.com/office/powerpoint/2010/main" val="32236482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C514007-0DA2-4250-9FF3-78A4D534503C}" type="datetimeFigureOut">
              <a:rPr lang="en-IN" smtClean="0"/>
              <a:t>12-09-2024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4F865C7-B592-4AEE-97B8-A2105CF59A68}" type="slidenum">
              <a:rPr lang="en-IN" smtClean="0"/>
              <a:t>‹#›</a:t>
            </a:fld>
            <a:endParaRPr lang="en-IN"/>
          </a:p>
        </p:txBody>
      </p:sp>
    </p:spTree>
    <p:extLst>
      <p:ext uri="{BB962C8B-B14F-4D97-AF65-F5344CB8AC3E}">
        <p14:creationId xmlns:p14="http://schemas.microsoft.com/office/powerpoint/2010/main" val="30698406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C514007-0DA2-4250-9FF3-78A4D534503C}" type="datetimeFigureOut">
              <a:rPr lang="en-IN" smtClean="0"/>
              <a:t>12-09-2024</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4F865C7-B592-4AEE-97B8-A2105CF59A68}" type="slidenum">
              <a:rPr lang="en-IN" smtClean="0"/>
              <a:t>‹#›</a:t>
            </a:fld>
            <a:endParaRPr lang="en-IN"/>
          </a:p>
        </p:txBody>
      </p:sp>
    </p:spTree>
    <p:extLst>
      <p:ext uri="{BB962C8B-B14F-4D97-AF65-F5344CB8AC3E}">
        <p14:creationId xmlns:p14="http://schemas.microsoft.com/office/powerpoint/2010/main" val="267948648"/>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6CAA5F-B3C0-46B7-F1C1-C6E8EE2D0A7D}"/>
              </a:ext>
            </a:extLst>
          </p:cNvPr>
          <p:cNvSpPr>
            <a:spLocks noGrp="1"/>
          </p:cNvSpPr>
          <p:nvPr>
            <p:ph type="ctrTitle"/>
          </p:nvPr>
        </p:nvSpPr>
        <p:spPr>
          <a:xfrm>
            <a:off x="3996965" y="199486"/>
            <a:ext cx="8102338" cy="1634029"/>
          </a:xfrm>
        </p:spPr>
        <p:txBody>
          <a:bodyPr>
            <a:normAutofit fontScale="90000"/>
          </a:bodyPr>
          <a:lstStyle/>
          <a:p>
            <a:r>
              <a:rPr lang="en-IN" dirty="0">
                <a:latin typeface="Times New Roman" panose="02020603050405020304" pitchFamily="18" charset="0"/>
                <a:cs typeface="Times New Roman" panose="02020603050405020304" pitchFamily="18" charset="0"/>
              </a:rPr>
              <a:t>Impact of social media influencers</a:t>
            </a:r>
          </a:p>
        </p:txBody>
      </p:sp>
      <p:sp>
        <p:nvSpPr>
          <p:cNvPr id="3" name="Subtitle 2">
            <a:extLst>
              <a:ext uri="{FF2B5EF4-FFF2-40B4-BE49-F238E27FC236}">
                <a16:creationId xmlns:a16="http://schemas.microsoft.com/office/drawing/2014/main" id="{BFF77D83-D5FF-B077-1FCD-BCE85539D1E7}"/>
              </a:ext>
            </a:extLst>
          </p:cNvPr>
          <p:cNvSpPr>
            <a:spLocks noGrp="1"/>
          </p:cNvSpPr>
          <p:nvPr>
            <p:ph type="subTitle" idx="1"/>
          </p:nvPr>
        </p:nvSpPr>
        <p:spPr>
          <a:xfrm>
            <a:off x="9236697" y="3529814"/>
            <a:ext cx="2862606" cy="3128700"/>
          </a:xfrm>
        </p:spPr>
        <p:txBody>
          <a:bodyPr>
            <a:normAutofit lnSpcReduction="10000"/>
          </a:bodyPr>
          <a:lstStyle/>
          <a:p>
            <a:r>
              <a:rPr lang="en-IN" dirty="0">
                <a:latin typeface="Times New Roman" panose="02020603050405020304" pitchFamily="18" charset="0"/>
                <a:cs typeface="Times New Roman" panose="02020603050405020304" pitchFamily="18" charset="0"/>
              </a:rPr>
              <a:t>-By</a:t>
            </a:r>
          </a:p>
          <a:p>
            <a:r>
              <a:rPr lang="en-IN" dirty="0">
                <a:latin typeface="Times New Roman" panose="02020603050405020304" pitchFamily="18" charset="0"/>
                <a:cs typeface="Times New Roman" panose="02020603050405020304" pitchFamily="18" charset="0"/>
              </a:rPr>
              <a:t>Group 12</a:t>
            </a:r>
          </a:p>
          <a:p>
            <a:r>
              <a:rPr lang="en-IN" dirty="0">
                <a:latin typeface="Times New Roman" panose="02020603050405020304" pitchFamily="18" charset="0"/>
                <a:cs typeface="Times New Roman" panose="02020603050405020304" pitchFamily="18" charset="0"/>
              </a:rPr>
              <a:t>Sanjay</a:t>
            </a:r>
          </a:p>
          <a:p>
            <a:r>
              <a:rPr lang="en-IN" dirty="0">
                <a:latin typeface="Times New Roman" panose="02020603050405020304" pitchFamily="18" charset="0"/>
                <a:cs typeface="Times New Roman" panose="02020603050405020304" pitchFamily="18" charset="0"/>
              </a:rPr>
              <a:t>Anirudh</a:t>
            </a:r>
          </a:p>
          <a:p>
            <a:r>
              <a:rPr lang="en-IN" dirty="0" err="1">
                <a:latin typeface="Times New Roman" panose="02020603050405020304" pitchFamily="18" charset="0"/>
                <a:cs typeface="Times New Roman" panose="02020603050405020304" pitchFamily="18" charset="0"/>
              </a:rPr>
              <a:t>Shoban</a:t>
            </a:r>
            <a:endParaRPr lang="en-IN" dirty="0">
              <a:latin typeface="Times New Roman" panose="02020603050405020304" pitchFamily="18" charset="0"/>
              <a:cs typeface="Times New Roman" panose="02020603050405020304" pitchFamily="18" charset="0"/>
            </a:endParaRPr>
          </a:p>
          <a:p>
            <a:r>
              <a:rPr lang="en-IN" dirty="0" err="1">
                <a:latin typeface="Times New Roman" panose="02020603050405020304" pitchFamily="18" charset="0"/>
                <a:cs typeface="Times New Roman" panose="02020603050405020304" pitchFamily="18" charset="0"/>
              </a:rPr>
              <a:t>Jaisurya</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Kritika</a:t>
            </a:r>
          </a:p>
        </p:txBody>
      </p:sp>
      <p:pic>
        <p:nvPicPr>
          <p:cNvPr id="7" name="Picture 6">
            <a:extLst>
              <a:ext uri="{FF2B5EF4-FFF2-40B4-BE49-F238E27FC236}">
                <a16:creationId xmlns:a16="http://schemas.microsoft.com/office/drawing/2014/main" id="{01DBBDCD-14BE-0FDC-BF29-5D40211E15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2104" y="2592371"/>
            <a:ext cx="5519394" cy="3403078"/>
          </a:xfrm>
          <a:prstGeom prst="rect">
            <a:avLst/>
          </a:prstGeom>
        </p:spPr>
      </p:pic>
    </p:spTree>
    <p:extLst>
      <p:ext uri="{BB962C8B-B14F-4D97-AF65-F5344CB8AC3E}">
        <p14:creationId xmlns:p14="http://schemas.microsoft.com/office/powerpoint/2010/main" val="2002023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061D8C-F595-9F1E-0F23-770EFE200D43}"/>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Introduction</a:t>
            </a:r>
            <a:br>
              <a:rPr lang="en-IN" dirty="0"/>
            </a:br>
            <a:endParaRPr lang="en-IN" dirty="0"/>
          </a:p>
        </p:txBody>
      </p:sp>
      <p:sp>
        <p:nvSpPr>
          <p:cNvPr id="3" name="TextBox 2">
            <a:extLst>
              <a:ext uri="{FF2B5EF4-FFF2-40B4-BE49-F238E27FC236}">
                <a16:creationId xmlns:a16="http://schemas.microsoft.com/office/drawing/2014/main" id="{5B7BF689-CC79-F971-9650-0ACD99039539}"/>
              </a:ext>
            </a:extLst>
          </p:cNvPr>
          <p:cNvSpPr txBox="1"/>
          <p:nvPr/>
        </p:nvSpPr>
        <p:spPr>
          <a:xfrm>
            <a:off x="1725104" y="1167590"/>
            <a:ext cx="8955464" cy="1569660"/>
          </a:xfrm>
          <a:prstGeom prst="rect">
            <a:avLst/>
          </a:prstGeom>
          <a:noFill/>
        </p:spPr>
        <p:txBody>
          <a:bodyPr wrap="square" rtlCol="0">
            <a:spAutoFit/>
          </a:bodyPr>
          <a:lstStyle/>
          <a:p>
            <a:r>
              <a:rPr lang="en-IN" sz="3200" dirty="0">
                <a:latin typeface="Times New Roman" panose="02020603050405020304" pitchFamily="18" charset="0"/>
                <a:cs typeface="Times New Roman" panose="02020603050405020304" pitchFamily="18" charset="0"/>
              </a:rPr>
              <a:t>What: We have created a survey titled “Impact of social media influencer” in Google form and circulated it.</a:t>
            </a:r>
          </a:p>
        </p:txBody>
      </p:sp>
      <p:sp>
        <p:nvSpPr>
          <p:cNvPr id="4" name="TextBox 3">
            <a:extLst>
              <a:ext uri="{FF2B5EF4-FFF2-40B4-BE49-F238E27FC236}">
                <a16:creationId xmlns:a16="http://schemas.microsoft.com/office/drawing/2014/main" id="{15E66809-7925-02FE-8F32-BF5BBB0F8D5B}"/>
              </a:ext>
            </a:extLst>
          </p:cNvPr>
          <p:cNvSpPr txBox="1"/>
          <p:nvPr/>
        </p:nvSpPr>
        <p:spPr>
          <a:xfrm>
            <a:off x="1725104" y="2890391"/>
            <a:ext cx="9379670" cy="1569660"/>
          </a:xfrm>
          <a:prstGeom prst="rect">
            <a:avLst/>
          </a:prstGeom>
          <a:noFill/>
        </p:spPr>
        <p:txBody>
          <a:bodyPr wrap="square" rtlCol="0">
            <a:spAutoFit/>
          </a:bodyPr>
          <a:lstStyle/>
          <a:p>
            <a:r>
              <a:rPr lang="en-IN" sz="3200" dirty="0">
                <a:latin typeface="Times New Roman" panose="02020603050405020304" pitchFamily="18" charset="0"/>
                <a:cs typeface="Times New Roman" panose="02020603050405020304" pitchFamily="18" charset="0"/>
              </a:rPr>
              <a:t>Why: We hoped to find out the level of impact of influencers, whether it is positive or negative, and how we could direct it towards public health.</a:t>
            </a:r>
          </a:p>
        </p:txBody>
      </p:sp>
      <p:sp>
        <p:nvSpPr>
          <p:cNvPr id="5" name="TextBox 4">
            <a:extLst>
              <a:ext uri="{FF2B5EF4-FFF2-40B4-BE49-F238E27FC236}">
                <a16:creationId xmlns:a16="http://schemas.microsoft.com/office/drawing/2014/main" id="{132B4AED-B5CE-8213-CCF5-5000B0C110EE}"/>
              </a:ext>
            </a:extLst>
          </p:cNvPr>
          <p:cNvSpPr txBox="1"/>
          <p:nvPr/>
        </p:nvSpPr>
        <p:spPr>
          <a:xfrm>
            <a:off x="1725104" y="4688606"/>
            <a:ext cx="9191134" cy="1077218"/>
          </a:xfrm>
          <a:prstGeom prst="rect">
            <a:avLst/>
          </a:prstGeom>
          <a:noFill/>
        </p:spPr>
        <p:txBody>
          <a:bodyPr wrap="square" rtlCol="0">
            <a:spAutoFit/>
          </a:bodyPr>
          <a:lstStyle/>
          <a:p>
            <a:r>
              <a:rPr lang="en-IN" sz="3200" dirty="0">
                <a:latin typeface="Times New Roman" panose="02020603050405020304" pitchFamily="18" charset="0"/>
                <a:cs typeface="Times New Roman" panose="02020603050405020304" pitchFamily="18" charset="0"/>
              </a:rPr>
              <a:t>How: We took the results from the survey, and used Excel to analyse it and PowerPoint to depict it.</a:t>
            </a:r>
          </a:p>
        </p:txBody>
      </p:sp>
    </p:spTree>
    <p:extLst>
      <p:ext uri="{BB962C8B-B14F-4D97-AF65-F5344CB8AC3E}">
        <p14:creationId xmlns:p14="http://schemas.microsoft.com/office/powerpoint/2010/main" val="27666734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80653E-D706-A34B-9488-BA9BFFAE0250}"/>
              </a:ext>
            </a:extLst>
          </p:cNvPr>
          <p:cNvSpPr>
            <a:spLocks noGrp="1"/>
          </p:cNvSpPr>
          <p:nvPr>
            <p:ph type="ctrTitle"/>
          </p:nvPr>
        </p:nvSpPr>
        <p:spPr>
          <a:xfrm>
            <a:off x="1524000" y="311086"/>
            <a:ext cx="9144000" cy="641021"/>
          </a:xfrm>
        </p:spPr>
        <p:txBody>
          <a:bodyPr>
            <a:normAutofit fontScale="90000"/>
          </a:bodyPr>
          <a:lstStyle/>
          <a:p>
            <a:r>
              <a:rPr lang="en-IN" dirty="0"/>
              <a:t>Data</a:t>
            </a:r>
          </a:p>
        </p:txBody>
      </p:sp>
      <p:sp>
        <p:nvSpPr>
          <p:cNvPr id="3" name="Subtitle 2">
            <a:extLst>
              <a:ext uri="{FF2B5EF4-FFF2-40B4-BE49-F238E27FC236}">
                <a16:creationId xmlns:a16="http://schemas.microsoft.com/office/drawing/2014/main" id="{285931CF-94ED-CEF4-2EEC-B634B7866A24}"/>
              </a:ext>
            </a:extLst>
          </p:cNvPr>
          <p:cNvSpPr>
            <a:spLocks noGrp="1"/>
          </p:cNvSpPr>
          <p:nvPr>
            <p:ph type="subTitle" idx="1"/>
          </p:nvPr>
        </p:nvSpPr>
        <p:spPr>
          <a:xfrm>
            <a:off x="1524000" y="1150070"/>
            <a:ext cx="9144000" cy="5396844"/>
          </a:xfrm>
        </p:spPr>
        <p:txBody>
          <a:bodyPr>
            <a:normAutofit/>
          </a:bodyPr>
          <a:lstStyle/>
          <a:p>
            <a:r>
              <a:rPr lang="en-IN" sz="4000" dirty="0">
                <a:latin typeface="Times New Roman" panose="02020603050405020304" pitchFamily="18" charset="0"/>
                <a:cs typeface="Times New Roman" panose="02020603050405020304" pitchFamily="18" charset="0"/>
              </a:rPr>
              <a:t>Since we have only taken categorical data: nominal data(Gender, section) as well as ordinal data (everything else) we have only analysed the data using mode, skewness and kurtosis</a:t>
            </a:r>
            <a:r>
              <a:rPr lang="en-IN" sz="5400" dirty="0">
                <a:latin typeface="Times New Roman" panose="02020603050405020304" pitchFamily="18" charset="0"/>
                <a:cs typeface="Times New Roman" panose="02020603050405020304" pitchFamily="18" charset="0"/>
              </a:rPr>
              <a:t>.</a:t>
            </a:r>
          </a:p>
          <a:p>
            <a:endParaRPr lang="en-IN" sz="5400" dirty="0">
              <a:latin typeface="Times New Roman" panose="02020603050405020304" pitchFamily="18" charset="0"/>
              <a:cs typeface="Times New Roman" panose="02020603050405020304" pitchFamily="18" charset="0"/>
            </a:endParaRPr>
          </a:p>
          <a:p>
            <a:r>
              <a:rPr lang="en-IN" sz="4000" dirty="0">
                <a:latin typeface="Times New Roman" panose="02020603050405020304" pitchFamily="18" charset="0"/>
                <a:cs typeface="Times New Roman" panose="02020603050405020304" pitchFamily="18" charset="0"/>
              </a:rPr>
              <a:t>We have received 112 responses.</a:t>
            </a:r>
          </a:p>
        </p:txBody>
      </p:sp>
    </p:spTree>
    <p:extLst>
      <p:ext uri="{BB962C8B-B14F-4D97-AF65-F5344CB8AC3E}">
        <p14:creationId xmlns:p14="http://schemas.microsoft.com/office/powerpoint/2010/main" val="29426444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2E039E-3734-E7E2-5673-6AEA70B3C507}"/>
              </a:ext>
            </a:extLst>
          </p:cNvPr>
          <p:cNvSpPr>
            <a:spLocks noGrp="1"/>
          </p:cNvSpPr>
          <p:nvPr>
            <p:ph type="ctrTitle"/>
          </p:nvPr>
        </p:nvSpPr>
        <p:spPr>
          <a:xfrm>
            <a:off x="1347536" y="292231"/>
            <a:ext cx="9144000" cy="509047"/>
          </a:xfrm>
        </p:spPr>
        <p:txBody>
          <a:bodyPr>
            <a:noAutofit/>
          </a:bodyPr>
          <a:lstStyle/>
          <a:p>
            <a:r>
              <a:rPr lang="en-IN" sz="3200" dirty="0">
                <a:latin typeface="Times New Roman" panose="02020603050405020304" pitchFamily="18" charset="0"/>
                <a:cs typeface="Times New Roman" panose="02020603050405020304" pitchFamily="18" charset="0"/>
              </a:rPr>
              <a:t>Data analysis</a:t>
            </a:r>
            <a:br>
              <a:rPr lang="en-IN" sz="2400" dirty="0">
                <a:latin typeface="Times New Roman" panose="02020603050405020304" pitchFamily="18" charset="0"/>
                <a:cs typeface="Times New Roman" panose="02020603050405020304" pitchFamily="18" charset="0"/>
              </a:rPr>
            </a:br>
            <a:endParaRPr lang="en-IN" sz="24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1E82357F-CDF8-4E0A-B1FD-1501EE5FF3E3}"/>
              </a:ext>
            </a:extLst>
          </p:cNvPr>
          <p:cNvSpPr>
            <a:spLocks noGrp="1"/>
          </p:cNvSpPr>
          <p:nvPr>
            <p:ph type="subTitle" idx="1"/>
          </p:nvPr>
        </p:nvSpPr>
        <p:spPr>
          <a:xfrm>
            <a:off x="1524000" y="669707"/>
            <a:ext cx="9144000" cy="715438"/>
          </a:xfrm>
        </p:spPr>
        <p:txBody>
          <a:bodyPr>
            <a:normAutofit/>
          </a:bodyPr>
          <a:lstStyle/>
          <a:p>
            <a:r>
              <a:rPr lang="en-IN" sz="3600" dirty="0">
                <a:latin typeface="Times New Roman" panose="02020603050405020304" pitchFamily="18" charset="0"/>
                <a:cs typeface="Times New Roman" panose="02020603050405020304" pitchFamily="18" charset="0"/>
              </a:rPr>
              <a:t>General question 1: What Section are you from?</a:t>
            </a:r>
          </a:p>
        </p:txBody>
      </p:sp>
      <p:graphicFrame>
        <p:nvGraphicFramePr>
          <p:cNvPr id="9" name="Table 8">
            <a:extLst>
              <a:ext uri="{FF2B5EF4-FFF2-40B4-BE49-F238E27FC236}">
                <a16:creationId xmlns:a16="http://schemas.microsoft.com/office/drawing/2014/main" id="{9E576F76-A073-F0C3-822F-CAF833417483}"/>
              </a:ext>
            </a:extLst>
          </p:cNvPr>
          <p:cNvGraphicFramePr>
            <a:graphicFrameLocks noGrp="1"/>
          </p:cNvGraphicFramePr>
          <p:nvPr>
            <p:extLst>
              <p:ext uri="{D42A27DB-BD31-4B8C-83A1-F6EECF244321}">
                <p14:modId xmlns:p14="http://schemas.microsoft.com/office/powerpoint/2010/main" val="1596761837"/>
              </p:ext>
            </p:extLst>
          </p:nvPr>
        </p:nvGraphicFramePr>
        <p:xfrm>
          <a:off x="1627695" y="1729568"/>
          <a:ext cx="8936610" cy="2526385"/>
        </p:xfrm>
        <a:graphic>
          <a:graphicData uri="http://schemas.openxmlformats.org/drawingml/2006/table">
            <a:tbl>
              <a:tblPr firstRow="1" bandRow="1">
                <a:tableStyleId>{5C22544A-7EE6-4342-B048-85BDC9FD1C3A}</a:tableStyleId>
              </a:tblPr>
              <a:tblGrid>
                <a:gridCol w="2978870">
                  <a:extLst>
                    <a:ext uri="{9D8B030D-6E8A-4147-A177-3AD203B41FA5}">
                      <a16:colId xmlns:a16="http://schemas.microsoft.com/office/drawing/2014/main" val="3476824323"/>
                    </a:ext>
                  </a:extLst>
                </a:gridCol>
                <a:gridCol w="2978870">
                  <a:extLst>
                    <a:ext uri="{9D8B030D-6E8A-4147-A177-3AD203B41FA5}">
                      <a16:colId xmlns:a16="http://schemas.microsoft.com/office/drawing/2014/main" val="169896664"/>
                    </a:ext>
                  </a:extLst>
                </a:gridCol>
                <a:gridCol w="2978870">
                  <a:extLst>
                    <a:ext uri="{9D8B030D-6E8A-4147-A177-3AD203B41FA5}">
                      <a16:colId xmlns:a16="http://schemas.microsoft.com/office/drawing/2014/main" val="921106523"/>
                    </a:ext>
                  </a:extLst>
                </a:gridCol>
              </a:tblGrid>
              <a:tr h="619027">
                <a:tc>
                  <a:txBody>
                    <a:bodyPr/>
                    <a:lstStyle/>
                    <a:p>
                      <a:pPr algn="l" fontAlgn="b"/>
                      <a:r>
                        <a:rPr lang="en-IN" sz="3200" b="0" i="0" u="none" strike="noStrike" dirty="0">
                          <a:solidFill>
                            <a:srgbClr val="000000"/>
                          </a:solidFill>
                          <a:effectLst/>
                          <a:latin typeface="Calibri" panose="020F0502020204030204" pitchFamily="34" charset="0"/>
                        </a:rPr>
                        <a:t>Code</a:t>
                      </a:r>
                    </a:p>
                  </a:txBody>
                  <a:tcPr marL="7620" marR="7620" marT="7620" marB="0" anchor="b"/>
                </a:tc>
                <a:tc>
                  <a:txBody>
                    <a:bodyPr/>
                    <a:lstStyle/>
                    <a:p>
                      <a:pPr algn="l" fontAlgn="b"/>
                      <a:r>
                        <a:rPr lang="en-IN" sz="3200" b="0" i="0" u="none" strike="noStrike" dirty="0">
                          <a:solidFill>
                            <a:srgbClr val="000000"/>
                          </a:solidFill>
                          <a:effectLst/>
                          <a:latin typeface="Calibri" panose="020F0502020204030204" pitchFamily="34" charset="0"/>
                        </a:rPr>
                        <a:t>Section</a:t>
                      </a:r>
                    </a:p>
                  </a:txBody>
                  <a:tcPr marL="7620" marR="7620" marT="7620" marB="0" anchor="b"/>
                </a:tc>
                <a:tc>
                  <a:txBody>
                    <a:bodyPr/>
                    <a:lstStyle/>
                    <a:p>
                      <a:pPr algn="l" fontAlgn="b"/>
                      <a:r>
                        <a:rPr lang="en-IN" sz="3200" b="0" i="0" u="none" strike="noStrike" dirty="0">
                          <a:solidFill>
                            <a:srgbClr val="000000"/>
                          </a:solidFill>
                          <a:effectLst/>
                          <a:latin typeface="Times New Roman" panose="02020603050405020304" pitchFamily="18" charset="0"/>
                          <a:cs typeface="Times New Roman" panose="02020603050405020304" pitchFamily="18" charset="0"/>
                        </a:rPr>
                        <a:t>Number</a:t>
                      </a:r>
                    </a:p>
                  </a:txBody>
                  <a:tcPr marL="7620" marR="7620" marT="7620" marB="0" anchor="b"/>
                </a:tc>
                <a:extLst>
                  <a:ext uri="{0D108BD9-81ED-4DB2-BD59-A6C34878D82A}">
                    <a16:rowId xmlns:a16="http://schemas.microsoft.com/office/drawing/2014/main" val="2408038717"/>
                  </a:ext>
                </a:extLst>
              </a:tr>
              <a:tr h="635786">
                <a:tc>
                  <a:txBody>
                    <a:bodyPr/>
                    <a:lstStyle/>
                    <a:p>
                      <a:pPr algn="l" fontAlgn="b"/>
                      <a:r>
                        <a:rPr lang="en-IN" sz="3200" b="0" i="0" u="none" strike="noStrike" dirty="0">
                          <a:solidFill>
                            <a:srgbClr val="000000"/>
                          </a:solidFill>
                          <a:effectLst/>
                          <a:latin typeface="Calibri" panose="020F0502020204030204" pitchFamily="34" charset="0"/>
                        </a:rPr>
                        <a:t>1</a:t>
                      </a:r>
                    </a:p>
                  </a:txBody>
                  <a:tcPr marL="7620" marR="7620" marT="7620" marB="0" anchor="b"/>
                </a:tc>
                <a:tc>
                  <a:txBody>
                    <a:bodyPr/>
                    <a:lstStyle/>
                    <a:p>
                      <a:pPr algn="l" fontAlgn="b"/>
                      <a:r>
                        <a:rPr lang="en-IN" sz="3200" b="0" i="0" u="none" strike="noStrike" dirty="0">
                          <a:solidFill>
                            <a:srgbClr val="000000"/>
                          </a:solidFill>
                          <a:effectLst/>
                          <a:latin typeface="Calibri" panose="020F0502020204030204" pitchFamily="34" charset="0"/>
                        </a:rPr>
                        <a:t>A</a:t>
                      </a:r>
                    </a:p>
                  </a:txBody>
                  <a:tcPr marL="7620" marR="7620" marT="7620" marB="0" anchor="b"/>
                </a:tc>
                <a:tc>
                  <a:txBody>
                    <a:bodyPr/>
                    <a:lstStyle/>
                    <a:p>
                      <a:pPr algn="r" fontAlgn="b"/>
                      <a:r>
                        <a:rPr lang="en-IN" sz="3200" b="0" i="0" u="none" strike="noStrike" dirty="0">
                          <a:solidFill>
                            <a:srgbClr val="000000"/>
                          </a:solidFill>
                          <a:effectLst/>
                          <a:latin typeface="Calibri" panose="020F0502020204030204" pitchFamily="34" charset="0"/>
                        </a:rPr>
                        <a:t>19</a:t>
                      </a:r>
                    </a:p>
                  </a:txBody>
                  <a:tcPr marL="7620" marR="7620" marT="7620" marB="0" anchor="b"/>
                </a:tc>
                <a:extLst>
                  <a:ext uri="{0D108BD9-81ED-4DB2-BD59-A6C34878D82A}">
                    <a16:rowId xmlns:a16="http://schemas.microsoft.com/office/drawing/2014/main" val="1993589850"/>
                  </a:ext>
                </a:extLst>
              </a:tr>
              <a:tr h="635786">
                <a:tc>
                  <a:txBody>
                    <a:bodyPr/>
                    <a:lstStyle/>
                    <a:p>
                      <a:pPr algn="l" fontAlgn="b"/>
                      <a:r>
                        <a:rPr lang="en-IN" sz="3200" b="0" i="0" u="none" strike="noStrike" dirty="0">
                          <a:solidFill>
                            <a:srgbClr val="000000"/>
                          </a:solidFill>
                          <a:effectLst/>
                          <a:latin typeface="Calibri" panose="020F0502020204030204" pitchFamily="34" charset="0"/>
                        </a:rPr>
                        <a:t>2</a:t>
                      </a:r>
                    </a:p>
                  </a:txBody>
                  <a:tcPr marL="7620" marR="7620" marT="7620" marB="0" anchor="b"/>
                </a:tc>
                <a:tc>
                  <a:txBody>
                    <a:bodyPr/>
                    <a:lstStyle/>
                    <a:p>
                      <a:pPr algn="l" fontAlgn="b"/>
                      <a:r>
                        <a:rPr lang="en-IN" sz="3200" b="0" i="0" u="none" strike="noStrike">
                          <a:solidFill>
                            <a:srgbClr val="000000"/>
                          </a:solidFill>
                          <a:effectLst/>
                          <a:latin typeface="Calibri" panose="020F0502020204030204" pitchFamily="34" charset="0"/>
                        </a:rPr>
                        <a:t>B</a:t>
                      </a:r>
                    </a:p>
                  </a:txBody>
                  <a:tcPr marL="7620" marR="7620" marT="7620" marB="0" anchor="b"/>
                </a:tc>
                <a:tc>
                  <a:txBody>
                    <a:bodyPr/>
                    <a:lstStyle/>
                    <a:p>
                      <a:pPr algn="r" fontAlgn="b"/>
                      <a:r>
                        <a:rPr lang="en-IN" sz="3200" b="0" i="0" u="none" strike="noStrike" dirty="0">
                          <a:solidFill>
                            <a:srgbClr val="000000"/>
                          </a:solidFill>
                          <a:effectLst/>
                          <a:latin typeface="Calibri" panose="020F0502020204030204" pitchFamily="34" charset="0"/>
                        </a:rPr>
                        <a:t>32</a:t>
                      </a:r>
                    </a:p>
                  </a:txBody>
                  <a:tcPr marL="7620" marR="7620" marT="7620" marB="0" anchor="b"/>
                </a:tc>
                <a:extLst>
                  <a:ext uri="{0D108BD9-81ED-4DB2-BD59-A6C34878D82A}">
                    <a16:rowId xmlns:a16="http://schemas.microsoft.com/office/drawing/2014/main" val="4023535592"/>
                  </a:ext>
                </a:extLst>
              </a:tr>
              <a:tr h="635786">
                <a:tc>
                  <a:txBody>
                    <a:bodyPr/>
                    <a:lstStyle/>
                    <a:p>
                      <a:pPr algn="l" fontAlgn="b"/>
                      <a:r>
                        <a:rPr lang="en-IN" sz="3200" b="0" i="0" u="none" strike="noStrike" dirty="0">
                          <a:solidFill>
                            <a:srgbClr val="000000"/>
                          </a:solidFill>
                          <a:effectLst/>
                          <a:latin typeface="Calibri" panose="020F0502020204030204" pitchFamily="34" charset="0"/>
                        </a:rPr>
                        <a:t>3</a:t>
                      </a:r>
                    </a:p>
                  </a:txBody>
                  <a:tcPr marL="7620" marR="7620" marT="7620" marB="0" anchor="b"/>
                </a:tc>
                <a:tc>
                  <a:txBody>
                    <a:bodyPr/>
                    <a:lstStyle/>
                    <a:p>
                      <a:pPr algn="l" fontAlgn="b"/>
                      <a:r>
                        <a:rPr lang="en-IN" sz="3200" b="0" i="0" u="none" strike="noStrike">
                          <a:solidFill>
                            <a:srgbClr val="000000"/>
                          </a:solidFill>
                          <a:effectLst/>
                          <a:latin typeface="Calibri" panose="020F0502020204030204" pitchFamily="34" charset="0"/>
                        </a:rPr>
                        <a:t>Others</a:t>
                      </a:r>
                    </a:p>
                  </a:txBody>
                  <a:tcPr marL="7620" marR="7620" marT="7620" marB="0" anchor="b"/>
                </a:tc>
                <a:tc>
                  <a:txBody>
                    <a:bodyPr/>
                    <a:lstStyle/>
                    <a:p>
                      <a:pPr algn="r" fontAlgn="b"/>
                      <a:r>
                        <a:rPr lang="en-IN" sz="3200" b="0" i="0" u="none" strike="noStrike" dirty="0">
                          <a:solidFill>
                            <a:srgbClr val="000000"/>
                          </a:solidFill>
                          <a:effectLst/>
                          <a:latin typeface="Calibri" panose="020F0502020204030204" pitchFamily="34" charset="0"/>
                        </a:rPr>
                        <a:t>59</a:t>
                      </a:r>
                    </a:p>
                  </a:txBody>
                  <a:tcPr marL="7620" marR="7620" marT="7620" marB="0" anchor="b"/>
                </a:tc>
                <a:extLst>
                  <a:ext uri="{0D108BD9-81ED-4DB2-BD59-A6C34878D82A}">
                    <a16:rowId xmlns:a16="http://schemas.microsoft.com/office/drawing/2014/main" val="4010542434"/>
                  </a:ext>
                </a:extLst>
              </a:tr>
            </a:tbl>
          </a:graphicData>
        </a:graphic>
      </p:graphicFrame>
      <p:sp>
        <p:nvSpPr>
          <p:cNvPr id="16" name="TextBox 15">
            <a:extLst>
              <a:ext uri="{FF2B5EF4-FFF2-40B4-BE49-F238E27FC236}">
                <a16:creationId xmlns:a16="http://schemas.microsoft.com/office/drawing/2014/main" id="{A8CB74F7-451A-45ED-A1AD-14BB2302A6EF}"/>
              </a:ext>
            </a:extLst>
          </p:cNvPr>
          <p:cNvSpPr txBox="1"/>
          <p:nvPr/>
        </p:nvSpPr>
        <p:spPr>
          <a:xfrm>
            <a:off x="4817097" y="4826524"/>
            <a:ext cx="2121031" cy="646331"/>
          </a:xfrm>
          <a:prstGeom prst="rect">
            <a:avLst/>
          </a:prstGeom>
          <a:noFill/>
        </p:spPr>
        <p:txBody>
          <a:bodyPr wrap="square" rtlCol="0">
            <a:spAutoFit/>
          </a:bodyPr>
          <a:lstStyle/>
          <a:p>
            <a:r>
              <a:rPr lang="en-IN" sz="3600" dirty="0">
                <a:latin typeface="Times New Roman" panose="02020603050405020304" pitchFamily="18" charset="0"/>
                <a:cs typeface="Times New Roman" panose="02020603050405020304" pitchFamily="18" charset="0"/>
              </a:rPr>
              <a:t>Mode = 3</a:t>
            </a:r>
          </a:p>
        </p:txBody>
      </p:sp>
    </p:spTree>
    <p:extLst>
      <p:ext uri="{BB962C8B-B14F-4D97-AF65-F5344CB8AC3E}">
        <p14:creationId xmlns:p14="http://schemas.microsoft.com/office/powerpoint/2010/main" val="34082303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6227D4B-56CC-62ED-057B-14364C9038BA}"/>
              </a:ext>
            </a:extLst>
          </p:cNvPr>
          <p:cNvPicPr>
            <a:picLocks noChangeAspect="1"/>
          </p:cNvPicPr>
          <p:nvPr/>
        </p:nvPicPr>
        <p:blipFill>
          <a:blip r:embed="rId2"/>
          <a:stretch>
            <a:fillRect/>
          </a:stretch>
        </p:blipFill>
        <p:spPr>
          <a:xfrm>
            <a:off x="0" y="863385"/>
            <a:ext cx="12192000" cy="5131229"/>
          </a:xfrm>
          <a:prstGeom prst="rect">
            <a:avLst/>
          </a:prstGeom>
        </p:spPr>
      </p:pic>
    </p:spTree>
    <p:extLst>
      <p:ext uri="{BB962C8B-B14F-4D97-AF65-F5344CB8AC3E}">
        <p14:creationId xmlns:p14="http://schemas.microsoft.com/office/powerpoint/2010/main" val="669158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A8BBC01-4BF7-9B3F-8286-DA2CD52D39C4}"/>
              </a:ext>
            </a:extLst>
          </p:cNvPr>
          <p:cNvSpPr txBox="1"/>
          <p:nvPr/>
        </p:nvSpPr>
        <p:spPr>
          <a:xfrm>
            <a:off x="1951348" y="262512"/>
            <a:ext cx="7334053" cy="830997"/>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rPr>
              <a:t>Skewness: -0.91249</a:t>
            </a:r>
          </a:p>
          <a:p>
            <a:r>
              <a:rPr lang="en-IN" sz="2400" dirty="0">
                <a:latin typeface="Times New Roman" panose="02020603050405020304" pitchFamily="18" charset="0"/>
                <a:cs typeface="Times New Roman" panose="02020603050405020304" pitchFamily="18" charset="0"/>
              </a:rPr>
              <a:t>Kurtosis: -0.72604</a:t>
            </a:r>
          </a:p>
        </p:txBody>
      </p:sp>
      <p:pic>
        <p:nvPicPr>
          <p:cNvPr id="3" name="Picture 2">
            <a:extLst>
              <a:ext uri="{FF2B5EF4-FFF2-40B4-BE49-F238E27FC236}">
                <a16:creationId xmlns:a16="http://schemas.microsoft.com/office/drawing/2014/main" id="{11A5F699-13B5-CC23-DF4D-578084A49D86}"/>
              </a:ext>
            </a:extLst>
          </p:cNvPr>
          <p:cNvPicPr>
            <a:picLocks noChangeAspect="1"/>
          </p:cNvPicPr>
          <p:nvPr/>
        </p:nvPicPr>
        <p:blipFill>
          <a:blip r:embed="rId2"/>
          <a:stretch>
            <a:fillRect/>
          </a:stretch>
        </p:blipFill>
        <p:spPr>
          <a:xfrm>
            <a:off x="942681" y="1093509"/>
            <a:ext cx="9862300" cy="5165889"/>
          </a:xfrm>
          <a:prstGeom prst="rect">
            <a:avLst/>
          </a:prstGeom>
        </p:spPr>
      </p:pic>
    </p:spTree>
    <p:extLst>
      <p:ext uri="{BB962C8B-B14F-4D97-AF65-F5344CB8AC3E}">
        <p14:creationId xmlns:p14="http://schemas.microsoft.com/office/powerpoint/2010/main" val="20822307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7BB83D6-C474-505B-7C4D-8B5913246445}"/>
              </a:ext>
            </a:extLst>
          </p:cNvPr>
          <p:cNvSpPr txBox="1"/>
          <p:nvPr/>
        </p:nvSpPr>
        <p:spPr>
          <a:xfrm>
            <a:off x="2441542" y="933254"/>
            <a:ext cx="6542202" cy="954107"/>
          </a:xfrm>
          <a:prstGeom prst="rect">
            <a:avLst/>
          </a:prstGeom>
          <a:noFill/>
        </p:spPr>
        <p:txBody>
          <a:bodyPr wrap="square" rtlCol="0">
            <a:spAutoFit/>
          </a:bodyPr>
          <a:lstStyle/>
          <a:p>
            <a:r>
              <a:rPr lang="en-IN" sz="2800" dirty="0">
                <a:latin typeface="Times New Roman" panose="02020603050405020304" pitchFamily="18" charset="0"/>
                <a:cs typeface="Times New Roman" panose="02020603050405020304" pitchFamily="18" charset="0"/>
              </a:rPr>
              <a:t>Inference: Most of the survey results come from people outside of our sections.</a:t>
            </a:r>
          </a:p>
        </p:txBody>
      </p:sp>
      <p:sp>
        <p:nvSpPr>
          <p:cNvPr id="3" name="TextBox 2">
            <a:extLst>
              <a:ext uri="{FF2B5EF4-FFF2-40B4-BE49-F238E27FC236}">
                <a16:creationId xmlns:a16="http://schemas.microsoft.com/office/drawing/2014/main" id="{9ADD9F96-A5F2-7A8D-21A2-0D4CB4971309}"/>
              </a:ext>
            </a:extLst>
          </p:cNvPr>
          <p:cNvSpPr txBox="1"/>
          <p:nvPr/>
        </p:nvSpPr>
        <p:spPr>
          <a:xfrm>
            <a:off x="2441541" y="2560749"/>
            <a:ext cx="6542202" cy="1384995"/>
          </a:xfrm>
          <a:prstGeom prst="rect">
            <a:avLst/>
          </a:prstGeom>
          <a:noFill/>
        </p:spPr>
        <p:txBody>
          <a:bodyPr wrap="square" rtlCol="0">
            <a:spAutoFit/>
          </a:bodyPr>
          <a:lstStyle/>
          <a:p>
            <a:r>
              <a:rPr lang="en-IN" sz="2800" dirty="0">
                <a:latin typeface="Times New Roman" panose="02020603050405020304" pitchFamily="18" charset="0"/>
                <a:cs typeface="Times New Roman" panose="02020603050405020304" pitchFamily="18" charset="0"/>
              </a:rPr>
              <a:t>Insight: Most students/young people do not like filling forms and would rather spend time on Instagram.</a:t>
            </a:r>
          </a:p>
        </p:txBody>
      </p:sp>
      <p:sp>
        <p:nvSpPr>
          <p:cNvPr id="4" name="TextBox 3">
            <a:extLst>
              <a:ext uri="{FF2B5EF4-FFF2-40B4-BE49-F238E27FC236}">
                <a16:creationId xmlns:a16="http://schemas.microsoft.com/office/drawing/2014/main" id="{B973AE24-769E-F56A-FBBC-2CCF3E779AF5}"/>
              </a:ext>
            </a:extLst>
          </p:cNvPr>
          <p:cNvSpPr txBox="1"/>
          <p:nvPr/>
        </p:nvSpPr>
        <p:spPr>
          <a:xfrm>
            <a:off x="2441541" y="4619133"/>
            <a:ext cx="6542202" cy="1384995"/>
          </a:xfrm>
          <a:prstGeom prst="rect">
            <a:avLst/>
          </a:prstGeom>
          <a:noFill/>
        </p:spPr>
        <p:txBody>
          <a:bodyPr wrap="square" rtlCol="0">
            <a:spAutoFit/>
          </a:bodyPr>
          <a:lstStyle/>
          <a:p>
            <a:r>
              <a:rPr lang="en-IN" sz="2800" dirty="0">
                <a:latin typeface="Times New Roman" panose="02020603050405020304" pitchFamily="18" charset="0"/>
                <a:cs typeface="Times New Roman" panose="02020603050405020304" pitchFamily="18" charset="0"/>
              </a:rPr>
              <a:t>Recommendation: We would recommend offering incentives to students to fill the form or just circulate it to older people.</a:t>
            </a:r>
          </a:p>
        </p:txBody>
      </p:sp>
    </p:spTree>
    <p:extLst>
      <p:ext uri="{BB962C8B-B14F-4D97-AF65-F5344CB8AC3E}">
        <p14:creationId xmlns:p14="http://schemas.microsoft.com/office/powerpoint/2010/main" val="525423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8789878-79AD-1E44-1662-D69425970650}"/>
              </a:ext>
            </a:extLst>
          </p:cNvPr>
          <p:cNvSpPr txBox="1"/>
          <p:nvPr/>
        </p:nvSpPr>
        <p:spPr>
          <a:xfrm>
            <a:off x="1892968" y="437503"/>
            <a:ext cx="9609221" cy="646331"/>
          </a:xfrm>
          <a:prstGeom prst="rect">
            <a:avLst/>
          </a:prstGeom>
          <a:noFill/>
        </p:spPr>
        <p:txBody>
          <a:bodyPr wrap="square" rtlCol="0">
            <a:spAutoFit/>
          </a:bodyPr>
          <a:lstStyle/>
          <a:p>
            <a:r>
              <a:rPr lang="en-IN" sz="3600" dirty="0">
                <a:latin typeface="Times New Roman" panose="02020603050405020304" pitchFamily="18" charset="0"/>
                <a:cs typeface="Times New Roman" panose="02020603050405020304" pitchFamily="18" charset="0"/>
              </a:rPr>
              <a:t>General question 2: What is your gender?</a:t>
            </a:r>
          </a:p>
        </p:txBody>
      </p:sp>
      <p:graphicFrame>
        <p:nvGraphicFramePr>
          <p:cNvPr id="3" name="Table 2">
            <a:extLst>
              <a:ext uri="{FF2B5EF4-FFF2-40B4-BE49-F238E27FC236}">
                <a16:creationId xmlns:a16="http://schemas.microsoft.com/office/drawing/2014/main" id="{5E9A207E-5B84-8A09-ACA6-9AE6086BABA5}"/>
              </a:ext>
            </a:extLst>
          </p:cNvPr>
          <p:cNvGraphicFramePr>
            <a:graphicFrameLocks noGrp="1"/>
          </p:cNvGraphicFramePr>
          <p:nvPr>
            <p:extLst>
              <p:ext uri="{D42A27DB-BD31-4B8C-83A1-F6EECF244321}">
                <p14:modId xmlns:p14="http://schemas.microsoft.com/office/powerpoint/2010/main" val="2971416229"/>
              </p:ext>
            </p:extLst>
          </p:nvPr>
        </p:nvGraphicFramePr>
        <p:xfrm>
          <a:off x="609600" y="1489686"/>
          <a:ext cx="11069052" cy="2468880"/>
        </p:xfrm>
        <a:graphic>
          <a:graphicData uri="http://schemas.openxmlformats.org/drawingml/2006/table">
            <a:tbl>
              <a:tblPr firstRow="1" bandRow="1">
                <a:tableStyleId>{5C22544A-7EE6-4342-B048-85BDC9FD1C3A}</a:tableStyleId>
              </a:tblPr>
              <a:tblGrid>
                <a:gridCol w="3689684">
                  <a:extLst>
                    <a:ext uri="{9D8B030D-6E8A-4147-A177-3AD203B41FA5}">
                      <a16:colId xmlns:a16="http://schemas.microsoft.com/office/drawing/2014/main" val="202795788"/>
                    </a:ext>
                  </a:extLst>
                </a:gridCol>
                <a:gridCol w="3689684">
                  <a:extLst>
                    <a:ext uri="{9D8B030D-6E8A-4147-A177-3AD203B41FA5}">
                      <a16:colId xmlns:a16="http://schemas.microsoft.com/office/drawing/2014/main" val="2069913965"/>
                    </a:ext>
                  </a:extLst>
                </a:gridCol>
                <a:gridCol w="3689684">
                  <a:extLst>
                    <a:ext uri="{9D8B030D-6E8A-4147-A177-3AD203B41FA5}">
                      <a16:colId xmlns:a16="http://schemas.microsoft.com/office/drawing/2014/main" val="2345695620"/>
                    </a:ext>
                  </a:extLst>
                </a:gridCol>
              </a:tblGrid>
              <a:tr h="370840">
                <a:tc>
                  <a:txBody>
                    <a:bodyPr/>
                    <a:lstStyle/>
                    <a:p>
                      <a:pPr algn="l" fontAlgn="b"/>
                      <a:r>
                        <a:rPr lang="en-IN" sz="4000" b="0" i="0" u="none" strike="noStrike" dirty="0">
                          <a:solidFill>
                            <a:srgbClr val="000000"/>
                          </a:solidFill>
                          <a:effectLst/>
                          <a:latin typeface="Times New Roman" panose="02020603050405020304" pitchFamily="18" charset="0"/>
                          <a:cs typeface="Times New Roman" panose="02020603050405020304" pitchFamily="18" charset="0"/>
                        </a:rPr>
                        <a:t>Code</a:t>
                      </a:r>
                    </a:p>
                  </a:txBody>
                  <a:tcPr marL="7620" marR="7620" marT="7620" marB="0" anchor="b"/>
                </a:tc>
                <a:tc>
                  <a:txBody>
                    <a:bodyPr/>
                    <a:lstStyle/>
                    <a:p>
                      <a:pPr algn="l" fontAlgn="b"/>
                      <a:r>
                        <a:rPr lang="en-IN" sz="4000" b="0" i="0" u="none" strike="noStrike" dirty="0">
                          <a:solidFill>
                            <a:srgbClr val="000000"/>
                          </a:solidFill>
                          <a:effectLst/>
                          <a:latin typeface="Times New Roman" panose="02020603050405020304" pitchFamily="18" charset="0"/>
                          <a:cs typeface="Times New Roman" panose="02020603050405020304" pitchFamily="18" charset="0"/>
                        </a:rPr>
                        <a:t>Gender</a:t>
                      </a:r>
                    </a:p>
                  </a:txBody>
                  <a:tcPr marL="7620" marR="7620" marT="7620" marB="0" anchor="b"/>
                </a:tc>
                <a:tc>
                  <a:txBody>
                    <a:bodyPr/>
                    <a:lstStyle/>
                    <a:p>
                      <a:pPr algn="l" fontAlgn="b"/>
                      <a:r>
                        <a:rPr lang="en-IN" sz="4000" b="0" i="0" u="none" strike="noStrike">
                          <a:solidFill>
                            <a:srgbClr val="000000"/>
                          </a:solidFill>
                          <a:effectLst/>
                          <a:latin typeface="Times New Roman" panose="02020603050405020304" pitchFamily="18" charset="0"/>
                          <a:cs typeface="Times New Roman" panose="02020603050405020304" pitchFamily="18" charset="0"/>
                        </a:rPr>
                        <a:t>Number</a:t>
                      </a:r>
                    </a:p>
                  </a:txBody>
                  <a:tcPr marL="7620" marR="7620" marT="7620" marB="0" anchor="b"/>
                </a:tc>
                <a:extLst>
                  <a:ext uri="{0D108BD9-81ED-4DB2-BD59-A6C34878D82A}">
                    <a16:rowId xmlns:a16="http://schemas.microsoft.com/office/drawing/2014/main" val="834953672"/>
                  </a:ext>
                </a:extLst>
              </a:tr>
              <a:tr h="370840">
                <a:tc>
                  <a:txBody>
                    <a:bodyPr/>
                    <a:lstStyle/>
                    <a:p>
                      <a:pPr algn="r" fontAlgn="b"/>
                      <a:r>
                        <a:rPr lang="en-IN" sz="4000" b="0" i="0" u="none" strike="noStrike" dirty="0">
                          <a:solidFill>
                            <a:srgbClr val="000000"/>
                          </a:solidFill>
                          <a:effectLst/>
                          <a:latin typeface="Times New Roman" panose="02020603050405020304" pitchFamily="18" charset="0"/>
                          <a:cs typeface="Times New Roman" panose="02020603050405020304" pitchFamily="18" charset="0"/>
                        </a:rPr>
                        <a:t>1</a:t>
                      </a:r>
                    </a:p>
                  </a:txBody>
                  <a:tcPr marL="7620" marR="7620" marT="7620" marB="0" anchor="b"/>
                </a:tc>
                <a:tc>
                  <a:txBody>
                    <a:bodyPr/>
                    <a:lstStyle/>
                    <a:p>
                      <a:pPr algn="r" fontAlgn="b"/>
                      <a:r>
                        <a:rPr lang="en-IN" sz="4000" b="0" i="0" u="none" strike="noStrike" dirty="0">
                          <a:solidFill>
                            <a:srgbClr val="000000"/>
                          </a:solidFill>
                          <a:effectLst/>
                          <a:latin typeface="Times New Roman" panose="02020603050405020304" pitchFamily="18" charset="0"/>
                          <a:cs typeface="Times New Roman" panose="02020603050405020304" pitchFamily="18" charset="0"/>
                        </a:rPr>
                        <a:t>Male</a:t>
                      </a:r>
                    </a:p>
                  </a:txBody>
                  <a:tcPr marL="7620" marR="7620" marT="7620" marB="0" anchor="b"/>
                </a:tc>
                <a:tc>
                  <a:txBody>
                    <a:bodyPr/>
                    <a:lstStyle/>
                    <a:p>
                      <a:pPr algn="r" fontAlgn="b"/>
                      <a:r>
                        <a:rPr lang="en-IN" sz="4000" b="0" i="0" u="none" strike="noStrike" dirty="0">
                          <a:solidFill>
                            <a:srgbClr val="000000"/>
                          </a:solidFill>
                          <a:effectLst/>
                          <a:latin typeface="Times New Roman" panose="02020603050405020304" pitchFamily="18" charset="0"/>
                          <a:cs typeface="Times New Roman" panose="02020603050405020304" pitchFamily="18" charset="0"/>
                        </a:rPr>
                        <a:t>59</a:t>
                      </a:r>
                    </a:p>
                  </a:txBody>
                  <a:tcPr marL="7620" marR="7620" marT="7620" marB="0" anchor="b"/>
                </a:tc>
                <a:extLst>
                  <a:ext uri="{0D108BD9-81ED-4DB2-BD59-A6C34878D82A}">
                    <a16:rowId xmlns:a16="http://schemas.microsoft.com/office/drawing/2014/main" val="2595055752"/>
                  </a:ext>
                </a:extLst>
              </a:tr>
              <a:tr h="370840">
                <a:tc>
                  <a:txBody>
                    <a:bodyPr/>
                    <a:lstStyle/>
                    <a:p>
                      <a:pPr algn="r" fontAlgn="b"/>
                      <a:r>
                        <a:rPr lang="en-IN" sz="4000" b="0" i="0" u="none" strike="noStrike" dirty="0">
                          <a:solidFill>
                            <a:srgbClr val="000000"/>
                          </a:solidFill>
                          <a:effectLst/>
                          <a:latin typeface="Times New Roman" panose="02020603050405020304" pitchFamily="18" charset="0"/>
                          <a:cs typeface="Times New Roman" panose="02020603050405020304" pitchFamily="18" charset="0"/>
                        </a:rPr>
                        <a:t>2</a:t>
                      </a:r>
                    </a:p>
                  </a:txBody>
                  <a:tcPr marL="7620" marR="7620" marT="7620" marB="0" anchor="b"/>
                </a:tc>
                <a:tc>
                  <a:txBody>
                    <a:bodyPr/>
                    <a:lstStyle/>
                    <a:p>
                      <a:pPr algn="r" fontAlgn="b"/>
                      <a:r>
                        <a:rPr lang="en-IN" sz="4000" b="0" i="0" u="none" strike="noStrike" dirty="0">
                          <a:solidFill>
                            <a:srgbClr val="000000"/>
                          </a:solidFill>
                          <a:effectLst/>
                          <a:latin typeface="Times New Roman" panose="02020603050405020304" pitchFamily="18" charset="0"/>
                          <a:cs typeface="Times New Roman" panose="02020603050405020304" pitchFamily="18" charset="0"/>
                        </a:rPr>
                        <a:t>Female</a:t>
                      </a:r>
                    </a:p>
                  </a:txBody>
                  <a:tcPr marL="7620" marR="7620" marT="7620" marB="0" anchor="b"/>
                </a:tc>
                <a:tc>
                  <a:txBody>
                    <a:bodyPr/>
                    <a:lstStyle/>
                    <a:p>
                      <a:pPr algn="r" fontAlgn="b"/>
                      <a:r>
                        <a:rPr lang="en-IN" sz="4000" b="0" i="0" u="none" strike="noStrike" dirty="0">
                          <a:solidFill>
                            <a:srgbClr val="000000"/>
                          </a:solidFill>
                          <a:effectLst/>
                          <a:latin typeface="Times New Roman" panose="02020603050405020304" pitchFamily="18" charset="0"/>
                          <a:cs typeface="Times New Roman" panose="02020603050405020304" pitchFamily="18" charset="0"/>
                        </a:rPr>
                        <a:t>41</a:t>
                      </a:r>
                    </a:p>
                  </a:txBody>
                  <a:tcPr marL="7620" marR="7620" marT="7620" marB="0" anchor="b"/>
                </a:tc>
                <a:extLst>
                  <a:ext uri="{0D108BD9-81ED-4DB2-BD59-A6C34878D82A}">
                    <a16:rowId xmlns:a16="http://schemas.microsoft.com/office/drawing/2014/main" val="3011345256"/>
                  </a:ext>
                </a:extLst>
              </a:tr>
              <a:tr h="370840">
                <a:tc>
                  <a:txBody>
                    <a:bodyPr/>
                    <a:lstStyle/>
                    <a:p>
                      <a:pPr algn="r" fontAlgn="b"/>
                      <a:r>
                        <a:rPr lang="en-IN" sz="4000" b="0" i="0" u="none" strike="noStrike" dirty="0">
                          <a:solidFill>
                            <a:srgbClr val="000000"/>
                          </a:solidFill>
                          <a:effectLst/>
                          <a:latin typeface="Times New Roman" panose="02020603050405020304" pitchFamily="18" charset="0"/>
                          <a:cs typeface="Times New Roman" panose="02020603050405020304" pitchFamily="18" charset="0"/>
                        </a:rPr>
                        <a:t>3</a:t>
                      </a:r>
                    </a:p>
                  </a:txBody>
                  <a:tcPr marL="7620" marR="7620" marT="7620" marB="0" anchor="b"/>
                </a:tc>
                <a:tc>
                  <a:txBody>
                    <a:bodyPr/>
                    <a:lstStyle/>
                    <a:p>
                      <a:pPr algn="r" fontAlgn="b"/>
                      <a:r>
                        <a:rPr lang="en-IN" sz="4000" b="0" i="0" u="none" strike="noStrike" dirty="0">
                          <a:solidFill>
                            <a:srgbClr val="000000"/>
                          </a:solidFill>
                          <a:effectLst/>
                          <a:latin typeface="Times New Roman" panose="02020603050405020304" pitchFamily="18" charset="0"/>
                          <a:cs typeface="Times New Roman" panose="02020603050405020304" pitchFamily="18" charset="0"/>
                        </a:rPr>
                        <a:t>Transgender</a:t>
                      </a:r>
                    </a:p>
                  </a:txBody>
                  <a:tcPr marL="7620" marR="7620" marT="7620" marB="0" anchor="b"/>
                </a:tc>
                <a:tc>
                  <a:txBody>
                    <a:bodyPr/>
                    <a:lstStyle/>
                    <a:p>
                      <a:pPr algn="r" fontAlgn="b"/>
                      <a:r>
                        <a:rPr lang="en-IN" sz="4000" b="0" i="0" u="none" strike="noStrike" dirty="0">
                          <a:solidFill>
                            <a:srgbClr val="000000"/>
                          </a:solidFill>
                          <a:effectLst/>
                          <a:latin typeface="Times New Roman" panose="02020603050405020304" pitchFamily="18" charset="0"/>
                          <a:cs typeface="Times New Roman" panose="02020603050405020304" pitchFamily="18" charset="0"/>
                        </a:rPr>
                        <a:t>0</a:t>
                      </a:r>
                    </a:p>
                  </a:txBody>
                  <a:tcPr marL="7620" marR="7620" marT="7620" marB="0" anchor="b"/>
                </a:tc>
                <a:extLst>
                  <a:ext uri="{0D108BD9-81ED-4DB2-BD59-A6C34878D82A}">
                    <a16:rowId xmlns:a16="http://schemas.microsoft.com/office/drawing/2014/main" val="1384534269"/>
                  </a:ext>
                </a:extLst>
              </a:tr>
            </a:tbl>
          </a:graphicData>
        </a:graphic>
      </p:graphicFrame>
      <p:sp>
        <p:nvSpPr>
          <p:cNvPr id="4" name="TextBox 3">
            <a:extLst>
              <a:ext uri="{FF2B5EF4-FFF2-40B4-BE49-F238E27FC236}">
                <a16:creationId xmlns:a16="http://schemas.microsoft.com/office/drawing/2014/main" id="{3EF06C0F-0870-76EA-B63F-2AB0063CAB85}"/>
              </a:ext>
            </a:extLst>
          </p:cNvPr>
          <p:cNvSpPr txBox="1"/>
          <p:nvPr/>
        </p:nvSpPr>
        <p:spPr>
          <a:xfrm>
            <a:off x="3481137" y="4780547"/>
            <a:ext cx="4764505" cy="1107996"/>
          </a:xfrm>
          <a:prstGeom prst="rect">
            <a:avLst/>
          </a:prstGeom>
          <a:noFill/>
        </p:spPr>
        <p:txBody>
          <a:bodyPr wrap="square" rtlCol="0">
            <a:spAutoFit/>
          </a:bodyPr>
          <a:lstStyle/>
          <a:p>
            <a:r>
              <a:rPr lang="en-IN" sz="6600" dirty="0">
                <a:latin typeface="Times New Roman" panose="02020603050405020304" pitchFamily="18" charset="0"/>
                <a:cs typeface="Times New Roman" panose="02020603050405020304" pitchFamily="18" charset="0"/>
              </a:rPr>
              <a:t>Mode = 1</a:t>
            </a:r>
          </a:p>
        </p:txBody>
      </p:sp>
    </p:spTree>
    <p:extLst>
      <p:ext uri="{BB962C8B-B14F-4D97-AF65-F5344CB8AC3E}">
        <p14:creationId xmlns:p14="http://schemas.microsoft.com/office/powerpoint/2010/main" val="16388795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4B597A2-D701-E56D-0C6D-B8688A9DF16C}"/>
              </a:ext>
            </a:extLst>
          </p:cNvPr>
          <p:cNvPicPr>
            <a:picLocks noChangeAspect="1"/>
          </p:cNvPicPr>
          <p:nvPr/>
        </p:nvPicPr>
        <p:blipFill>
          <a:blip r:embed="rId2"/>
          <a:stretch>
            <a:fillRect/>
          </a:stretch>
        </p:blipFill>
        <p:spPr>
          <a:xfrm>
            <a:off x="0" y="863385"/>
            <a:ext cx="12192000" cy="5131229"/>
          </a:xfrm>
          <a:prstGeom prst="rect">
            <a:avLst/>
          </a:prstGeom>
        </p:spPr>
      </p:pic>
    </p:spTree>
    <p:extLst>
      <p:ext uri="{BB962C8B-B14F-4D97-AF65-F5344CB8AC3E}">
        <p14:creationId xmlns:p14="http://schemas.microsoft.com/office/powerpoint/2010/main" val="26209926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4C93756-81A2-FEC5-424D-4C2F31305C82}"/>
              </a:ext>
            </a:extLst>
          </p:cNvPr>
          <p:cNvSpPr txBox="1"/>
          <p:nvPr/>
        </p:nvSpPr>
        <p:spPr>
          <a:xfrm>
            <a:off x="980388" y="450774"/>
            <a:ext cx="7579150" cy="830997"/>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rPr>
              <a:t>Kurtosis	-1.900351094</a:t>
            </a:r>
          </a:p>
          <a:p>
            <a:r>
              <a:rPr lang="en-IN" sz="2400" dirty="0">
                <a:latin typeface="Times New Roman" panose="02020603050405020304" pitchFamily="18" charset="0"/>
                <a:cs typeface="Times New Roman" panose="02020603050405020304" pitchFamily="18" charset="0"/>
              </a:rPr>
              <a:t>Skewness	0.371574663</a:t>
            </a:r>
          </a:p>
        </p:txBody>
      </p:sp>
      <p:pic>
        <p:nvPicPr>
          <p:cNvPr id="5" name="Picture 4">
            <a:extLst>
              <a:ext uri="{FF2B5EF4-FFF2-40B4-BE49-F238E27FC236}">
                <a16:creationId xmlns:a16="http://schemas.microsoft.com/office/drawing/2014/main" id="{51C44D03-A1C9-B47D-2F8F-FEDAF256FEAE}"/>
              </a:ext>
            </a:extLst>
          </p:cNvPr>
          <p:cNvPicPr>
            <a:picLocks noChangeAspect="1"/>
          </p:cNvPicPr>
          <p:nvPr/>
        </p:nvPicPr>
        <p:blipFill>
          <a:blip r:embed="rId2"/>
          <a:stretch>
            <a:fillRect/>
          </a:stretch>
        </p:blipFill>
        <p:spPr>
          <a:xfrm>
            <a:off x="176463" y="1357460"/>
            <a:ext cx="11470105" cy="5407786"/>
          </a:xfrm>
          <a:prstGeom prst="rect">
            <a:avLst/>
          </a:prstGeom>
        </p:spPr>
      </p:pic>
    </p:spTree>
    <p:extLst>
      <p:ext uri="{BB962C8B-B14F-4D97-AF65-F5344CB8AC3E}">
        <p14:creationId xmlns:p14="http://schemas.microsoft.com/office/powerpoint/2010/main" val="39200064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17888A-47EC-81D3-0360-1990C26ABED1}"/>
              </a:ext>
            </a:extLst>
          </p:cNvPr>
          <p:cNvSpPr>
            <a:spLocks noGrp="1"/>
          </p:cNvSpPr>
          <p:nvPr>
            <p:ph type="ctrTitle"/>
          </p:nvPr>
        </p:nvSpPr>
        <p:spPr>
          <a:xfrm>
            <a:off x="1524000" y="1216631"/>
            <a:ext cx="9144000" cy="857266"/>
          </a:xfrm>
        </p:spPr>
        <p:txBody>
          <a:bodyPr>
            <a:normAutofit/>
          </a:bodyPr>
          <a:lstStyle/>
          <a:p>
            <a:r>
              <a:rPr lang="en-IN" sz="3200" dirty="0">
                <a:latin typeface="Times New Roman" panose="02020603050405020304" pitchFamily="18" charset="0"/>
                <a:cs typeface="Times New Roman" panose="02020603050405020304" pitchFamily="18" charset="0"/>
              </a:rPr>
              <a:t>Inference: Most response are from male humans.</a:t>
            </a:r>
          </a:p>
        </p:txBody>
      </p:sp>
      <p:sp>
        <p:nvSpPr>
          <p:cNvPr id="3" name="Subtitle 2">
            <a:extLst>
              <a:ext uri="{FF2B5EF4-FFF2-40B4-BE49-F238E27FC236}">
                <a16:creationId xmlns:a16="http://schemas.microsoft.com/office/drawing/2014/main" id="{51FC9B14-EFB7-A0CB-E701-A94DC23D11DD}"/>
              </a:ext>
            </a:extLst>
          </p:cNvPr>
          <p:cNvSpPr>
            <a:spLocks noGrp="1"/>
          </p:cNvSpPr>
          <p:nvPr>
            <p:ph type="subTitle" idx="1"/>
          </p:nvPr>
        </p:nvSpPr>
        <p:spPr>
          <a:xfrm>
            <a:off x="1524000" y="3083563"/>
            <a:ext cx="9144000" cy="1945063"/>
          </a:xfrm>
        </p:spPr>
        <p:txBody>
          <a:bodyPr>
            <a:noAutofit/>
          </a:bodyPr>
          <a:lstStyle/>
          <a:p>
            <a:r>
              <a:rPr lang="en-IN" sz="3200" dirty="0">
                <a:latin typeface="Times New Roman" panose="02020603050405020304" pitchFamily="18" charset="0"/>
                <a:cs typeface="Times New Roman" panose="02020603050405020304" pitchFamily="18" charset="0"/>
              </a:rPr>
              <a:t>Insight: All 4 of us are boys so our friends are mostly male.</a:t>
            </a:r>
          </a:p>
          <a:p>
            <a:endParaRPr lang="en-IN" sz="3200" dirty="0">
              <a:latin typeface="Times New Roman" panose="02020603050405020304" pitchFamily="18" charset="0"/>
              <a:cs typeface="Times New Roman" panose="02020603050405020304" pitchFamily="18" charset="0"/>
            </a:endParaRPr>
          </a:p>
          <a:p>
            <a:endParaRPr lang="en-IN" sz="3200" dirty="0">
              <a:latin typeface="Times New Roman" panose="02020603050405020304" pitchFamily="18" charset="0"/>
              <a:cs typeface="Times New Roman" panose="02020603050405020304" pitchFamily="18" charset="0"/>
            </a:endParaRPr>
          </a:p>
          <a:p>
            <a:r>
              <a:rPr lang="en-IN" sz="3200" dirty="0">
                <a:latin typeface="Times New Roman" panose="02020603050405020304" pitchFamily="18" charset="0"/>
                <a:cs typeface="Times New Roman" panose="02020603050405020304" pitchFamily="18" charset="0"/>
              </a:rPr>
              <a:t>Recommendation: We should talk to more girls.</a:t>
            </a:r>
          </a:p>
        </p:txBody>
      </p:sp>
    </p:spTree>
    <p:extLst>
      <p:ext uri="{BB962C8B-B14F-4D97-AF65-F5344CB8AC3E}">
        <p14:creationId xmlns:p14="http://schemas.microsoft.com/office/powerpoint/2010/main" val="40958812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04FFA-8320-07E2-3F7A-AFC329DA84F0}"/>
              </a:ext>
            </a:extLst>
          </p:cNvPr>
          <p:cNvSpPr>
            <a:spLocks noGrp="1"/>
          </p:cNvSpPr>
          <p:nvPr>
            <p:ph type="title"/>
          </p:nvPr>
        </p:nvSpPr>
        <p:spPr/>
        <p:txBody>
          <a:bodyPr>
            <a:normAutofit fontScale="90000"/>
          </a:bodyPr>
          <a:lstStyle/>
          <a:p>
            <a:r>
              <a:rPr lang="en-US" dirty="0"/>
              <a:t>1. How often do you trust the recommendations of social media influencers? </a:t>
            </a:r>
            <a:endParaRPr lang="en-IN" dirty="0"/>
          </a:p>
        </p:txBody>
      </p:sp>
      <p:graphicFrame>
        <p:nvGraphicFramePr>
          <p:cNvPr id="4" name="Content Placeholder 3">
            <a:extLst>
              <a:ext uri="{FF2B5EF4-FFF2-40B4-BE49-F238E27FC236}">
                <a16:creationId xmlns:a16="http://schemas.microsoft.com/office/drawing/2014/main" id="{2CEF20E3-BF3C-3080-5B17-838146E384AF}"/>
              </a:ext>
            </a:extLst>
          </p:cNvPr>
          <p:cNvGraphicFramePr>
            <a:graphicFrameLocks noGrp="1"/>
          </p:cNvGraphicFramePr>
          <p:nvPr>
            <p:ph idx="1"/>
          </p:nvPr>
        </p:nvGraphicFramePr>
        <p:xfrm>
          <a:off x="838200" y="2304436"/>
          <a:ext cx="4333568" cy="3549445"/>
        </p:xfrm>
        <a:graphic>
          <a:graphicData uri="http://schemas.openxmlformats.org/drawingml/2006/table">
            <a:tbl>
              <a:tblPr>
                <a:tableStyleId>{5C22544A-7EE6-4342-B048-85BDC9FD1C3A}</a:tableStyleId>
              </a:tblPr>
              <a:tblGrid>
                <a:gridCol w="1835556">
                  <a:extLst>
                    <a:ext uri="{9D8B030D-6E8A-4147-A177-3AD203B41FA5}">
                      <a16:colId xmlns:a16="http://schemas.microsoft.com/office/drawing/2014/main" val="380650772"/>
                    </a:ext>
                  </a:extLst>
                </a:gridCol>
                <a:gridCol w="1835556">
                  <a:extLst>
                    <a:ext uri="{9D8B030D-6E8A-4147-A177-3AD203B41FA5}">
                      <a16:colId xmlns:a16="http://schemas.microsoft.com/office/drawing/2014/main" val="1730564401"/>
                    </a:ext>
                  </a:extLst>
                </a:gridCol>
                <a:gridCol w="662456">
                  <a:extLst>
                    <a:ext uri="{9D8B030D-6E8A-4147-A177-3AD203B41FA5}">
                      <a16:colId xmlns:a16="http://schemas.microsoft.com/office/drawing/2014/main" val="3702293498"/>
                    </a:ext>
                  </a:extLst>
                </a:gridCol>
              </a:tblGrid>
              <a:tr h="709889">
                <a:tc>
                  <a:txBody>
                    <a:bodyPr/>
                    <a:lstStyle/>
                    <a:p>
                      <a:pPr algn="ctr" fontAlgn="b"/>
                      <a:r>
                        <a:rPr lang="en-IN" sz="1400" u="none" strike="noStrike" dirty="0">
                          <a:effectLst/>
                        </a:rPr>
                        <a:t>Statement</a:t>
                      </a:r>
                      <a:endParaRPr lang="en-IN" sz="1400" b="1" i="0" u="none" strike="noStrike" dirty="0">
                        <a:solidFill>
                          <a:srgbClr val="FFFFFF"/>
                        </a:solidFill>
                        <a:effectLst/>
                        <a:latin typeface="Calibri" panose="020F0502020204030204" pitchFamily="34" charset="0"/>
                      </a:endParaRPr>
                    </a:p>
                  </a:txBody>
                  <a:tcPr marL="7620" marR="7620" marT="7620" marB="0" anchor="b"/>
                </a:tc>
                <a:tc>
                  <a:txBody>
                    <a:bodyPr/>
                    <a:lstStyle/>
                    <a:p>
                      <a:pPr algn="ctr" fontAlgn="b"/>
                      <a:r>
                        <a:rPr lang="en-IN" sz="1400" u="none" strike="noStrike">
                          <a:effectLst/>
                        </a:rPr>
                        <a:t>code</a:t>
                      </a:r>
                      <a:endParaRPr lang="en-IN" sz="1400" b="1" i="0" u="none" strike="noStrike">
                        <a:solidFill>
                          <a:srgbClr val="FFFFFF"/>
                        </a:solidFill>
                        <a:effectLst/>
                        <a:latin typeface="Calibri" panose="020F0502020204030204" pitchFamily="34" charset="0"/>
                      </a:endParaRPr>
                    </a:p>
                  </a:txBody>
                  <a:tcPr marL="7620" marR="7620" marT="7620" marB="0" anchor="b"/>
                </a:tc>
                <a:tc>
                  <a:txBody>
                    <a:bodyPr/>
                    <a:lstStyle/>
                    <a:p>
                      <a:pPr algn="ctr" fontAlgn="b"/>
                      <a:r>
                        <a:rPr lang="en-IN" sz="1400" u="none" strike="noStrike">
                          <a:effectLst/>
                        </a:rPr>
                        <a:t>Numbers</a:t>
                      </a:r>
                      <a:endParaRPr lang="en-IN" sz="1400" b="1" i="0" u="none" strike="noStrike">
                        <a:solidFill>
                          <a:srgbClr val="FFFFFF"/>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029167714"/>
                  </a:ext>
                </a:extLst>
              </a:tr>
              <a:tr h="709889">
                <a:tc>
                  <a:txBody>
                    <a:bodyPr/>
                    <a:lstStyle/>
                    <a:p>
                      <a:pPr algn="ctr" fontAlgn="b"/>
                      <a:r>
                        <a:rPr lang="en-IN" sz="1400" u="none" strike="noStrike" dirty="0">
                          <a:effectLst/>
                        </a:rPr>
                        <a:t>Never trust</a:t>
                      </a:r>
                      <a:endParaRPr lang="en-IN" sz="14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IN" sz="1400" u="none" strike="noStrike" dirty="0">
                          <a:effectLst/>
                        </a:rPr>
                        <a:t>1</a:t>
                      </a:r>
                      <a:endParaRPr lang="en-IN" sz="14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IN" sz="1400" u="none" strike="noStrike">
                          <a:effectLst/>
                        </a:rPr>
                        <a:t>14</a:t>
                      </a:r>
                      <a:endParaRPr lang="en-IN" sz="14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968001158"/>
                  </a:ext>
                </a:extLst>
              </a:tr>
              <a:tr h="709889">
                <a:tc>
                  <a:txBody>
                    <a:bodyPr/>
                    <a:lstStyle/>
                    <a:p>
                      <a:pPr algn="ctr" fontAlgn="b"/>
                      <a:r>
                        <a:rPr lang="en-IN" sz="1400" u="none" strike="noStrike">
                          <a:effectLst/>
                        </a:rPr>
                        <a:t>always trust</a:t>
                      </a:r>
                      <a:endParaRPr lang="en-IN"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400" u="none" strike="noStrike" dirty="0">
                          <a:effectLst/>
                        </a:rPr>
                        <a:t>2</a:t>
                      </a:r>
                      <a:endParaRPr lang="en-IN" sz="14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IN" sz="1400" u="none" strike="noStrike">
                          <a:effectLst/>
                        </a:rPr>
                        <a:t>25</a:t>
                      </a:r>
                      <a:endParaRPr lang="en-IN" sz="14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727489515"/>
                  </a:ext>
                </a:extLst>
              </a:tr>
              <a:tr h="709889">
                <a:tc>
                  <a:txBody>
                    <a:bodyPr/>
                    <a:lstStyle/>
                    <a:p>
                      <a:pPr algn="ctr" fontAlgn="b"/>
                      <a:r>
                        <a:rPr lang="en-IN" sz="1400" u="none" strike="noStrike">
                          <a:effectLst/>
                        </a:rPr>
                        <a:t>only very famous personality</a:t>
                      </a:r>
                      <a:endParaRPr lang="en-IN"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400" u="none" strike="noStrike" dirty="0">
                          <a:effectLst/>
                        </a:rPr>
                        <a:t>3</a:t>
                      </a:r>
                      <a:endParaRPr lang="en-IN" sz="14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IN" sz="1400" u="none" strike="noStrike">
                          <a:effectLst/>
                        </a:rPr>
                        <a:t>37</a:t>
                      </a:r>
                      <a:endParaRPr lang="en-IN" sz="14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417797074"/>
                  </a:ext>
                </a:extLst>
              </a:tr>
              <a:tr h="709889">
                <a:tc>
                  <a:txBody>
                    <a:bodyPr/>
                    <a:lstStyle/>
                    <a:p>
                      <a:pPr algn="ctr" fontAlgn="b"/>
                      <a:r>
                        <a:rPr lang="en-IN" sz="1400" u="none" strike="noStrike">
                          <a:effectLst/>
                        </a:rPr>
                        <a:t>rarely</a:t>
                      </a:r>
                      <a:endParaRPr lang="en-IN"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400" u="none" strike="noStrike" dirty="0">
                          <a:effectLst/>
                        </a:rPr>
                        <a:t>4</a:t>
                      </a:r>
                      <a:endParaRPr lang="en-IN" sz="14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IN" sz="1400" u="none" strike="noStrike" dirty="0">
                          <a:effectLst/>
                        </a:rPr>
                        <a:t>36</a:t>
                      </a:r>
                      <a:endParaRPr lang="en-IN" sz="14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895807593"/>
                  </a:ext>
                </a:extLst>
              </a:tr>
            </a:tbl>
          </a:graphicData>
        </a:graphic>
      </p:graphicFrame>
      <p:sp>
        <p:nvSpPr>
          <p:cNvPr id="6" name="TextBox 5">
            <a:extLst>
              <a:ext uri="{FF2B5EF4-FFF2-40B4-BE49-F238E27FC236}">
                <a16:creationId xmlns:a16="http://schemas.microsoft.com/office/drawing/2014/main" id="{D49273AF-7DFC-2594-794B-BF063C0F4C95}"/>
              </a:ext>
            </a:extLst>
          </p:cNvPr>
          <p:cNvSpPr txBox="1"/>
          <p:nvPr/>
        </p:nvSpPr>
        <p:spPr>
          <a:xfrm>
            <a:off x="766916" y="5960953"/>
            <a:ext cx="4404852" cy="369332"/>
          </a:xfrm>
          <a:prstGeom prst="rect">
            <a:avLst/>
          </a:prstGeom>
          <a:noFill/>
        </p:spPr>
        <p:txBody>
          <a:bodyPr wrap="square" rtlCol="0">
            <a:spAutoFit/>
          </a:bodyPr>
          <a:lstStyle/>
          <a:p>
            <a:pPr algn="ctr"/>
            <a:r>
              <a:rPr lang="en-US" dirty="0"/>
              <a:t>Mode = 3</a:t>
            </a:r>
            <a:endParaRPr lang="en-IN" dirty="0"/>
          </a:p>
        </p:txBody>
      </p:sp>
      <p:pic>
        <p:nvPicPr>
          <p:cNvPr id="7" name="Picture 6" descr="Forms response chart. Question title: 1. How often do you trust the recommendations of social media influencers?&#10;. Number of responses: 112 responses.">
            <a:extLst>
              <a:ext uri="{FF2B5EF4-FFF2-40B4-BE49-F238E27FC236}">
                <a16:creationId xmlns:a16="http://schemas.microsoft.com/office/drawing/2014/main" id="{EE587EAF-1D22-006D-0CA2-204B409AF1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94322" y="2138082"/>
            <a:ext cx="5427407" cy="35494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809917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5E802-DE16-C935-FA41-F703B405425C}"/>
              </a:ext>
            </a:extLst>
          </p:cNvPr>
          <p:cNvSpPr>
            <a:spLocks noGrp="1"/>
          </p:cNvSpPr>
          <p:nvPr>
            <p:ph type="title"/>
          </p:nvPr>
        </p:nvSpPr>
        <p:spPr>
          <a:xfrm>
            <a:off x="838200" y="365125"/>
            <a:ext cx="10515600" cy="1620991"/>
          </a:xfrm>
        </p:spPr>
        <p:txBody>
          <a:bodyPr/>
          <a:lstStyle/>
          <a:p>
            <a:endParaRPr lang="en-IN" dirty="0"/>
          </a:p>
        </p:txBody>
      </p:sp>
      <p:graphicFrame>
        <p:nvGraphicFramePr>
          <p:cNvPr id="4" name="Content Placeholder 3">
            <a:extLst>
              <a:ext uri="{FF2B5EF4-FFF2-40B4-BE49-F238E27FC236}">
                <a16:creationId xmlns:a16="http://schemas.microsoft.com/office/drawing/2014/main" id="{8D1ACB38-0066-FEE0-1AE2-62AD37EEBAE3}"/>
              </a:ext>
            </a:extLst>
          </p:cNvPr>
          <p:cNvGraphicFramePr>
            <a:graphicFrameLocks noGrp="1"/>
          </p:cNvGraphicFramePr>
          <p:nvPr>
            <p:ph idx="1"/>
          </p:nvPr>
        </p:nvGraphicFramePr>
        <p:xfrm>
          <a:off x="668595" y="2426109"/>
          <a:ext cx="4044130" cy="3099620"/>
        </p:xfrm>
        <a:graphic>
          <a:graphicData uri="http://schemas.openxmlformats.org/drawingml/2006/table">
            <a:tbl>
              <a:tblPr>
                <a:tableStyleId>{5C22544A-7EE6-4342-B048-85BDC9FD1C3A}</a:tableStyleId>
              </a:tblPr>
              <a:tblGrid>
                <a:gridCol w="1653600">
                  <a:extLst>
                    <a:ext uri="{9D8B030D-6E8A-4147-A177-3AD203B41FA5}">
                      <a16:colId xmlns:a16="http://schemas.microsoft.com/office/drawing/2014/main" val="179460061"/>
                    </a:ext>
                  </a:extLst>
                </a:gridCol>
                <a:gridCol w="2390530">
                  <a:extLst>
                    <a:ext uri="{9D8B030D-6E8A-4147-A177-3AD203B41FA5}">
                      <a16:colId xmlns:a16="http://schemas.microsoft.com/office/drawing/2014/main" val="2041168331"/>
                    </a:ext>
                  </a:extLst>
                </a:gridCol>
              </a:tblGrid>
              <a:tr h="1549810">
                <a:tc>
                  <a:txBody>
                    <a:bodyPr/>
                    <a:lstStyle/>
                    <a:p>
                      <a:pPr algn="l" fontAlgn="b"/>
                      <a:r>
                        <a:rPr lang="en-IN" sz="1800" u="none" strike="noStrike" dirty="0">
                          <a:effectLst/>
                        </a:rPr>
                        <a:t>skewness</a:t>
                      </a:r>
                      <a:endParaRPr lang="en-IN" sz="1800" b="0" i="0" u="none" strike="noStrike" dirty="0">
                        <a:solidFill>
                          <a:srgbClr val="000000"/>
                        </a:solidFill>
                        <a:effectLst/>
                        <a:latin typeface="Calibri" panose="020F0502020204030204" pitchFamily="34" charset="0"/>
                      </a:endParaRPr>
                    </a:p>
                  </a:txBody>
                  <a:tcPr marL="7620" marR="7620" marT="7620" marB="0" anchor="b"/>
                </a:tc>
                <a:tc>
                  <a:txBody>
                    <a:bodyPr/>
                    <a:lstStyle/>
                    <a:p>
                      <a:pPr algn="r" fontAlgn="b"/>
                      <a:r>
                        <a:rPr lang="en-IN" sz="1800" u="none" strike="noStrike" dirty="0">
                          <a:effectLst/>
                        </a:rPr>
                        <a:t>-0.809431287</a:t>
                      </a:r>
                      <a:endParaRPr lang="en-IN" sz="18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536310033"/>
                  </a:ext>
                </a:extLst>
              </a:tr>
              <a:tr h="1549810">
                <a:tc>
                  <a:txBody>
                    <a:bodyPr/>
                    <a:lstStyle/>
                    <a:p>
                      <a:pPr algn="l" fontAlgn="b"/>
                      <a:r>
                        <a:rPr lang="en-IN" sz="1800" u="none" strike="noStrike" dirty="0">
                          <a:effectLst/>
                        </a:rPr>
                        <a:t>Kurtosis</a:t>
                      </a:r>
                      <a:endParaRPr lang="en-IN" sz="1800" b="0" i="0" u="none" strike="noStrike" dirty="0">
                        <a:solidFill>
                          <a:srgbClr val="000000"/>
                        </a:solidFill>
                        <a:effectLst/>
                        <a:latin typeface="Calibri" panose="020F0502020204030204" pitchFamily="34" charset="0"/>
                      </a:endParaRPr>
                    </a:p>
                  </a:txBody>
                  <a:tcPr marL="7620" marR="7620" marT="7620" marB="0" anchor="b"/>
                </a:tc>
                <a:tc>
                  <a:txBody>
                    <a:bodyPr/>
                    <a:lstStyle/>
                    <a:p>
                      <a:pPr algn="r" fontAlgn="b"/>
                      <a:r>
                        <a:rPr lang="en-IN" sz="1800" u="none" strike="noStrike" dirty="0">
                          <a:effectLst/>
                        </a:rPr>
                        <a:t>-1.462285714</a:t>
                      </a:r>
                      <a:endParaRPr lang="en-IN" sz="18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416133175"/>
                  </a:ext>
                </a:extLst>
              </a:tr>
            </a:tbl>
          </a:graphicData>
        </a:graphic>
      </p:graphicFrame>
      <p:graphicFrame>
        <p:nvGraphicFramePr>
          <p:cNvPr id="6" name="Chart 5">
            <a:extLst>
              <a:ext uri="{FF2B5EF4-FFF2-40B4-BE49-F238E27FC236}">
                <a16:creationId xmlns:a16="http://schemas.microsoft.com/office/drawing/2014/main" id="{3C302D9C-9BDA-410A-1F61-8B51E942BCA1}"/>
              </a:ext>
            </a:extLst>
          </p:cNvPr>
          <p:cNvGraphicFramePr>
            <a:graphicFrameLocks/>
          </p:cNvGraphicFramePr>
          <p:nvPr/>
        </p:nvGraphicFramePr>
        <p:xfrm>
          <a:off x="6096000" y="1986116"/>
          <a:ext cx="5257800" cy="3650226"/>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6000119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F476F13-D9DA-1E44-2203-B2274422BDFC}"/>
              </a:ext>
            </a:extLst>
          </p:cNvPr>
          <p:cNvSpPr>
            <a:spLocks noGrp="1"/>
          </p:cNvSpPr>
          <p:nvPr>
            <p:ph type="title"/>
          </p:nvPr>
        </p:nvSpPr>
        <p:spPr>
          <a:xfrm>
            <a:off x="838200" y="365126"/>
            <a:ext cx="10515600" cy="315912"/>
          </a:xfrm>
        </p:spPr>
        <p:txBody>
          <a:bodyPr>
            <a:normAutofit fontScale="90000"/>
          </a:bodyPr>
          <a:lstStyle/>
          <a:p>
            <a:endParaRPr lang="en-IN" dirty="0"/>
          </a:p>
        </p:txBody>
      </p:sp>
      <p:sp>
        <p:nvSpPr>
          <p:cNvPr id="5" name="Content Placeholder 4">
            <a:extLst>
              <a:ext uri="{FF2B5EF4-FFF2-40B4-BE49-F238E27FC236}">
                <a16:creationId xmlns:a16="http://schemas.microsoft.com/office/drawing/2014/main" id="{D909B81C-73C7-7FD5-0839-A287CE860D52}"/>
              </a:ext>
            </a:extLst>
          </p:cNvPr>
          <p:cNvSpPr>
            <a:spLocks noGrp="1"/>
          </p:cNvSpPr>
          <p:nvPr>
            <p:ph sz="half" idx="1"/>
          </p:nvPr>
        </p:nvSpPr>
        <p:spPr>
          <a:xfrm>
            <a:off x="363794" y="1366684"/>
            <a:ext cx="5656006" cy="4810279"/>
          </a:xfrm>
        </p:spPr>
        <p:txBody>
          <a:bodyPr/>
          <a:lstStyle/>
          <a:p>
            <a:r>
              <a:rPr lang="en-US" dirty="0"/>
              <a:t>Inference:</a:t>
            </a:r>
          </a:p>
          <a:p>
            <a:r>
              <a:rPr lang="en-US" sz="2000" dirty="0"/>
              <a:t>People seem to correlate the level of trust they place in an influencer with their fame. Only well-known personalities are likely to be trusted widely. This suggests that micro-influencers or lesser-known influencers may struggle with building trust.</a:t>
            </a:r>
          </a:p>
          <a:p>
            <a:r>
              <a:rPr lang="en-US" sz="2000" dirty="0"/>
              <a:t>With a large number of respondents leaning toward "rarely trust" or "only trust very famous personalities," there is an opportunity for influencers, especially those not as famous, to work on building credibility through transparency, expertise, or by providing more authentic content.</a:t>
            </a:r>
            <a:endParaRPr lang="en-IN" sz="2000" dirty="0"/>
          </a:p>
        </p:txBody>
      </p:sp>
      <p:sp>
        <p:nvSpPr>
          <p:cNvPr id="6" name="Content Placeholder 5">
            <a:extLst>
              <a:ext uri="{FF2B5EF4-FFF2-40B4-BE49-F238E27FC236}">
                <a16:creationId xmlns:a16="http://schemas.microsoft.com/office/drawing/2014/main" id="{F5376A21-CC01-B4E5-78BA-413DB068B989}"/>
              </a:ext>
            </a:extLst>
          </p:cNvPr>
          <p:cNvSpPr>
            <a:spLocks noGrp="1"/>
          </p:cNvSpPr>
          <p:nvPr>
            <p:ph sz="half" idx="2"/>
          </p:nvPr>
        </p:nvSpPr>
        <p:spPr>
          <a:xfrm>
            <a:off x="6172200" y="1366684"/>
            <a:ext cx="5420032" cy="4810279"/>
          </a:xfrm>
        </p:spPr>
        <p:txBody>
          <a:bodyPr/>
          <a:lstStyle/>
          <a:p>
            <a:r>
              <a:rPr lang="en-US" dirty="0"/>
              <a:t>Recommendation:</a:t>
            </a:r>
          </a:p>
          <a:p>
            <a:r>
              <a:rPr lang="en-US" sz="2000" dirty="0"/>
              <a:t>Influencers</a:t>
            </a:r>
            <a:r>
              <a:rPr lang="en-US" sz="2000" b="1" dirty="0"/>
              <a:t> </a:t>
            </a:r>
            <a:r>
              <a:rPr lang="en-US" sz="2000" dirty="0"/>
              <a:t>should focus on being transparent about product placements, sponsorships, and endorsements. By sharing more personal stories, real-life examples, and offering genuine advice, they can increase trust among skeptical audiences.</a:t>
            </a:r>
          </a:p>
          <a:p>
            <a:r>
              <a:rPr lang="en-US" sz="2000" dirty="0"/>
              <a:t>For audiences that rarely or never trust influencers, brands and influencers should use data driven content and real customer testimonials to boost the perception of authenticity. Focus on delivering value rather than pure promotion to build trust over time.</a:t>
            </a:r>
          </a:p>
          <a:p>
            <a:pPr marL="0" indent="0">
              <a:buNone/>
            </a:pPr>
            <a:r>
              <a:rPr lang="en-IN" sz="2000" dirty="0"/>
              <a:t>  </a:t>
            </a:r>
          </a:p>
        </p:txBody>
      </p:sp>
    </p:spTree>
    <p:extLst>
      <p:ext uri="{BB962C8B-B14F-4D97-AF65-F5344CB8AC3E}">
        <p14:creationId xmlns:p14="http://schemas.microsoft.com/office/powerpoint/2010/main" val="3481329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BBE97-86D9-E842-6FB1-B9B263DE8C20}"/>
              </a:ext>
            </a:extLst>
          </p:cNvPr>
          <p:cNvSpPr>
            <a:spLocks noGrp="1"/>
          </p:cNvSpPr>
          <p:nvPr>
            <p:ph type="title"/>
          </p:nvPr>
        </p:nvSpPr>
        <p:spPr/>
        <p:txBody>
          <a:bodyPr/>
          <a:lstStyle/>
          <a:p>
            <a:r>
              <a:rPr lang="en-US" dirty="0"/>
              <a:t>2.How authentic do you find social media influencers?</a:t>
            </a:r>
            <a:endParaRPr lang="en-IN" dirty="0"/>
          </a:p>
        </p:txBody>
      </p:sp>
      <p:graphicFrame>
        <p:nvGraphicFramePr>
          <p:cNvPr id="4" name="Content Placeholder 3">
            <a:extLst>
              <a:ext uri="{FF2B5EF4-FFF2-40B4-BE49-F238E27FC236}">
                <a16:creationId xmlns:a16="http://schemas.microsoft.com/office/drawing/2014/main" id="{02EC5777-E227-F509-1E7B-36D327260A42}"/>
              </a:ext>
            </a:extLst>
          </p:cNvPr>
          <p:cNvGraphicFramePr>
            <a:graphicFrameLocks noGrp="1"/>
          </p:cNvGraphicFramePr>
          <p:nvPr>
            <p:ph idx="1"/>
          </p:nvPr>
        </p:nvGraphicFramePr>
        <p:xfrm>
          <a:off x="953728" y="2088918"/>
          <a:ext cx="4218040" cy="3594125"/>
        </p:xfrm>
        <a:graphic>
          <a:graphicData uri="http://schemas.openxmlformats.org/drawingml/2006/table">
            <a:tbl>
              <a:tblPr>
                <a:tableStyleId>{5C22544A-7EE6-4342-B048-85BDC9FD1C3A}</a:tableStyleId>
              </a:tblPr>
              <a:tblGrid>
                <a:gridCol w="1479243">
                  <a:extLst>
                    <a:ext uri="{9D8B030D-6E8A-4147-A177-3AD203B41FA5}">
                      <a16:colId xmlns:a16="http://schemas.microsoft.com/office/drawing/2014/main" val="3378407284"/>
                    </a:ext>
                  </a:extLst>
                </a:gridCol>
                <a:gridCol w="2035790">
                  <a:extLst>
                    <a:ext uri="{9D8B030D-6E8A-4147-A177-3AD203B41FA5}">
                      <a16:colId xmlns:a16="http://schemas.microsoft.com/office/drawing/2014/main" val="292124889"/>
                    </a:ext>
                  </a:extLst>
                </a:gridCol>
                <a:gridCol w="703007">
                  <a:extLst>
                    <a:ext uri="{9D8B030D-6E8A-4147-A177-3AD203B41FA5}">
                      <a16:colId xmlns:a16="http://schemas.microsoft.com/office/drawing/2014/main" val="345536559"/>
                    </a:ext>
                  </a:extLst>
                </a:gridCol>
              </a:tblGrid>
              <a:tr h="718825">
                <a:tc>
                  <a:txBody>
                    <a:bodyPr/>
                    <a:lstStyle/>
                    <a:p>
                      <a:pPr algn="ctr" fontAlgn="b"/>
                      <a:r>
                        <a:rPr lang="en-IN" sz="1400" u="none" strike="noStrike" dirty="0">
                          <a:effectLst/>
                        </a:rPr>
                        <a:t>Statement</a:t>
                      </a:r>
                      <a:endParaRPr lang="en-IN" sz="1400" b="1" i="0" u="none" strike="noStrike" dirty="0">
                        <a:solidFill>
                          <a:srgbClr val="FFFFFF"/>
                        </a:solidFill>
                        <a:effectLst/>
                        <a:latin typeface="Calibri" panose="020F0502020204030204" pitchFamily="34" charset="0"/>
                      </a:endParaRPr>
                    </a:p>
                  </a:txBody>
                  <a:tcPr marL="7620" marR="7620" marT="7620" marB="0" anchor="b"/>
                </a:tc>
                <a:tc>
                  <a:txBody>
                    <a:bodyPr/>
                    <a:lstStyle/>
                    <a:p>
                      <a:pPr algn="ctr" fontAlgn="b"/>
                      <a:r>
                        <a:rPr lang="en-IN" sz="1400" u="none" strike="noStrike">
                          <a:effectLst/>
                        </a:rPr>
                        <a:t>Code</a:t>
                      </a:r>
                      <a:endParaRPr lang="en-IN" sz="1400" b="1" i="0" u="none" strike="noStrike">
                        <a:solidFill>
                          <a:srgbClr val="FFFFFF"/>
                        </a:solidFill>
                        <a:effectLst/>
                        <a:latin typeface="Calibri" panose="020F0502020204030204" pitchFamily="34" charset="0"/>
                      </a:endParaRPr>
                    </a:p>
                  </a:txBody>
                  <a:tcPr marL="7620" marR="7620" marT="7620" marB="0" anchor="b"/>
                </a:tc>
                <a:tc>
                  <a:txBody>
                    <a:bodyPr/>
                    <a:lstStyle/>
                    <a:p>
                      <a:pPr algn="ctr" fontAlgn="b"/>
                      <a:r>
                        <a:rPr lang="en-IN" sz="1400" u="none" strike="noStrike">
                          <a:effectLst/>
                        </a:rPr>
                        <a:t>Numbers</a:t>
                      </a:r>
                      <a:endParaRPr lang="en-IN" sz="1400" b="1" i="0" u="none" strike="noStrike">
                        <a:solidFill>
                          <a:srgbClr val="FFFFFF"/>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097808897"/>
                  </a:ext>
                </a:extLst>
              </a:tr>
              <a:tr h="718825">
                <a:tc>
                  <a:txBody>
                    <a:bodyPr/>
                    <a:lstStyle/>
                    <a:p>
                      <a:pPr algn="ctr" fontAlgn="b"/>
                      <a:r>
                        <a:rPr lang="en-IN" sz="1400" u="none" strike="noStrike">
                          <a:effectLst/>
                        </a:rPr>
                        <a:t>Not authentic at all</a:t>
                      </a:r>
                      <a:endParaRPr lang="en-IN"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400" u="none" strike="noStrike" dirty="0">
                          <a:effectLst/>
                        </a:rPr>
                        <a:t>1</a:t>
                      </a:r>
                      <a:endParaRPr lang="en-IN" sz="14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IN" sz="1400" u="none" strike="noStrike">
                          <a:effectLst/>
                        </a:rPr>
                        <a:t>19</a:t>
                      </a:r>
                      <a:endParaRPr lang="en-IN" sz="14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252304780"/>
                  </a:ext>
                </a:extLst>
              </a:tr>
              <a:tr h="718825">
                <a:tc>
                  <a:txBody>
                    <a:bodyPr/>
                    <a:lstStyle/>
                    <a:p>
                      <a:pPr algn="ctr" fontAlgn="b"/>
                      <a:r>
                        <a:rPr lang="en-IN" sz="1400" u="none" strike="noStrike">
                          <a:effectLst/>
                        </a:rPr>
                        <a:t>Slighly authentic</a:t>
                      </a:r>
                      <a:endParaRPr lang="en-IN"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400" u="none" strike="noStrike" dirty="0">
                          <a:effectLst/>
                        </a:rPr>
                        <a:t>2</a:t>
                      </a:r>
                      <a:endParaRPr lang="en-IN" sz="14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IN" sz="1400" u="none" strike="noStrike">
                          <a:effectLst/>
                        </a:rPr>
                        <a:t>42</a:t>
                      </a:r>
                      <a:endParaRPr lang="en-IN" sz="14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35015972"/>
                  </a:ext>
                </a:extLst>
              </a:tr>
              <a:tr h="718825">
                <a:tc>
                  <a:txBody>
                    <a:bodyPr/>
                    <a:lstStyle/>
                    <a:p>
                      <a:pPr algn="ctr" fontAlgn="b"/>
                      <a:r>
                        <a:rPr lang="en-IN" sz="1400" u="none" strike="noStrike">
                          <a:effectLst/>
                        </a:rPr>
                        <a:t>Moderately authentic</a:t>
                      </a:r>
                      <a:endParaRPr lang="en-IN"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400" u="none" strike="noStrike" dirty="0">
                          <a:effectLst/>
                        </a:rPr>
                        <a:t>3</a:t>
                      </a:r>
                      <a:endParaRPr lang="en-IN" sz="14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IN" sz="1400" u="none" strike="noStrike" dirty="0">
                          <a:effectLst/>
                        </a:rPr>
                        <a:t>43</a:t>
                      </a:r>
                      <a:endParaRPr lang="en-IN" sz="14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058020015"/>
                  </a:ext>
                </a:extLst>
              </a:tr>
              <a:tr h="718825">
                <a:tc>
                  <a:txBody>
                    <a:bodyPr/>
                    <a:lstStyle/>
                    <a:p>
                      <a:pPr algn="ctr" fontAlgn="b"/>
                      <a:r>
                        <a:rPr lang="en-IN" sz="1400" u="none" strike="noStrike">
                          <a:effectLst/>
                        </a:rPr>
                        <a:t>Very authentic</a:t>
                      </a:r>
                      <a:endParaRPr lang="en-IN"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400" u="none" strike="noStrike">
                          <a:effectLst/>
                        </a:rPr>
                        <a:t>4</a:t>
                      </a:r>
                      <a:endParaRPr lang="en-IN"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400" u="none" strike="noStrike" dirty="0">
                          <a:effectLst/>
                        </a:rPr>
                        <a:t>8</a:t>
                      </a:r>
                      <a:endParaRPr lang="en-IN" sz="14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784914779"/>
                  </a:ext>
                </a:extLst>
              </a:tr>
            </a:tbl>
          </a:graphicData>
        </a:graphic>
      </p:graphicFrame>
      <p:pic>
        <p:nvPicPr>
          <p:cNvPr id="5" name="Picture 4" descr="Forms response chart. Question title: 2.How authentic do you find social media influencers?*&#10;. Number of responses: 112 responses.">
            <a:extLst>
              <a:ext uri="{FF2B5EF4-FFF2-40B4-BE49-F238E27FC236}">
                <a16:creationId xmlns:a16="http://schemas.microsoft.com/office/drawing/2014/main" id="{3B8987DA-5381-6B99-03C2-5A3072EA62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81368" y="2088918"/>
            <a:ext cx="6096000" cy="3594124"/>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960BB714-E782-777C-2C0A-F5DB66CFA095}"/>
              </a:ext>
            </a:extLst>
          </p:cNvPr>
          <p:cNvSpPr txBox="1"/>
          <p:nvPr/>
        </p:nvSpPr>
        <p:spPr>
          <a:xfrm>
            <a:off x="1091380" y="5989992"/>
            <a:ext cx="4001730" cy="369332"/>
          </a:xfrm>
          <a:prstGeom prst="rect">
            <a:avLst/>
          </a:prstGeom>
          <a:noFill/>
        </p:spPr>
        <p:txBody>
          <a:bodyPr wrap="square" rtlCol="0">
            <a:spAutoFit/>
          </a:bodyPr>
          <a:lstStyle/>
          <a:p>
            <a:pPr algn="ctr"/>
            <a:r>
              <a:rPr lang="en-US" dirty="0"/>
              <a:t>Mode = 3</a:t>
            </a:r>
            <a:endParaRPr lang="en-IN" dirty="0"/>
          </a:p>
        </p:txBody>
      </p:sp>
    </p:spTree>
    <p:extLst>
      <p:ext uri="{BB962C8B-B14F-4D97-AF65-F5344CB8AC3E}">
        <p14:creationId xmlns:p14="http://schemas.microsoft.com/office/powerpoint/2010/main" val="3623477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44A3E9-57D7-B39F-E7FD-CE7541A30E7B}"/>
              </a:ext>
            </a:extLst>
          </p:cNvPr>
          <p:cNvSpPr>
            <a:spLocks noGrp="1"/>
          </p:cNvSpPr>
          <p:nvPr>
            <p:ph type="title"/>
          </p:nvPr>
        </p:nvSpPr>
        <p:spPr/>
        <p:txBody>
          <a:bodyPr/>
          <a:lstStyle/>
          <a:p>
            <a:endParaRPr lang="en-IN"/>
          </a:p>
        </p:txBody>
      </p:sp>
      <p:graphicFrame>
        <p:nvGraphicFramePr>
          <p:cNvPr id="4" name="Content Placeholder 3">
            <a:extLst>
              <a:ext uri="{FF2B5EF4-FFF2-40B4-BE49-F238E27FC236}">
                <a16:creationId xmlns:a16="http://schemas.microsoft.com/office/drawing/2014/main" id="{9C3DB354-EC8F-2807-41ED-84022852FCAD}"/>
              </a:ext>
            </a:extLst>
          </p:cNvPr>
          <p:cNvGraphicFramePr>
            <a:graphicFrameLocks noGrp="1"/>
          </p:cNvGraphicFramePr>
          <p:nvPr>
            <p:ph idx="1"/>
          </p:nvPr>
        </p:nvGraphicFramePr>
        <p:xfrm>
          <a:off x="1278195" y="2416277"/>
          <a:ext cx="4336026" cy="3011130"/>
        </p:xfrm>
        <a:graphic>
          <a:graphicData uri="http://schemas.openxmlformats.org/drawingml/2006/table">
            <a:tbl>
              <a:tblPr>
                <a:tableStyleId>{5C22544A-7EE6-4342-B048-85BDC9FD1C3A}</a:tableStyleId>
              </a:tblPr>
              <a:tblGrid>
                <a:gridCol w="1824744">
                  <a:extLst>
                    <a:ext uri="{9D8B030D-6E8A-4147-A177-3AD203B41FA5}">
                      <a16:colId xmlns:a16="http://schemas.microsoft.com/office/drawing/2014/main" val="1523167906"/>
                    </a:ext>
                  </a:extLst>
                </a:gridCol>
                <a:gridCol w="2511282">
                  <a:extLst>
                    <a:ext uri="{9D8B030D-6E8A-4147-A177-3AD203B41FA5}">
                      <a16:colId xmlns:a16="http://schemas.microsoft.com/office/drawing/2014/main" val="1393491378"/>
                    </a:ext>
                  </a:extLst>
                </a:gridCol>
              </a:tblGrid>
              <a:tr h="1505565">
                <a:tc>
                  <a:txBody>
                    <a:bodyPr/>
                    <a:lstStyle/>
                    <a:p>
                      <a:pPr algn="ctr" fontAlgn="b"/>
                      <a:r>
                        <a:rPr lang="en-IN" sz="2400" u="none" strike="noStrike" dirty="0">
                          <a:effectLst/>
                        </a:rPr>
                        <a:t>Skewness</a:t>
                      </a:r>
                      <a:endParaRPr lang="en-IN" sz="2400" b="0" i="0" u="none" strike="noStrike" dirty="0">
                        <a:solidFill>
                          <a:srgbClr val="000000"/>
                        </a:solidFill>
                        <a:effectLst/>
                        <a:latin typeface="Calibri" panose="020F0502020204030204" pitchFamily="34" charset="0"/>
                      </a:endParaRPr>
                    </a:p>
                  </a:txBody>
                  <a:tcPr marL="7620" marR="7620" marT="7620" marB="0" anchor="b"/>
                </a:tc>
                <a:tc>
                  <a:txBody>
                    <a:bodyPr/>
                    <a:lstStyle/>
                    <a:p>
                      <a:pPr algn="r" fontAlgn="b"/>
                      <a:r>
                        <a:rPr lang="en-IN" sz="1800" u="none" strike="noStrike" dirty="0">
                          <a:effectLst/>
                        </a:rPr>
                        <a:t>-0.333750038</a:t>
                      </a:r>
                      <a:endParaRPr lang="en-IN" sz="18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95063822"/>
                  </a:ext>
                </a:extLst>
              </a:tr>
              <a:tr h="1505565">
                <a:tc>
                  <a:txBody>
                    <a:bodyPr/>
                    <a:lstStyle/>
                    <a:p>
                      <a:pPr algn="ctr" fontAlgn="b"/>
                      <a:r>
                        <a:rPr lang="en-IN" sz="2800" u="none" strike="noStrike" dirty="0">
                          <a:effectLst/>
                        </a:rPr>
                        <a:t>Kurtosis</a:t>
                      </a:r>
                      <a:endParaRPr lang="en-IN" sz="2800" b="0" i="0" u="none" strike="noStrike" dirty="0">
                        <a:solidFill>
                          <a:srgbClr val="000000"/>
                        </a:solidFill>
                        <a:effectLst/>
                        <a:latin typeface="Calibri" panose="020F0502020204030204" pitchFamily="34" charset="0"/>
                      </a:endParaRPr>
                    </a:p>
                  </a:txBody>
                  <a:tcPr marL="7620" marR="7620" marT="7620" marB="0" anchor="b"/>
                </a:tc>
                <a:tc>
                  <a:txBody>
                    <a:bodyPr/>
                    <a:lstStyle/>
                    <a:p>
                      <a:pPr algn="r" fontAlgn="b"/>
                      <a:r>
                        <a:rPr lang="en-IN" sz="1800" u="none" strike="noStrike" dirty="0">
                          <a:effectLst/>
                        </a:rPr>
                        <a:t>-4.075193829</a:t>
                      </a:r>
                      <a:endParaRPr lang="en-IN" sz="18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033474211"/>
                  </a:ext>
                </a:extLst>
              </a:tr>
            </a:tbl>
          </a:graphicData>
        </a:graphic>
      </p:graphicFrame>
      <p:graphicFrame>
        <p:nvGraphicFramePr>
          <p:cNvPr id="5" name="Chart 4">
            <a:extLst>
              <a:ext uri="{FF2B5EF4-FFF2-40B4-BE49-F238E27FC236}">
                <a16:creationId xmlns:a16="http://schemas.microsoft.com/office/drawing/2014/main" id="{6C80F8F8-CB8F-C155-3554-31F00FDEF832}"/>
              </a:ext>
            </a:extLst>
          </p:cNvPr>
          <p:cNvGraphicFramePr>
            <a:graphicFrameLocks/>
          </p:cNvGraphicFramePr>
          <p:nvPr/>
        </p:nvGraphicFramePr>
        <p:xfrm>
          <a:off x="6494207" y="2416277"/>
          <a:ext cx="4572000" cy="301113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3351876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D351CFF-BDC8-818C-7230-5C666D1A5B15}"/>
              </a:ext>
            </a:extLst>
          </p:cNvPr>
          <p:cNvSpPr>
            <a:spLocks noGrp="1"/>
          </p:cNvSpPr>
          <p:nvPr>
            <p:ph type="title"/>
          </p:nvPr>
        </p:nvSpPr>
        <p:spPr>
          <a:xfrm>
            <a:off x="838200" y="365126"/>
            <a:ext cx="10515600" cy="315912"/>
          </a:xfrm>
        </p:spPr>
        <p:txBody>
          <a:bodyPr>
            <a:normAutofit fontScale="90000"/>
          </a:bodyPr>
          <a:lstStyle/>
          <a:p>
            <a:endParaRPr lang="en-IN" dirty="0"/>
          </a:p>
        </p:txBody>
      </p:sp>
      <p:sp>
        <p:nvSpPr>
          <p:cNvPr id="5" name="Content Placeholder 4">
            <a:extLst>
              <a:ext uri="{FF2B5EF4-FFF2-40B4-BE49-F238E27FC236}">
                <a16:creationId xmlns:a16="http://schemas.microsoft.com/office/drawing/2014/main" id="{1791A938-C9E0-1595-037C-7D8E2E3E24BE}"/>
              </a:ext>
            </a:extLst>
          </p:cNvPr>
          <p:cNvSpPr>
            <a:spLocks noGrp="1"/>
          </p:cNvSpPr>
          <p:nvPr>
            <p:ph sz="half" idx="1"/>
          </p:nvPr>
        </p:nvSpPr>
        <p:spPr>
          <a:xfrm>
            <a:off x="511277" y="1347020"/>
            <a:ext cx="5584723" cy="5145854"/>
          </a:xfrm>
        </p:spPr>
        <p:txBody>
          <a:bodyPr/>
          <a:lstStyle/>
          <a:p>
            <a:r>
              <a:rPr lang="en-US" dirty="0"/>
              <a:t>Inference:</a:t>
            </a:r>
          </a:p>
          <a:p>
            <a:r>
              <a:rPr lang="en-US" sz="2000" dirty="0"/>
              <a:t>Influencers struggle with maintaining a high level of perceived authenticity. While many are viewed as </a:t>
            </a:r>
            <a:r>
              <a:rPr lang="en-US" sz="2000" b="1" dirty="0"/>
              <a:t>moderately authentic</a:t>
            </a:r>
            <a:r>
              <a:rPr lang="en-US" sz="2000" dirty="0"/>
              <a:t>, the large number of respondents rating them as only </a:t>
            </a:r>
            <a:r>
              <a:rPr lang="en-US" sz="2000" b="1" dirty="0"/>
              <a:t>slightly authentic</a:t>
            </a:r>
            <a:r>
              <a:rPr lang="en-US" sz="2000" dirty="0"/>
              <a:t> or </a:t>
            </a:r>
            <a:r>
              <a:rPr lang="en-US" sz="2000" b="1" dirty="0"/>
              <a:t>not authentic at all</a:t>
            </a:r>
            <a:r>
              <a:rPr lang="en-US" sz="2000" dirty="0"/>
              <a:t> suggests that audiences often doubt the genuineness of their endorsements or content.</a:t>
            </a:r>
          </a:p>
          <a:p>
            <a:r>
              <a:rPr lang="en-IN" sz="2000" dirty="0"/>
              <a:t>Since Moderately authentic option is the mode, it shows that audience necessarily dismiss influencers entirely but don’t place them at the highest level of trust either. They perceive influencers as somewhat trustworthy, but they are aware of the potential commercial or strategic motives behind their recommendations.</a:t>
            </a:r>
          </a:p>
        </p:txBody>
      </p:sp>
      <p:sp>
        <p:nvSpPr>
          <p:cNvPr id="6" name="Content Placeholder 5">
            <a:extLst>
              <a:ext uri="{FF2B5EF4-FFF2-40B4-BE49-F238E27FC236}">
                <a16:creationId xmlns:a16="http://schemas.microsoft.com/office/drawing/2014/main" id="{5D3DACE7-4165-3281-C753-46CEAE2D0DEC}"/>
              </a:ext>
            </a:extLst>
          </p:cNvPr>
          <p:cNvSpPr>
            <a:spLocks noGrp="1"/>
          </p:cNvSpPr>
          <p:nvPr>
            <p:ph sz="half" idx="2"/>
          </p:nvPr>
        </p:nvSpPr>
        <p:spPr>
          <a:xfrm>
            <a:off x="6172199" y="1347020"/>
            <a:ext cx="5584723" cy="5145854"/>
          </a:xfrm>
        </p:spPr>
        <p:txBody>
          <a:bodyPr/>
          <a:lstStyle/>
          <a:p>
            <a:r>
              <a:rPr lang="en-US" dirty="0"/>
              <a:t>Recommendation:</a:t>
            </a:r>
          </a:p>
          <a:p>
            <a:r>
              <a:rPr lang="en-US" sz="2000" b="1" dirty="0"/>
              <a:t>Influencers</a:t>
            </a:r>
            <a:r>
              <a:rPr lang="en-US" sz="2000" dirty="0"/>
              <a:t> should focus on being </a:t>
            </a:r>
            <a:r>
              <a:rPr lang="en-US" sz="2000" b="1" dirty="0"/>
              <a:t>transparent</a:t>
            </a:r>
            <a:r>
              <a:rPr lang="en-US" sz="2000" dirty="0"/>
              <a:t> about their partnerships and financial relationships. Clearly disclosing sponsorships, product placements, or paid collaborations can build trust and help audiences differentiate between genuine recommendations and commercial content.</a:t>
            </a:r>
          </a:p>
          <a:p>
            <a:r>
              <a:rPr lang="en-US" sz="2000" b="1" dirty="0"/>
              <a:t>Consistency</a:t>
            </a:r>
            <a:r>
              <a:rPr lang="en-US" sz="2000" dirty="0"/>
              <a:t> is key to building long-term authenticity. Influencers should consistently engage with their audience, provide value, and avoid promoting products that don’t align with their values or expertise, as inconsistent behavior can foster distrust</a:t>
            </a:r>
            <a:r>
              <a:rPr lang="en-US" sz="1400" dirty="0"/>
              <a:t>.</a:t>
            </a:r>
            <a:endParaRPr lang="en-IN" sz="2000" dirty="0"/>
          </a:p>
        </p:txBody>
      </p:sp>
    </p:spTree>
    <p:extLst>
      <p:ext uri="{BB962C8B-B14F-4D97-AF65-F5344CB8AC3E}">
        <p14:creationId xmlns:p14="http://schemas.microsoft.com/office/powerpoint/2010/main" val="42111053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7F5A9F5-CAD7-630A-8804-D4EE2094DC36}"/>
              </a:ext>
            </a:extLst>
          </p:cNvPr>
          <p:cNvSpPr>
            <a:spLocks noGrp="1"/>
          </p:cNvSpPr>
          <p:nvPr>
            <p:ph type="title"/>
          </p:nvPr>
        </p:nvSpPr>
        <p:spPr/>
        <p:txBody>
          <a:bodyPr/>
          <a:lstStyle/>
          <a:p>
            <a:r>
              <a:rPr lang="en-US" dirty="0"/>
              <a:t>3. How knowledgeable are social media influencers in their niche? </a:t>
            </a:r>
            <a:endParaRPr lang="en-IN" dirty="0"/>
          </a:p>
        </p:txBody>
      </p:sp>
      <p:graphicFrame>
        <p:nvGraphicFramePr>
          <p:cNvPr id="7" name="Content Placeholder 6">
            <a:extLst>
              <a:ext uri="{FF2B5EF4-FFF2-40B4-BE49-F238E27FC236}">
                <a16:creationId xmlns:a16="http://schemas.microsoft.com/office/drawing/2014/main" id="{ECAB5125-CF93-5F16-97FF-980C84C63EB0}"/>
              </a:ext>
            </a:extLst>
          </p:cNvPr>
          <p:cNvGraphicFramePr>
            <a:graphicFrameLocks noGrp="1"/>
          </p:cNvGraphicFramePr>
          <p:nvPr>
            <p:ph idx="1"/>
          </p:nvPr>
        </p:nvGraphicFramePr>
        <p:xfrm>
          <a:off x="838200" y="2514599"/>
          <a:ext cx="4412225" cy="3620730"/>
        </p:xfrm>
        <a:graphic>
          <a:graphicData uri="http://schemas.openxmlformats.org/drawingml/2006/table">
            <a:tbl>
              <a:tblPr>
                <a:tableStyleId>{5C22544A-7EE6-4342-B048-85BDC9FD1C3A}</a:tableStyleId>
              </a:tblPr>
              <a:tblGrid>
                <a:gridCol w="1855472">
                  <a:extLst>
                    <a:ext uri="{9D8B030D-6E8A-4147-A177-3AD203B41FA5}">
                      <a16:colId xmlns:a16="http://schemas.microsoft.com/office/drawing/2014/main" val="271474054"/>
                    </a:ext>
                  </a:extLst>
                </a:gridCol>
                <a:gridCol w="1855472">
                  <a:extLst>
                    <a:ext uri="{9D8B030D-6E8A-4147-A177-3AD203B41FA5}">
                      <a16:colId xmlns:a16="http://schemas.microsoft.com/office/drawing/2014/main" val="471018966"/>
                    </a:ext>
                  </a:extLst>
                </a:gridCol>
                <a:gridCol w="701281">
                  <a:extLst>
                    <a:ext uri="{9D8B030D-6E8A-4147-A177-3AD203B41FA5}">
                      <a16:colId xmlns:a16="http://schemas.microsoft.com/office/drawing/2014/main" val="1909016823"/>
                    </a:ext>
                  </a:extLst>
                </a:gridCol>
              </a:tblGrid>
              <a:tr h="724146">
                <a:tc>
                  <a:txBody>
                    <a:bodyPr/>
                    <a:lstStyle/>
                    <a:p>
                      <a:pPr algn="ctr" fontAlgn="b"/>
                      <a:r>
                        <a:rPr lang="en-IN" sz="1400" u="none" strike="noStrike" dirty="0">
                          <a:effectLst/>
                        </a:rPr>
                        <a:t>Statement</a:t>
                      </a:r>
                      <a:endParaRPr lang="en-IN" sz="1400" b="1" i="0" u="none" strike="noStrike" dirty="0">
                        <a:solidFill>
                          <a:srgbClr val="FFFFFF"/>
                        </a:solidFill>
                        <a:effectLst/>
                        <a:latin typeface="Calibri" panose="020F0502020204030204" pitchFamily="34" charset="0"/>
                      </a:endParaRPr>
                    </a:p>
                  </a:txBody>
                  <a:tcPr marL="7620" marR="7620" marT="7620" marB="0" anchor="b"/>
                </a:tc>
                <a:tc>
                  <a:txBody>
                    <a:bodyPr/>
                    <a:lstStyle/>
                    <a:p>
                      <a:pPr algn="ctr" fontAlgn="b"/>
                      <a:r>
                        <a:rPr lang="en-IN" sz="1400" u="none" strike="noStrike">
                          <a:effectLst/>
                        </a:rPr>
                        <a:t>Code</a:t>
                      </a:r>
                      <a:endParaRPr lang="en-IN" sz="1400" b="1" i="0" u="none" strike="noStrike">
                        <a:solidFill>
                          <a:srgbClr val="FFFFFF"/>
                        </a:solidFill>
                        <a:effectLst/>
                        <a:latin typeface="Calibri" panose="020F0502020204030204" pitchFamily="34" charset="0"/>
                      </a:endParaRPr>
                    </a:p>
                  </a:txBody>
                  <a:tcPr marL="7620" marR="7620" marT="7620" marB="0" anchor="b"/>
                </a:tc>
                <a:tc>
                  <a:txBody>
                    <a:bodyPr/>
                    <a:lstStyle/>
                    <a:p>
                      <a:pPr algn="ctr" fontAlgn="b"/>
                      <a:r>
                        <a:rPr lang="en-IN" sz="1400" u="none" strike="noStrike">
                          <a:effectLst/>
                        </a:rPr>
                        <a:t>Numbers</a:t>
                      </a:r>
                      <a:endParaRPr lang="en-IN" sz="1400" b="1" i="0" u="none" strike="noStrike">
                        <a:solidFill>
                          <a:srgbClr val="FFFFFF"/>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015525131"/>
                  </a:ext>
                </a:extLst>
              </a:tr>
              <a:tr h="724146">
                <a:tc>
                  <a:txBody>
                    <a:bodyPr/>
                    <a:lstStyle/>
                    <a:p>
                      <a:pPr algn="ctr" fontAlgn="b"/>
                      <a:r>
                        <a:rPr lang="en-IN" sz="1400" u="none" strike="noStrike">
                          <a:effectLst/>
                        </a:rPr>
                        <a:t>Very Knowledgeable</a:t>
                      </a:r>
                      <a:endParaRPr lang="en-IN"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400" u="none" strike="noStrike" dirty="0">
                          <a:effectLst/>
                        </a:rPr>
                        <a:t>1</a:t>
                      </a:r>
                      <a:endParaRPr lang="en-IN" sz="14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IN" sz="1400" u="none" strike="noStrike" dirty="0">
                          <a:effectLst/>
                        </a:rPr>
                        <a:t>22</a:t>
                      </a:r>
                      <a:endParaRPr lang="en-IN" sz="14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739394683"/>
                  </a:ext>
                </a:extLst>
              </a:tr>
              <a:tr h="724146">
                <a:tc>
                  <a:txBody>
                    <a:bodyPr/>
                    <a:lstStyle/>
                    <a:p>
                      <a:pPr algn="ctr" fontAlgn="b"/>
                      <a:r>
                        <a:rPr lang="en-IN" sz="1400" u="none" strike="noStrike">
                          <a:effectLst/>
                        </a:rPr>
                        <a:t>Moderately Knowledgeable</a:t>
                      </a:r>
                      <a:endParaRPr lang="en-IN"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400" u="none" strike="noStrike">
                          <a:effectLst/>
                        </a:rPr>
                        <a:t>2</a:t>
                      </a:r>
                      <a:endParaRPr lang="en-IN"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400" u="none" strike="noStrike" dirty="0">
                          <a:effectLst/>
                        </a:rPr>
                        <a:t>47</a:t>
                      </a:r>
                      <a:endParaRPr lang="en-IN" sz="14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288403424"/>
                  </a:ext>
                </a:extLst>
              </a:tr>
              <a:tr h="724146">
                <a:tc>
                  <a:txBody>
                    <a:bodyPr/>
                    <a:lstStyle/>
                    <a:p>
                      <a:pPr algn="ctr" fontAlgn="b"/>
                      <a:r>
                        <a:rPr lang="en-IN" sz="1400" u="none" strike="noStrike">
                          <a:effectLst/>
                        </a:rPr>
                        <a:t>Slightly Knowledgeable</a:t>
                      </a:r>
                      <a:endParaRPr lang="en-IN"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400" u="none" strike="noStrike">
                          <a:effectLst/>
                        </a:rPr>
                        <a:t>3</a:t>
                      </a:r>
                      <a:endParaRPr lang="en-IN"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400" u="none" strike="noStrike" dirty="0">
                          <a:effectLst/>
                        </a:rPr>
                        <a:t>33</a:t>
                      </a:r>
                      <a:endParaRPr lang="en-IN" sz="14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096457035"/>
                  </a:ext>
                </a:extLst>
              </a:tr>
              <a:tr h="724146">
                <a:tc>
                  <a:txBody>
                    <a:bodyPr/>
                    <a:lstStyle/>
                    <a:p>
                      <a:pPr algn="ctr" fontAlgn="b"/>
                      <a:r>
                        <a:rPr lang="en-IN" sz="1400" u="none" strike="noStrike">
                          <a:effectLst/>
                        </a:rPr>
                        <a:t>Not Knowledgeable</a:t>
                      </a:r>
                      <a:endParaRPr lang="en-IN"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400" u="none" strike="noStrike">
                          <a:effectLst/>
                        </a:rPr>
                        <a:t>4</a:t>
                      </a:r>
                      <a:endParaRPr lang="en-IN"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400" u="none" strike="noStrike" dirty="0">
                          <a:effectLst/>
                        </a:rPr>
                        <a:t>10</a:t>
                      </a:r>
                      <a:endParaRPr lang="en-IN" sz="14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732039468"/>
                  </a:ext>
                </a:extLst>
              </a:tr>
            </a:tbl>
          </a:graphicData>
        </a:graphic>
      </p:graphicFrame>
      <p:pic>
        <p:nvPicPr>
          <p:cNvPr id="8" name="Picture 7" descr="Forms response chart. Question title: 3.How knowledgeable are social media influencers in their niche?&#10;. Number of responses: 112 responses.">
            <a:extLst>
              <a:ext uri="{FF2B5EF4-FFF2-40B4-BE49-F238E27FC236}">
                <a16:creationId xmlns:a16="http://schemas.microsoft.com/office/drawing/2014/main" id="{4EBE62AE-B41D-7497-17BC-B4192D1CC1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20080" y="2514597"/>
            <a:ext cx="5994400" cy="36207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44958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3449E39-3394-90B4-760B-5D4F306B357B}"/>
              </a:ext>
            </a:extLst>
          </p:cNvPr>
          <p:cNvSpPr>
            <a:spLocks noGrp="1"/>
          </p:cNvSpPr>
          <p:nvPr>
            <p:ph type="title"/>
          </p:nvPr>
        </p:nvSpPr>
        <p:spPr/>
        <p:txBody>
          <a:bodyPr/>
          <a:lstStyle/>
          <a:p>
            <a:endParaRPr lang="en-IN"/>
          </a:p>
        </p:txBody>
      </p:sp>
      <p:graphicFrame>
        <p:nvGraphicFramePr>
          <p:cNvPr id="7" name="Content Placeholder 6">
            <a:extLst>
              <a:ext uri="{FF2B5EF4-FFF2-40B4-BE49-F238E27FC236}">
                <a16:creationId xmlns:a16="http://schemas.microsoft.com/office/drawing/2014/main" id="{47D2A28E-477D-6C09-DA10-754CBF9F7189}"/>
              </a:ext>
            </a:extLst>
          </p:cNvPr>
          <p:cNvGraphicFramePr>
            <a:graphicFrameLocks noGrp="1"/>
          </p:cNvGraphicFramePr>
          <p:nvPr>
            <p:ph idx="1"/>
          </p:nvPr>
        </p:nvGraphicFramePr>
        <p:xfrm>
          <a:off x="838200" y="2113280"/>
          <a:ext cx="4394200" cy="3738880"/>
        </p:xfrm>
        <a:graphic>
          <a:graphicData uri="http://schemas.openxmlformats.org/drawingml/2006/table">
            <a:tbl>
              <a:tblPr>
                <a:tableStyleId>{5C22544A-7EE6-4342-B048-85BDC9FD1C3A}</a:tableStyleId>
              </a:tblPr>
              <a:tblGrid>
                <a:gridCol w="2252460">
                  <a:extLst>
                    <a:ext uri="{9D8B030D-6E8A-4147-A177-3AD203B41FA5}">
                      <a16:colId xmlns:a16="http://schemas.microsoft.com/office/drawing/2014/main" val="3591690972"/>
                    </a:ext>
                  </a:extLst>
                </a:gridCol>
                <a:gridCol w="2141740">
                  <a:extLst>
                    <a:ext uri="{9D8B030D-6E8A-4147-A177-3AD203B41FA5}">
                      <a16:colId xmlns:a16="http://schemas.microsoft.com/office/drawing/2014/main" val="2318381865"/>
                    </a:ext>
                  </a:extLst>
                </a:gridCol>
              </a:tblGrid>
              <a:tr h="1869440">
                <a:tc>
                  <a:txBody>
                    <a:bodyPr/>
                    <a:lstStyle/>
                    <a:p>
                      <a:pPr algn="ctr" fontAlgn="b"/>
                      <a:r>
                        <a:rPr lang="en-IN" sz="2000" u="none" strike="noStrike" dirty="0">
                          <a:effectLst/>
                        </a:rPr>
                        <a:t>skewness</a:t>
                      </a:r>
                      <a:endParaRPr lang="en-IN" sz="20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IN" sz="2000" u="none" strike="noStrike">
                          <a:effectLst/>
                        </a:rPr>
                        <a:t>0.15913226</a:t>
                      </a:r>
                      <a:endParaRPr lang="en-IN" sz="20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871054291"/>
                  </a:ext>
                </a:extLst>
              </a:tr>
              <a:tr h="1869440">
                <a:tc>
                  <a:txBody>
                    <a:bodyPr/>
                    <a:lstStyle/>
                    <a:p>
                      <a:pPr algn="ctr" fontAlgn="b"/>
                      <a:r>
                        <a:rPr lang="en-IN" sz="2000" u="none" strike="noStrike">
                          <a:effectLst/>
                        </a:rPr>
                        <a:t>kurtosis</a:t>
                      </a:r>
                      <a:endParaRPr lang="en-IN" sz="20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2000" u="none" strike="noStrike" dirty="0">
                          <a:effectLst/>
                        </a:rPr>
                        <a:t>-0.712335315</a:t>
                      </a:r>
                      <a:endParaRPr lang="en-IN" sz="20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206388694"/>
                  </a:ext>
                </a:extLst>
              </a:tr>
            </a:tbl>
          </a:graphicData>
        </a:graphic>
      </p:graphicFrame>
      <p:graphicFrame>
        <p:nvGraphicFramePr>
          <p:cNvPr id="8" name="Chart 7">
            <a:extLst>
              <a:ext uri="{FF2B5EF4-FFF2-40B4-BE49-F238E27FC236}">
                <a16:creationId xmlns:a16="http://schemas.microsoft.com/office/drawing/2014/main" id="{5B38C0F1-FC54-EF7B-9598-45F57938F7F6}"/>
              </a:ext>
            </a:extLst>
          </p:cNvPr>
          <p:cNvGraphicFramePr>
            <a:graphicFrameLocks/>
          </p:cNvGraphicFramePr>
          <p:nvPr/>
        </p:nvGraphicFramePr>
        <p:xfrm>
          <a:off x="6096000" y="2113280"/>
          <a:ext cx="5257800" cy="373888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5973520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B35F86-C0D3-925B-5C10-E7DE8412D2C2}"/>
              </a:ext>
            </a:extLst>
          </p:cNvPr>
          <p:cNvSpPr>
            <a:spLocks noGrp="1"/>
          </p:cNvSpPr>
          <p:nvPr>
            <p:ph type="title"/>
          </p:nvPr>
        </p:nvSpPr>
        <p:spPr>
          <a:xfrm>
            <a:off x="838200" y="365125"/>
            <a:ext cx="10515600" cy="274955"/>
          </a:xfrm>
        </p:spPr>
        <p:txBody>
          <a:bodyPr>
            <a:normAutofit fontScale="90000"/>
          </a:bodyPr>
          <a:lstStyle/>
          <a:p>
            <a:endParaRPr lang="en-IN" dirty="0"/>
          </a:p>
        </p:txBody>
      </p:sp>
      <p:sp>
        <p:nvSpPr>
          <p:cNvPr id="3" name="Content Placeholder 2">
            <a:extLst>
              <a:ext uri="{FF2B5EF4-FFF2-40B4-BE49-F238E27FC236}">
                <a16:creationId xmlns:a16="http://schemas.microsoft.com/office/drawing/2014/main" id="{B29E7873-1BD4-3276-BD20-3025BAD2D403}"/>
              </a:ext>
            </a:extLst>
          </p:cNvPr>
          <p:cNvSpPr>
            <a:spLocks noGrp="1"/>
          </p:cNvSpPr>
          <p:nvPr>
            <p:ph sz="half" idx="1"/>
          </p:nvPr>
        </p:nvSpPr>
        <p:spPr>
          <a:xfrm>
            <a:off x="426720" y="995680"/>
            <a:ext cx="5593080" cy="5577839"/>
          </a:xfrm>
        </p:spPr>
        <p:txBody>
          <a:bodyPr/>
          <a:lstStyle/>
          <a:p>
            <a:r>
              <a:rPr lang="en-US" dirty="0"/>
              <a:t>Inference:</a:t>
            </a:r>
          </a:p>
          <a:p>
            <a:r>
              <a:rPr lang="en-US" sz="2000" dirty="0"/>
              <a:t>Since the majority of respondents see influencers as </a:t>
            </a:r>
            <a:r>
              <a:rPr lang="en-US" sz="2000" b="1" dirty="0"/>
              <a:t>moderately knowledgeable</a:t>
            </a:r>
            <a:r>
              <a:rPr lang="en-US" sz="2000" dirty="0"/>
              <a:t>, this implies that influencers are perceived to have a broad understanding of their niche but may not dive deeply into specialized knowledge. Audiences might appreciate influencers for their general insights but may not turn to them for in-depth expertise.</a:t>
            </a:r>
          </a:p>
          <a:p>
            <a:r>
              <a:rPr lang="en-US" sz="2000" dirty="0"/>
              <a:t>The fact that a large number of respondents rated influencers are slightly knowledgeable indicates that influencers may not always be seen as reliable sources of expert knowledge. This could be due to the perception that influencers prioritize engaging content over deep research and expertise</a:t>
            </a:r>
            <a:endParaRPr lang="en-IN" sz="2000" dirty="0"/>
          </a:p>
        </p:txBody>
      </p:sp>
      <p:sp>
        <p:nvSpPr>
          <p:cNvPr id="4" name="Content Placeholder 3">
            <a:extLst>
              <a:ext uri="{FF2B5EF4-FFF2-40B4-BE49-F238E27FC236}">
                <a16:creationId xmlns:a16="http://schemas.microsoft.com/office/drawing/2014/main" id="{9FC0FB96-72D0-080C-4BBC-65EA62F5CA93}"/>
              </a:ext>
            </a:extLst>
          </p:cNvPr>
          <p:cNvSpPr>
            <a:spLocks noGrp="1"/>
          </p:cNvSpPr>
          <p:nvPr>
            <p:ph sz="half" idx="2"/>
          </p:nvPr>
        </p:nvSpPr>
        <p:spPr>
          <a:xfrm>
            <a:off x="6172200" y="995680"/>
            <a:ext cx="5593080" cy="5577839"/>
          </a:xfrm>
        </p:spPr>
        <p:txBody>
          <a:bodyPr/>
          <a:lstStyle/>
          <a:p>
            <a:r>
              <a:rPr lang="en-US" dirty="0"/>
              <a:t>Recommendation:</a:t>
            </a:r>
          </a:p>
          <a:p>
            <a:r>
              <a:rPr lang="en-US" sz="1800" dirty="0"/>
              <a:t>Influencers can </a:t>
            </a:r>
            <a:r>
              <a:rPr lang="en-US" sz="1800" b="1" dirty="0"/>
              <a:t>collaborate with experts</a:t>
            </a:r>
            <a:r>
              <a:rPr lang="en-US" sz="1800" dirty="0"/>
              <a:t> in their niche to bolster their credibility. For example, partnering with professionals, researchers, or industry leaders can add depth to their content, making them more trustworthy as knowledgeable figures.</a:t>
            </a:r>
          </a:p>
          <a:p>
            <a:r>
              <a:rPr lang="en-US" sz="1800" dirty="0"/>
              <a:t>Influencers should clarify when their content is </a:t>
            </a:r>
            <a:r>
              <a:rPr lang="en-US" sz="1800" b="1" dirty="0"/>
              <a:t>entertainment-focused</a:t>
            </a:r>
            <a:r>
              <a:rPr lang="en-US" sz="1800" dirty="0"/>
              <a:t> versus when it is </a:t>
            </a:r>
            <a:r>
              <a:rPr lang="en-US" sz="1800" b="1" dirty="0"/>
              <a:t>knowledge-based</a:t>
            </a:r>
            <a:r>
              <a:rPr lang="en-US" sz="1800" dirty="0"/>
              <a:t>. This differentiation will allow them to manage audience expectations. Influencers who focus solely on entertainment may not be expected to deliver deep insights, while those aiming to be industry experts should emphasize content depth.</a:t>
            </a:r>
          </a:p>
          <a:p>
            <a:r>
              <a:rPr lang="en-US" sz="1800" dirty="0"/>
              <a:t>Instead of trying to cover a wide array of topics, influencers should consider focusing on a specific </a:t>
            </a:r>
            <a:r>
              <a:rPr lang="en-US" sz="1800" b="1" dirty="0"/>
              <a:t>niche</a:t>
            </a:r>
            <a:r>
              <a:rPr lang="en-US" sz="1800" dirty="0"/>
              <a:t> within their industry. Becoming an authority in a </a:t>
            </a:r>
            <a:r>
              <a:rPr lang="en-US" sz="1800" b="1" dirty="0"/>
              <a:t>specialized area</a:t>
            </a:r>
            <a:r>
              <a:rPr lang="en-US" sz="1800" dirty="0"/>
              <a:t> can boost their credibility as knowledgeable figures, as the audience may perceive them as more focused and in-depth in their content.</a:t>
            </a:r>
            <a:endParaRPr lang="en-IN" sz="1800" dirty="0"/>
          </a:p>
        </p:txBody>
      </p:sp>
    </p:spTree>
    <p:extLst>
      <p:ext uri="{BB962C8B-B14F-4D97-AF65-F5344CB8AC3E}">
        <p14:creationId xmlns:p14="http://schemas.microsoft.com/office/powerpoint/2010/main" val="10674742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BF98945-A991-084A-D59D-161B135AE3E6}"/>
              </a:ext>
            </a:extLst>
          </p:cNvPr>
          <p:cNvPicPr>
            <a:picLocks noChangeAspect="1"/>
          </p:cNvPicPr>
          <p:nvPr/>
        </p:nvPicPr>
        <p:blipFill>
          <a:blip r:embed="rId2"/>
          <a:stretch>
            <a:fillRect/>
          </a:stretch>
        </p:blipFill>
        <p:spPr>
          <a:xfrm>
            <a:off x="0" y="863385"/>
            <a:ext cx="12192000" cy="5131229"/>
          </a:xfrm>
          <a:prstGeom prst="rect">
            <a:avLst/>
          </a:prstGeom>
        </p:spPr>
      </p:pic>
    </p:spTree>
    <p:extLst>
      <p:ext uri="{BB962C8B-B14F-4D97-AF65-F5344CB8AC3E}">
        <p14:creationId xmlns:p14="http://schemas.microsoft.com/office/powerpoint/2010/main" val="41371562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956225-B411-7871-28FB-3E67716F43A5}"/>
              </a:ext>
            </a:extLst>
          </p:cNvPr>
          <p:cNvSpPr>
            <a:spLocks noGrp="1"/>
          </p:cNvSpPr>
          <p:nvPr>
            <p:ph type="title"/>
          </p:nvPr>
        </p:nvSpPr>
        <p:spPr/>
        <p:txBody>
          <a:bodyPr>
            <a:normAutofit fontScale="90000"/>
          </a:bodyPr>
          <a:lstStyle/>
          <a:p>
            <a:r>
              <a:rPr lang="en-IN" dirty="0"/>
              <a:t>skewness	-0.51771073</a:t>
            </a:r>
            <a:br>
              <a:rPr lang="en-IN" dirty="0"/>
            </a:br>
            <a:r>
              <a:rPr lang="en-IN" dirty="0"/>
              <a:t>kurtosis	-0.888527296</a:t>
            </a:r>
            <a:br>
              <a:rPr lang="en-IN" dirty="0"/>
            </a:br>
            <a:endParaRPr lang="en-IN" dirty="0"/>
          </a:p>
        </p:txBody>
      </p:sp>
      <p:pic>
        <p:nvPicPr>
          <p:cNvPr id="4" name="Picture 3">
            <a:extLst>
              <a:ext uri="{FF2B5EF4-FFF2-40B4-BE49-F238E27FC236}">
                <a16:creationId xmlns:a16="http://schemas.microsoft.com/office/drawing/2014/main" id="{0327D6FC-6FF7-E025-E3D4-7CBF2868EFD3}"/>
              </a:ext>
            </a:extLst>
          </p:cNvPr>
          <p:cNvPicPr>
            <a:picLocks noChangeAspect="1"/>
          </p:cNvPicPr>
          <p:nvPr/>
        </p:nvPicPr>
        <p:blipFill>
          <a:blip r:embed="rId2"/>
          <a:stretch>
            <a:fillRect/>
          </a:stretch>
        </p:blipFill>
        <p:spPr>
          <a:xfrm>
            <a:off x="1110915" y="2051184"/>
            <a:ext cx="9547404" cy="4806816"/>
          </a:xfrm>
          <a:prstGeom prst="rect">
            <a:avLst/>
          </a:prstGeom>
        </p:spPr>
      </p:pic>
    </p:spTree>
    <p:extLst>
      <p:ext uri="{BB962C8B-B14F-4D97-AF65-F5344CB8AC3E}">
        <p14:creationId xmlns:p14="http://schemas.microsoft.com/office/powerpoint/2010/main" val="15577889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86146-5FDE-ADF3-B495-649A2C00F55C}"/>
              </a:ext>
            </a:extLst>
          </p:cNvPr>
          <p:cNvSpPr>
            <a:spLocks noGrp="1"/>
          </p:cNvSpPr>
          <p:nvPr>
            <p:ph type="title"/>
          </p:nvPr>
        </p:nvSpPr>
        <p:spPr>
          <a:xfrm>
            <a:off x="1014662" y="2467309"/>
            <a:ext cx="10515600" cy="1325563"/>
          </a:xfrm>
        </p:spPr>
        <p:txBody>
          <a:bodyPr>
            <a:normAutofit fontScale="90000"/>
          </a:bodyPr>
          <a:lstStyle/>
          <a:p>
            <a:r>
              <a:rPr lang="en-IN" dirty="0"/>
              <a:t>Inference </a:t>
            </a:r>
            <a:r>
              <a:rPr lang="en-US" dirty="0"/>
              <a:t>A significant portion of respondents (40%) report a moderate impact of social media influencers on their fashion choices.</a:t>
            </a:r>
            <a:br>
              <a:rPr lang="en-IN" dirty="0"/>
            </a:br>
            <a:r>
              <a:rPr lang="en-IN" dirty="0"/>
              <a:t>Insight: </a:t>
            </a:r>
            <a:r>
              <a:rPr lang="en-US" dirty="0"/>
              <a:t>there is a notable proportion of people who either experience significant influence or none at all.</a:t>
            </a:r>
            <a:br>
              <a:rPr lang="en-IN" dirty="0"/>
            </a:br>
            <a:r>
              <a:rPr lang="en-IN" dirty="0"/>
              <a:t>Recommendation: </a:t>
            </a:r>
            <a:r>
              <a:rPr lang="en-US" dirty="0"/>
              <a:t>They should consider whether these trends genuinely suit their style and needs, rather than following them blindly.</a:t>
            </a:r>
            <a:endParaRPr lang="en-IN" dirty="0"/>
          </a:p>
        </p:txBody>
      </p:sp>
    </p:spTree>
    <p:extLst>
      <p:ext uri="{BB962C8B-B14F-4D97-AF65-F5344CB8AC3E}">
        <p14:creationId xmlns:p14="http://schemas.microsoft.com/office/powerpoint/2010/main" val="39172946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60D819-AE76-0844-F68C-4AA5A04F76E6}"/>
              </a:ext>
            </a:extLst>
          </p:cNvPr>
          <p:cNvSpPr>
            <a:spLocks noGrp="1"/>
          </p:cNvSpPr>
          <p:nvPr>
            <p:ph type="title"/>
          </p:nvPr>
        </p:nvSpPr>
        <p:spPr/>
        <p:txBody>
          <a:bodyPr>
            <a:normAutofit fontScale="90000"/>
          </a:bodyPr>
          <a:lstStyle/>
          <a:p>
            <a:r>
              <a:rPr lang="en-US" dirty="0"/>
              <a:t>8.How much do social media influencers impact your fashion choices?</a:t>
            </a:r>
            <a:br>
              <a:rPr lang="en-US" dirty="0"/>
            </a:br>
            <a:endParaRPr lang="en-IN" dirty="0"/>
          </a:p>
        </p:txBody>
      </p:sp>
      <p:graphicFrame>
        <p:nvGraphicFramePr>
          <p:cNvPr id="4" name="Table 3">
            <a:extLst>
              <a:ext uri="{FF2B5EF4-FFF2-40B4-BE49-F238E27FC236}">
                <a16:creationId xmlns:a16="http://schemas.microsoft.com/office/drawing/2014/main" id="{0A526152-C476-07A7-57E3-7FF426BB3AEA}"/>
              </a:ext>
            </a:extLst>
          </p:cNvPr>
          <p:cNvGraphicFramePr>
            <a:graphicFrameLocks noGrp="1"/>
          </p:cNvGraphicFramePr>
          <p:nvPr>
            <p:extLst>
              <p:ext uri="{D42A27DB-BD31-4B8C-83A1-F6EECF244321}">
                <p14:modId xmlns:p14="http://schemas.microsoft.com/office/powerpoint/2010/main" val="1335492141"/>
              </p:ext>
            </p:extLst>
          </p:nvPr>
        </p:nvGraphicFramePr>
        <p:xfrm>
          <a:off x="2032000" y="1537813"/>
          <a:ext cx="8127999" cy="320040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2225113916"/>
                    </a:ext>
                  </a:extLst>
                </a:gridCol>
                <a:gridCol w="2709333">
                  <a:extLst>
                    <a:ext uri="{9D8B030D-6E8A-4147-A177-3AD203B41FA5}">
                      <a16:colId xmlns:a16="http://schemas.microsoft.com/office/drawing/2014/main" val="2749216145"/>
                    </a:ext>
                  </a:extLst>
                </a:gridCol>
                <a:gridCol w="2709333">
                  <a:extLst>
                    <a:ext uri="{9D8B030D-6E8A-4147-A177-3AD203B41FA5}">
                      <a16:colId xmlns:a16="http://schemas.microsoft.com/office/drawing/2014/main" val="764963642"/>
                    </a:ext>
                  </a:extLst>
                </a:gridCol>
              </a:tblGrid>
              <a:tr h="370840">
                <a:tc>
                  <a:txBody>
                    <a:bodyPr/>
                    <a:lstStyle/>
                    <a:p>
                      <a:r>
                        <a:rPr lang="en-IN" sz="3600" dirty="0">
                          <a:solidFill>
                            <a:schemeClr val="bg1"/>
                          </a:solidFill>
                        </a:rPr>
                        <a:t>Code</a:t>
                      </a:r>
                    </a:p>
                  </a:txBody>
                  <a:tcPr/>
                </a:tc>
                <a:tc>
                  <a:txBody>
                    <a:bodyPr/>
                    <a:lstStyle/>
                    <a:p>
                      <a:pPr algn="l" fontAlgn="b"/>
                      <a:r>
                        <a:rPr lang="en-IN" sz="3600" b="0" i="0" u="none" strike="noStrike" dirty="0">
                          <a:solidFill>
                            <a:srgbClr val="000000"/>
                          </a:solidFill>
                          <a:effectLst/>
                          <a:latin typeface="Calibri" panose="020F0502020204030204" pitchFamily="34" charset="0"/>
                        </a:rPr>
                        <a:t>statement</a:t>
                      </a:r>
                    </a:p>
                  </a:txBody>
                  <a:tcPr marL="7620" marR="7620" marT="7620" marB="0" anchor="b"/>
                </a:tc>
                <a:tc>
                  <a:txBody>
                    <a:bodyPr/>
                    <a:lstStyle/>
                    <a:p>
                      <a:pPr algn="l" fontAlgn="b"/>
                      <a:r>
                        <a:rPr lang="en-IN" sz="3600" b="0" i="0" u="none" strike="noStrike">
                          <a:solidFill>
                            <a:srgbClr val="000000"/>
                          </a:solidFill>
                          <a:effectLst/>
                          <a:latin typeface="Calibri" panose="020F0502020204030204" pitchFamily="34" charset="0"/>
                        </a:rPr>
                        <a:t>numb</a:t>
                      </a:r>
                    </a:p>
                  </a:txBody>
                  <a:tcPr marL="7620" marR="7620" marT="7620" marB="0" anchor="b"/>
                </a:tc>
                <a:extLst>
                  <a:ext uri="{0D108BD9-81ED-4DB2-BD59-A6C34878D82A}">
                    <a16:rowId xmlns:a16="http://schemas.microsoft.com/office/drawing/2014/main" val="542422532"/>
                  </a:ext>
                </a:extLst>
              </a:tr>
              <a:tr h="370840">
                <a:tc>
                  <a:txBody>
                    <a:bodyPr/>
                    <a:lstStyle/>
                    <a:p>
                      <a:r>
                        <a:rPr lang="en-IN" sz="3600" dirty="0"/>
                        <a:t>`1</a:t>
                      </a:r>
                    </a:p>
                  </a:txBody>
                  <a:tcPr/>
                </a:tc>
                <a:tc>
                  <a:txBody>
                    <a:bodyPr/>
                    <a:lstStyle/>
                    <a:p>
                      <a:pPr algn="r" fontAlgn="b"/>
                      <a:r>
                        <a:rPr lang="en-IN" sz="3600" b="0" i="0" u="none" strike="noStrike" dirty="0">
                          <a:solidFill>
                            <a:srgbClr val="000000"/>
                          </a:solidFill>
                          <a:effectLst/>
                          <a:latin typeface="Calibri" panose="020F0502020204030204" pitchFamily="34" charset="0"/>
                        </a:rPr>
                        <a:t>Significantly</a:t>
                      </a:r>
                    </a:p>
                  </a:txBody>
                  <a:tcPr marL="7620" marR="7620" marT="7620" marB="0" anchor="b"/>
                </a:tc>
                <a:tc>
                  <a:txBody>
                    <a:bodyPr/>
                    <a:lstStyle/>
                    <a:p>
                      <a:pPr algn="r" fontAlgn="b"/>
                      <a:r>
                        <a:rPr lang="en-IN" sz="3600" b="0" i="0" u="none" strike="noStrike">
                          <a:solidFill>
                            <a:srgbClr val="000000"/>
                          </a:solidFill>
                          <a:effectLst/>
                          <a:latin typeface="Calibri" panose="020F0502020204030204" pitchFamily="34" charset="0"/>
                        </a:rPr>
                        <a:t>17</a:t>
                      </a:r>
                    </a:p>
                  </a:txBody>
                  <a:tcPr marL="7620" marR="7620" marT="7620" marB="0" anchor="b"/>
                </a:tc>
                <a:extLst>
                  <a:ext uri="{0D108BD9-81ED-4DB2-BD59-A6C34878D82A}">
                    <a16:rowId xmlns:a16="http://schemas.microsoft.com/office/drawing/2014/main" val="2960218450"/>
                  </a:ext>
                </a:extLst>
              </a:tr>
              <a:tr h="370840">
                <a:tc>
                  <a:txBody>
                    <a:bodyPr/>
                    <a:lstStyle/>
                    <a:p>
                      <a:r>
                        <a:rPr lang="en-IN" sz="3600" dirty="0"/>
                        <a:t>2</a:t>
                      </a:r>
                    </a:p>
                  </a:txBody>
                  <a:tcPr/>
                </a:tc>
                <a:tc>
                  <a:txBody>
                    <a:bodyPr/>
                    <a:lstStyle/>
                    <a:p>
                      <a:pPr algn="r" fontAlgn="b"/>
                      <a:r>
                        <a:rPr lang="en-IN" sz="3600" b="0" i="0" u="none" strike="noStrike" dirty="0">
                          <a:solidFill>
                            <a:srgbClr val="000000"/>
                          </a:solidFill>
                          <a:effectLst/>
                          <a:latin typeface="Calibri" panose="020F0502020204030204" pitchFamily="34" charset="0"/>
                        </a:rPr>
                        <a:t>Not at all</a:t>
                      </a:r>
                    </a:p>
                  </a:txBody>
                  <a:tcPr marL="7620" marR="7620" marT="7620" marB="0" anchor="b"/>
                </a:tc>
                <a:tc>
                  <a:txBody>
                    <a:bodyPr/>
                    <a:lstStyle/>
                    <a:p>
                      <a:pPr algn="r" fontAlgn="b"/>
                      <a:r>
                        <a:rPr lang="en-IN" sz="3600" b="0" i="0" u="none" strike="noStrike">
                          <a:solidFill>
                            <a:srgbClr val="000000"/>
                          </a:solidFill>
                          <a:effectLst/>
                          <a:latin typeface="Calibri" panose="020F0502020204030204" pitchFamily="34" charset="0"/>
                        </a:rPr>
                        <a:t>19</a:t>
                      </a:r>
                    </a:p>
                  </a:txBody>
                  <a:tcPr marL="7620" marR="7620" marT="7620" marB="0" anchor="b"/>
                </a:tc>
                <a:extLst>
                  <a:ext uri="{0D108BD9-81ED-4DB2-BD59-A6C34878D82A}">
                    <a16:rowId xmlns:a16="http://schemas.microsoft.com/office/drawing/2014/main" val="3121222745"/>
                  </a:ext>
                </a:extLst>
              </a:tr>
              <a:tr h="370840">
                <a:tc>
                  <a:txBody>
                    <a:bodyPr/>
                    <a:lstStyle/>
                    <a:p>
                      <a:r>
                        <a:rPr lang="en-IN" sz="3600" dirty="0"/>
                        <a:t>3</a:t>
                      </a:r>
                    </a:p>
                  </a:txBody>
                  <a:tcPr/>
                </a:tc>
                <a:tc>
                  <a:txBody>
                    <a:bodyPr/>
                    <a:lstStyle/>
                    <a:p>
                      <a:pPr algn="r" fontAlgn="b"/>
                      <a:r>
                        <a:rPr lang="en-IN" sz="3600" b="0" i="0" u="none" strike="noStrike" dirty="0">
                          <a:solidFill>
                            <a:srgbClr val="000000"/>
                          </a:solidFill>
                          <a:effectLst/>
                          <a:latin typeface="Calibri" panose="020F0502020204030204" pitchFamily="34" charset="0"/>
                        </a:rPr>
                        <a:t>Moderately</a:t>
                      </a:r>
                    </a:p>
                  </a:txBody>
                  <a:tcPr marL="7620" marR="7620" marT="7620" marB="0" anchor="b"/>
                </a:tc>
                <a:tc>
                  <a:txBody>
                    <a:bodyPr/>
                    <a:lstStyle/>
                    <a:p>
                      <a:pPr algn="r" fontAlgn="b"/>
                      <a:r>
                        <a:rPr lang="en-IN" sz="3600" b="0" i="0" u="none" strike="noStrike">
                          <a:solidFill>
                            <a:srgbClr val="000000"/>
                          </a:solidFill>
                          <a:effectLst/>
                          <a:latin typeface="Calibri" panose="020F0502020204030204" pitchFamily="34" charset="0"/>
                        </a:rPr>
                        <a:t>40</a:t>
                      </a:r>
                    </a:p>
                  </a:txBody>
                  <a:tcPr marL="7620" marR="7620" marT="7620" marB="0" anchor="b"/>
                </a:tc>
                <a:extLst>
                  <a:ext uri="{0D108BD9-81ED-4DB2-BD59-A6C34878D82A}">
                    <a16:rowId xmlns:a16="http://schemas.microsoft.com/office/drawing/2014/main" val="284433251"/>
                  </a:ext>
                </a:extLst>
              </a:tr>
              <a:tr h="370840">
                <a:tc>
                  <a:txBody>
                    <a:bodyPr/>
                    <a:lstStyle/>
                    <a:p>
                      <a:r>
                        <a:rPr lang="en-IN" sz="3600" dirty="0"/>
                        <a:t>4</a:t>
                      </a:r>
                    </a:p>
                  </a:txBody>
                  <a:tcPr/>
                </a:tc>
                <a:tc>
                  <a:txBody>
                    <a:bodyPr/>
                    <a:lstStyle/>
                    <a:p>
                      <a:pPr algn="r" fontAlgn="b"/>
                      <a:r>
                        <a:rPr lang="en-IN" sz="3600" b="0" i="0" u="none" strike="noStrike">
                          <a:solidFill>
                            <a:srgbClr val="000000"/>
                          </a:solidFill>
                          <a:effectLst/>
                          <a:latin typeface="Calibri" panose="020F0502020204030204" pitchFamily="34" charset="0"/>
                        </a:rPr>
                        <a:t>Slightl</a:t>
                      </a:r>
                      <a:r>
                        <a:rPr lang="en-IN" sz="3600" b="0" i="0" u="none" strike="noStrike" dirty="0">
                          <a:solidFill>
                            <a:srgbClr val="000000"/>
                          </a:solidFill>
                          <a:effectLst/>
                          <a:latin typeface="Calibri" panose="020F0502020204030204" pitchFamily="34" charset="0"/>
                        </a:rPr>
                        <a:t>y</a:t>
                      </a:r>
                    </a:p>
                  </a:txBody>
                  <a:tcPr marL="7620" marR="7620" marT="7620" marB="0" anchor="b"/>
                </a:tc>
                <a:tc>
                  <a:txBody>
                    <a:bodyPr/>
                    <a:lstStyle/>
                    <a:p>
                      <a:pPr algn="r" fontAlgn="b"/>
                      <a:r>
                        <a:rPr lang="en-IN" sz="3600" b="0" i="0" u="none" strike="noStrike" dirty="0">
                          <a:solidFill>
                            <a:srgbClr val="000000"/>
                          </a:solidFill>
                          <a:effectLst/>
                          <a:latin typeface="Calibri" panose="020F0502020204030204" pitchFamily="34" charset="0"/>
                        </a:rPr>
                        <a:t>36</a:t>
                      </a:r>
                    </a:p>
                  </a:txBody>
                  <a:tcPr marL="7620" marR="7620" marT="7620" marB="0" anchor="b"/>
                </a:tc>
                <a:extLst>
                  <a:ext uri="{0D108BD9-81ED-4DB2-BD59-A6C34878D82A}">
                    <a16:rowId xmlns:a16="http://schemas.microsoft.com/office/drawing/2014/main" val="1036011677"/>
                  </a:ext>
                </a:extLst>
              </a:tr>
            </a:tbl>
          </a:graphicData>
        </a:graphic>
      </p:graphicFrame>
      <p:sp>
        <p:nvSpPr>
          <p:cNvPr id="5" name="TextBox 4">
            <a:extLst>
              <a:ext uri="{FF2B5EF4-FFF2-40B4-BE49-F238E27FC236}">
                <a16:creationId xmlns:a16="http://schemas.microsoft.com/office/drawing/2014/main" id="{3AAC992A-BF6B-5B87-A467-DCDB5153A49D}"/>
              </a:ext>
            </a:extLst>
          </p:cNvPr>
          <p:cNvSpPr txBox="1"/>
          <p:nvPr/>
        </p:nvSpPr>
        <p:spPr>
          <a:xfrm>
            <a:off x="3641558" y="5245768"/>
            <a:ext cx="3978442" cy="369332"/>
          </a:xfrm>
          <a:prstGeom prst="rect">
            <a:avLst/>
          </a:prstGeom>
          <a:noFill/>
        </p:spPr>
        <p:txBody>
          <a:bodyPr wrap="square" rtlCol="0">
            <a:spAutoFit/>
          </a:bodyPr>
          <a:lstStyle/>
          <a:p>
            <a:r>
              <a:rPr lang="en-IN" dirty="0"/>
              <a:t>Mode = 3</a:t>
            </a:r>
          </a:p>
        </p:txBody>
      </p:sp>
    </p:spTree>
    <p:extLst>
      <p:ext uri="{BB962C8B-B14F-4D97-AF65-F5344CB8AC3E}">
        <p14:creationId xmlns:p14="http://schemas.microsoft.com/office/powerpoint/2010/main" val="41223827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6E3AD-E455-E73D-D597-C53816CE8744}"/>
              </a:ext>
            </a:extLst>
          </p:cNvPr>
          <p:cNvSpPr>
            <a:spLocks noGrp="1"/>
          </p:cNvSpPr>
          <p:nvPr>
            <p:ph type="title"/>
          </p:nvPr>
        </p:nvSpPr>
        <p:spPr/>
        <p:txBody>
          <a:bodyPr>
            <a:normAutofit fontScale="90000"/>
          </a:bodyPr>
          <a:lstStyle/>
          <a:p>
            <a:r>
              <a:rPr lang="en-US" dirty="0"/>
              <a:t>9.How often do you follow health and fitness advice from social media influencers?</a:t>
            </a:r>
            <a:br>
              <a:rPr lang="en-US" dirty="0"/>
            </a:br>
            <a:endParaRPr lang="en-IN" dirty="0"/>
          </a:p>
        </p:txBody>
      </p:sp>
      <p:graphicFrame>
        <p:nvGraphicFramePr>
          <p:cNvPr id="4" name="Table 3">
            <a:extLst>
              <a:ext uri="{FF2B5EF4-FFF2-40B4-BE49-F238E27FC236}">
                <a16:creationId xmlns:a16="http://schemas.microsoft.com/office/drawing/2014/main" id="{3CF7EBE2-D829-346E-B37C-68A2497464A7}"/>
              </a:ext>
            </a:extLst>
          </p:cNvPr>
          <p:cNvGraphicFramePr>
            <a:graphicFrameLocks noGrp="1"/>
          </p:cNvGraphicFramePr>
          <p:nvPr>
            <p:extLst>
              <p:ext uri="{D42A27DB-BD31-4B8C-83A1-F6EECF244321}">
                <p14:modId xmlns:p14="http://schemas.microsoft.com/office/powerpoint/2010/main" val="370115410"/>
              </p:ext>
            </p:extLst>
          </p:nvPr>
        </p:nvGraphicFramePr>
        <p:xfrm>
          <a:off x="2032000" y="1690688"/>
          <a:ext cx="8128000" cy="2788920"/>
        </p:xfrm>
        <a:graphic>
          <a:graphicData uri="http://schemas.openxmlformats.org/drawingml/2006/table">
            <a:tbl>
              <a:tblPr firstRow="1" bandRow="1">
                <a:tableStyleId>{5C22544A-7EE6-4342-B048-85BDC9FD1C3A}</a:tableStyleId>
              </a:tblPr>
              <a:tblGrid>
                <a:gridCol w="3775242">
                  <a:extLst>
                    <a:ext uri="{9D8B030D-6E8A-4147-A177-3AD203B41FA5}">
                      <a16:colId xmlns:a16="http://schemas.microsoft.com/office/drawing/2014/main" val="3597293225"/>
                    </a:ext>
                  </a:extLst>
                </a:gridCol>
                <a:gridCol w="4352758">
                  <a:extLst>
                    <a:ext uri="{9D8B030D-6E8A-4147-A177-3AD203B41FA5}">
                      <a16:colId xmlns:a16="http://schemas.microsoft.com/office/drawing/2014/main" val="3137301034"/>
                    </a:ext>
                  </a:extLst>
                </a:gridCol>
              </a:tblGrid>
              <a:tr h="0">
                <a:tc>
                  <a:txBody>
                    <a:bodyPr/>
                    <a:lstStyle/>
                    <a:p>
                      <a:pPr algn="l" fontAlgn="b"/>
                      <a:r>
                        <a:rPr lang="en-IN" sz="3000" b="0" i="0" u="none" strike="noStrike" dirty="0">
                          <a:solidFill>
                            <a:srgbClr val="000000"/>
                          </a:solidFill>
                          <a:effectLst/>
                          <a:latin typeface="Calibri" panose="020F0502020204030204" pitchFamily="34" charset="0"/>
                        </a:rPr>
                        <a:t>Statement</a:t>
                      </a:r>
                    </a:p>
                  </a:txBody>
                  <a:tcPr marL="7620" marR="7620" marT="7620" marB="0" anchor="b"/>
                </a:tc>
                <a:tc>
                  <a:txBody>
                    <a:bodyPr/>
                    <a:lstStyle/>
                    <a:p>
                      <a:pPr algn="l" fontAlgn="b"/>
                      <a:r>
                        <a:rPr lang="en-IN" sz="3000" b="0" i="0" u="none" strike="noStrike">
                          <a:solidFill>
                            <a:srgbClr val="000000"/>
                          </a:solidFill>
                          <a:effectLst/>
                          <a:latin typeface="Calibri" panose="020F0502020204030204" pitchFamily="34" charset="0"/>
                        </a:rPr>
                        <a:t>Numbers</a:t>
                      </a:r>
                    </a:p>
                  </a:txBody>
                  <a:tcPr marL="7620" marR="7620" marT="7620" marB="0" anchor="b"/>
                </a:tc>
                <a:extLst>
                  <a:ext uri="{0D108BD9-81ED-4DB2-BD59-A6C34878D82A}">
                    <a16:rowId xmlns:a16="http://schemas.microsoft.com/office/drawing/2014/main" val="2945960528"/>
                  </a:ext>
                </a:extLst>
              </a:tr>
              <a:tr h="370840">
                <a:tc>
                  <a:txBody>
                    <a:bodyPr/>
                    <a:lstStyle/>
                    <a:p>
                      <a:pPr algn="r" fontAlgn="b"/>
                      <a:r>
                        <a:rPr lang="en-IN" sz="3000" b="0" i="0" u="none" strike="noStrike" dirty="0">
                          <a:solidFill>
                            <a:srgbClr val="000000"/>
                          </a:solidFill>
                          <a:effectLst/>
                          <a:latin typeface="Calibri" panose="020F0502020204030204" pitchFamily="34" charset="0"/>
                        </a:rPr>
                        <a:t>rarely</a:t>
                      </a:r>
                    </a:p>
                  </a:txBody>
                  <a:tcPr marL="7620" marR="7620" marT="7620" marB="0" anchor="b"/>
                </a:tc>
                <a:tc>
                  <a:txBody>
                    <a:bodyPr/>
                    <a:lstStyle/>
                    <a:p>
                      <a:pPr algn="r" fontAlgn="b"/>
                      <a:r>
                        <a:rPr lang="en-IN" sz="3000" b="0" i="0" u="none" strike="noStrike">
                          <a:solidFill>
                            <a:srgbClr val="000000"/>
                          </a:solidFill>
                          <a:effectLst/>
                          <a:latin typeface="Calibri" panose="020F0502020204030204" pitchFamily="34" charset="0"/>
                        </a:rPr>
                        <a:t>15</a:t>
                      </a:r>
                    </a:p>
                  </a:txBody>
                  <a:tcPr marL="7620" marR="7620" marT="7620" marB="0" anchor="b"/>
                </a:tc>
                <a:extLst>
                  <a:ext uri="{0D108BD9-81ED-4DB2-BD59-A6C34878D82A}">
                    <a16:rowId xmlns:a16="http://schemas.microsoft.com/office/drawing/2014/main" val="426126741"/>
                  </a:ext>
                </a:extLst>
              </a:tr>
              <a:tr h="370840">
                <a:tc>
                  <a:txBody>
                    <a:bodyPr/>
                    <a:lstStyle/>
                    <a:p>
                      <a:pPr algn="r" fontAlgn="b"/>
                      <a:r>
                        <a:rPr lang="en-IN" sz="3000" b="0" i="0" u="none" strike="noStrike" dirty="0">
                          <a:solidFill>
                            <a:srgbClr val="000000"/>
                          </a:solidFill>
                          <a:effectLst/>
                          <a:latin typeface="Calibri" panose="020F0502020204030204" pitchFamily="34" charset="0"/>
                        </a:rPr>
                        <a:t>Sometimes</a:t>
                      </a:r>
                    </a:p>
                  </a:txBody>
                  <a:tcPr marL="7620" marR="7620" marT="7620" marB="0" anchor="b"/>
                </a:tc>
                <a:tc>
                  <a:txBody>
                    <a:bodyPr/>
                    <a:lstStyle/>
                    <a:p>
                      <a:pPr algn="r" fontAlgn="b"/>
                      <a:r>
                        <a:rPr lang="en-IN" sz="3000" b="0" i="0" u="none" strike="noStrike">
                          <a:solidFill>
                            <a:srgbClr val="000000"/>
                          </a:solidFill>
                          <a:effectLst/>
                          <a:latin typeface="Calibri" panose="020F0502020204030204" pitchFamily="34" charset="0"/>
                        </a:rPr>
                        <a:t>36</a:t>
                      </a:r>
                    </a:p>
                  </a:txBody>
                  <a:tcPr marL="7620" marR="7620" marT="7620" marB="0" anchor="b"/>
                </a:tc>
                <a:extLst>
                  <a:ext uri="{0D108BD9-81ED-4DB2-BD59-A6C34878D82A}">
                    <a16:rowId xmlns:a16="http://schemas.microsoft.com/office/drawing/2014/main" val="691352371"/>
                  </a:ext>
                </a:extLst>
              </a:tr>
              <a:tr h="370840">
                <a:tc>
                  <a:txBody>
                    <a:bodyPr/>
                    <a:lstStyle/>
                    <a:p>
                      <a:pPr algn="r" fontAlgn="b"/>
                      <a:r>
                        <a:rPr lang="en-IN" sz="3000" b="0" i="0" u="none" strike="noStrike" dirty="0">
                          <a:solidFill>
                            <a:srgbClr val="000000"/>
                          </a:solidFill>
                          <a:effectLst/>
                          <a:latin typeface="Calibri" panose="020F0502020204030204" pitchFamily="34" charset="0"/>
                        </a:rPr>
                        <a:t>Often</a:t>
                      </a:r>
                    </a:p>
                  </a:txBody>
                  <a:tcPr marL="7620" marR="7620" marT="7620" marB="0" anchor="b"/>
                </a:tc>
                <a:tc>
                  <a:txBody>
                    <a:bodyPr/>
                    <a:lstStyle/>
                    <a:p>
                      <a:pPr algn="r" fontAlgn="b"/>
                      <a:r>
                        <a:rPr lang="en-IN" sz="3000" b="0" i="0" u="none" strike="noStrike" dirty="0">
                          <a:solidFill>
                            <a:srgbClr val="000000"/>
                          </a:solidFill>
                          <a:effectLst/>
                          <a:latin typeface="Calibri" panose="020F0502020204030204" pitchFamily="34" charset="0"/>
                        </a:rPr>
                        <a:t>27</a:t>
                      </a:r>
                    </a:p>
                  </a:txBody>
                  <a:tcPr marL="7620" marR="7620" marT="7620" marB="0" anchor="b"/>
                </a:tc>
                <a:extLst>
                  <a:ext uri="{0D108BD9-81ED-4DB2-BD59-A6C34878D82A}">
                    <a16:rowId xmlns:a16="http://schemas.microsoft.com/office/drawing/2014/main" val="686016721"/>
                  </a:ext>
                </a:extLst>
              </a:tr>
              <a:tr h="370840">
                <a:tc>
                  <a:txBody>
                    <a:bodyPr/>
                    <a:lstStyle/>
                    <a:p>
                      <a:pPr algn="r" fontAlgn="b"/>
                      <a:r>
                        <a:rPr lang="en-IN" sz="3000" b="0" i="0" u="none" strike="noStrike" dirty="0">
                          <a:solidFill>
                            <a:srgbClr val="000000"/>
                          </a:solidFill>
                          <a:effectLst/>
                          <a:latin typeface="Calibri" panose="020F0502020204030204" pitchFamily="34" charset="0"/>
                        </a:rPr>
                        <a:t>Always</a:t>
                      </a:r>
                    </a:p>
                  </a:txBody>
                  <a:tcPr marL="7620" marR="7620" marT="7620" marB="0" anchor="b"/>
                </a:tc>
                <a:tc>
                  <a:txBody>
                    <a:bodyPr/>
                    <a:lstStyle/>
                    <a:p>
                      <a:pPr algn="r" fontAlgn="b"/>
                      <a:r>
                        <a:rPr lang="en-IN" sz="3000" b="0" i="0" u="none" strike="noStrike">
                          <a:solidFill>
                            <a:srgbClr val="000000"/>
                          </a:solidFill>
                          <a:effectLst/>
                          <a:latin typeface="Calibri" panose="020F0502020204030204" pitchFamily="34" charset="0"/>
                        </a:rPr>
                        <a:t>24</a:t>
                      </a:r>
                    </a:p>
                  </a:txBody>
                  <a:tcPr marL="7620" marR="7620" marT="7620" marB="0" anchor="b"/>
                </a:tc>
                <a:extLst>
                  <a:ext uri="{0D108BD9-81ED-4DB2-BD59-A6C34878D82A}">
                    <a16:rowId xmlns:a16="http://schemas.microsoft.com/office/drawing/2014/main" val="2320266437"/>
                  </a:ext>
                </a:extLst>
              </a:tr>
              <a:tr h="370840">
                <a:tc>
                  <a:txBody>
                    <a:bodyPr/>
                    <a:lstStyle/>
                    <a:p>
                      <a:pPr algn="r" fontAlgn="b"/>
                      <a:r>
                        <a:rPr lang="en-IN" sz="3000" b="0" i="0" u="none" strike="noStrike" dirty="0">
                          <a:solidFill>
                            <a:srgbClr val="000000"/>
                          </a:solidFill>
                          <a:effectLst/>
                          <a:latin typeface="Calibri" panose="020F0502020204030204" pitchFamily="34" charset="0"/>
                        </a:rPr>
                        <a:t>never</a:t>
                      </a:r>
                    </a:p>
                  </a:txBody>
                  <a:tcPr marL="7620" marR="7620" marT="7620" marB="0" anchor="b"/>
                </a:tc>
                <a:tc>
                  <a:txBody>
                    <a:bodyPr/>
                    <a:lstStyle/>
                    <a:p>
                      <a:pPr algn="r" fontAlgn="b"/>
                      <a:r>
                        <a:rPr lang="en-IN" sz="3000" b="0" i="0" u="none" strike="noStrike" dirty="0">
                          <a:solidFill>
                            <a:srgbClr val="000000"/>
                          </a:solidFill>
                          <a:effectLst/>
                          <a:latin typeface="Calibri" panose="020F0502020204030204" pitchFamily="34" charset="0"/>
                        </a:rPr>
                        <a:t>10</a:t>
                      </a:r>
                    </a:p>
                  </a:txBody>
                  <a:tcPr marL="7620" marR="7620" marT="7620" marB="0" anchor="b"/>
                </a:tc>
                <a:extLst>
                  <a:ext uri="{0D108BD9-81ED-4DB2-BD59-A6C34878D82A}">
                    <a16:rowId xmlns:a16="http://schemas.microsoft.com/office/drawing/2014/main" val="2165827004"/>
                  </a:ext>
                </a:extLst>
              </a:tr>
            </a:tbl>
          </a:graphicData>
        </a:graphic>
      </p:graphicFrame>
      <p:sp>
        <p:nvSpPr>
          <p:cNvPr id="5" name="TextBox 4">
            <a:extLst>
              <a:ext uri="{FF2B5EF4-FFF2-40B4-BE49-F238E27FC236}">
                <a16:creationId xmlns:a16="http://schemas.microsoft.com/office/drawing/2014/main" id="{F5F02F4F-482F-8C5B-4CA4-0F313947F2BA}"/>
              </a:ext>
            </a:extLst>
          </p:cNvPr>
          <p:cNvSpPr txBox="1"/>
          <p:nvPr/>
        </p:nvSpPr>
        <p:spPr>
          <a:xfrm>
            <a:off x="4074695" y="5518484"/>
            <a:ext cx="3048000" cy="923330"/>
          </a:xfrm>
          <a:prstGeom prst="rect">
            <a:avLst/>
          </a:prstGeom>
          <a:noFill/>
        </p:spPr>
        <p:txBody>
          <a:bodyPr wrap="square" rtlCol="0">
            <a:spAutoFit/>
          </a:bodyPr>
          <a:lstStyle/>
          <a:p>
            <a:r>
              <a:rPr lang="en-IN" sz="5400" dirty="0">
                <a:latin typeface="Times New Roman" panose="02020603050405020304" pitchFamily="18" charset="0"/>
                <a:cs typeface="Times New Roman" panose="02020603050405020304" pitchFamily="18" charset="0"/>
              </a:rPr>
              <a:t>Mode = 2</a:t>
            </a:r>
          </a:p>
        </p:txBody>
      </p:sp>
    </p:spTree>
    <p:extLst>
      <p:ext uri="{BB962C8B-B14F-4D97-AF65-F5344CB8AC3E}">
        <p14:creationId xmlns:p14="http://schemas.microsoft.com/office/powerpoint/2010/main" val="36160740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9DD4ADC-BA5E-DE6C-437C-CED99C4324AC}"/>
              </a:ext>
            </a:extLst>
          </p:cNvPr>
          <p:cNvPicPr>
            <a:picLocks noChangeAspect="1"/>
          </p:cNvPicPr>
          <p:nvPr/>
        </p:nvPicPr>
        <p:blipFill>
          <a:blip r:embed="rId2"/>
          <a:stretch>
            <a:fillRect/>
          </a:stretch>
        </p:blipFill>
        <p:spPr>
          <a:xfrm>
            <a:off x="0" y="863385"/>
            <a:ext cx="12192000" cy="5131229"/>
          </a:xfrm>
          <a:prstGeom prst="rect">
            <a:avLst/>
          </a:prstGeom>
        </p:spPr>
      </p:pic>
    </p:spTree>
    <p:extLst>
      <p:ext uri="{BB962C8B-B14F-4D97-AF65-F5344CB8AC3E}">
        <p14:creationId xmlns:p14="http://schemas.microsoft.com/office/powerpoint/2010/main" val="16720423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F99D1B-1C4A-9904-140D-3FD82F73092C}"/>
              </a:ext>
            </a:extLst>
          </p:cNvPr>
          <p:cNvSpPr>
            <a:spLocks noGrp="1"/>
          </p:cNvSpPr>
          <p:nvPr>
            <p:ph type="title"/>
          </p:nvPr>
        </p:nvSpPr>
        <p:spPr>
          <a:xfrm>
            <a:off x="304801" y="320843"/>
            <a:ext cx="11454062" cy="1369846"/>
          </a:xfrm>
        </p:spPr>
        <p:txBody>
          <a:bodyPr>
            <a:normAutofit fontScale="90000"/>
          </a:bodyPr>
          <a:lstStyle/>
          <a:p>
            <a:r>
              <a:rPr lang="en-IN" dirty="0"/>
              <a:t>Skewness	0.224151336 positive skew</a:t>
            </a:r>
            <a:br>
              <a:rPr lang="en-IN" dirty="0"/>
            </a:br>
            <a:r>
              <a:rPr lang="en-IN" dirty="0"/>
              <a:t>Kurtosis	-0.879862884 platykurtic</a:t>
            </a:r>
            <a:br>
              <a:rPr lang="en-IN" dirty="0"/>
            </a:br>
            <a:endParaRPr lang="en-IN" dirty="0"/>
          </a:p>
        </p:txBody>
      </p:sp>
      <p:pic>
        <p:nvPicPr>
          <p:cNvPr id="4" name="Picture 3">
            <a:extLst>
              <a:ext uri="{FF2B5EF4-FFF2-40B4-BE49-F238E27FC236}">
                <a16:creationId xmlns:a16="http://schemas.microsoft.com/office/drawing/2014/main" id="{4C33C198-D7E0-6BE2-6107-EE2B0333C983}"/>
              </a:ext>
            </a:extLst>
          </p:cNvPr>
          <p:cNvPicPr>
            <a:picLocks noChangeAspect="1"/>
          </p:cNvPicPr>
          <p:nvPr/>
        </p:nvPicPr>
        <p:blipFill>
          <a:blip r:embed="rId2"/>
          <a:stretch>
            <a:fillRect/>
          </a:stretch>
        </p:blipFill>
        <p:spPr>
          <a:xfrm>
            <a:off x="0" y="1878043"/>
            <a:ext cx="11951368" cy="4979957"/>
          </a:xfrm>
          <a:prstGeom prst="rect">
            <a:avLst/>
          </a:prstGeom>
        </p:spPr>
      </p:pic>
    </p:spTree>
    <p:extLst>
      <p:ext uri="{BB962C8B-B14F-4D97-AF65-F5344CB8AC3E}">
        <p14:creationId xmlns:p14="http://schemas.microsoft.com/office/powerpoint/2010/main" val="7165436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0686714-DC70-8554-44F9-EC437510C166}"/>
              </a:ext>
            </a:extLst>
          </p:cNvPr>
          <p:cNvSpPr txBox="1"/>
          <p:nvPr/>
        </p:nvSpPr>
        <p:spPr>
          <a:xfrm>
            <a:off x="673768" y="727746"/>
            <a:ext cx="9127958" cy="1200329"/>
          </a:xfrm>
          <a:prstGeom prst="rect">
            <a:avLst/>
          </a:prstGeom>
          <a:noFill/>
        </p:spPr>
        <p:txBody>
          <a:bodyPr wrap="square" rtlCol="0">
            <a:spAutoFit/>
          </a:bodyPr>
          <a:lstStyle/>
          <a:p>
            <a:r>
              <a:rPr lang="en-IN" sz="3600" dirty="0">
                <a:latin typeface="Times New Roman" panose="02020603050405020304" pitchFamily="18" charset="0"/>
                <a:cs typeface="Times New Roman" panose="02020603050405020304" pitchFamily="18" charset="0"/>
              </a:rPr>
              <a:t>Inference </a:t>
            </a:r>
            <a:r>
              <a:rPr lang="en-US" sz="3600" dirty="0">
                <a:latin typeface="Times New Roman" panose="02020603050405020304" pitchFamily="18" charset="0"/>
                <a:cs typeface="Times New Roman" panose="02020603050405020304" pitchFamily="18" charset="0"/>
              </a:rPr>
              <a:t>About half of the respondents follow this advice either "often" or "always" (51%).</a:t>
            </a:r>
            <a:endParaRPr lang="en-IN" sz="36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9CAB0CDB-43CD-9EFB-C8C3-0DE6A8E27E98}"/>
              </a:ext>
            </a:extLst>
          </p:cNvPr>
          <p:cNvSpPr txBox="1"/>
          <p:nvPr/>
        </p:nvSpPr>
        <p:spPr>
          <a:xfrm>
            <a:off x="641684" y="2798270"/>
            <a:ext cx="11325727" cy="2308324"/>
          </a:xfrm>
          <a:prstGeom prst="rect">
            <a:avLst/>
          </a:prstGeom>
          <a:noFill/>
        </p:spPr>
        <p:txBody>
          <a:bodyPr wrap="square" rtlCol="0">
            <a:spAutoFit/>
          </a:bodyPr>
          <a:lstStyle/>
          <a:p>
            <a:r>
              <a:rPr lang="en-IN" sz="3600" dirty="0">
                <a:latin typeface="Times New Roman" panose="02020603050405020304" pitchFamily="18" charset="0"/>
                <a:cs typeface="Times New Roman" panose="02020603050405020304" pitchFamily="18" charset="0"/>
              </a:rPr>
              <a:t>Insights: </a:t>
            </a:r>
            <a:r>
              <a:rPr lang="en-US" sz="3600" dirty="0">
                <a:latin typeface="Times New Roman" panose="02020603050405020304" pitchFamily="18" charset="0"/>
                <a:cs typeface="Times New Roman" panose="02020603050405020304" pitchFamily="18" charset="0"/>
              </a:rPr>
              <a:t>The fact that a sizable portion follows advice only "sometimes" or "often" rather than "always" implies that while influencers are influential, their advice is not always taken as gospel. </a:t>
            </a:r>
            <a:endParaRPr lang="en-IN" sz="36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1BD3104-7441-9C0B-BF92-00ABD96FA01E}"/>
              </a:ext>
            </a:extLst>
          </p:cNvPr>
          <p:cNvSpPr txBox="1"/>
          <p:nvPr/>
        </p:nvSpPr>
        <p:spPr>
          <a:xfrm>
            <a:off x="673768" y="5106594"/>
            <a:ext cx="10876548" cy="1200329"/>
          </a:xfrm>
          <a:prstGeom prst="rect">
            <a:avLst/>
          </a:prstGeom>
          <a:noFill/>
        </p:spPr>
        <p:txBody>
          <a:bodyPr wrap="square" rtlCol="0">
            <a:spAutoFit/>
          </a:bodyPr>
          <a:lstStyle/>
          <a:p>
            <a:r>
              <a:rPr lang="en-US" sz="3600" dirty="0">
                <a:latin typeface="Times New Roman" panose="02020603050405020304" pitchFamily="18" charset="0"/>
                <a:cs typeface="Times New Roman" panose="02020603050405020304" pitchFamily="18" charset="0"/>
              </a:rPr>
              <a:t>Consider adopting a balanced approach by integrating social media advice with professional guidance. </a:t>
            </a:r>
            <a:endParaRPr lang="en-IN"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915143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C89646-B4E7-574C-8E59-C38204F5D365}"/>
              </a:ext>
            </a:extLst>
          </p:cNvPr>
          <p:cNvSpPr>
            <a:spLocks noGrp="1"/>
          </p:cNvSpPr>
          <p:nvPr>
            <p:ph type="title"/>
          </p:nvPr>
        </p:nvSpPr>
        <p:spPr/>
        <p:txBody>
          <a:bodyPr>
            <a:normAutofit fontScale="90000"/>
          </a:bodyPr>
          <a:lstStyle/>
          <a:p>
            <a:r>
              <a:rPr lang="en-US" dirty="0"/>
              <a:t>10. How much do social media influencers impact your beauty and skincare routine?</a:t>
            </a:r>
            <a:br>
              <a:rPr lang="en-US" dirty="0"/>
            </a:br>
            <a:r>
              <a:rPr lang="en-US" dirty="0"/>
              <a:t>1</a:t>
            </a:r>
            <a:br>
              <a:rPr lang="en-US" dirty="0"/>
            </a:br>
            <a:endParaRPr lang="en-IN" dirty="0"/>
          </a:p>
        </p:txBody>
      </p:sp>
      <p:graphicFrame>
        <p:nvGraphicFramePr>
          <p:cNvPr id="7" name="Table 6">
            <a:extLst>
              <a:ext uri="{FF2B5EF4-FFF2-40B4-BE49-F238E27FC236}">
                <a16:creationId xmlns:a16="http://schemas.microsoft.com/office/drawing/2014/main" id="{F0DCA9D1-C32F-8FE3-41A1-FF4351F3712B}"/>
              </a:ext>
            </a:extLst>
          </p:cNvPr>
          <p:cNvGraphicFramePr>
            <a:graphicFrameLocks noGrp="1"/>
          </p:cNvGraphicFramePr>
          <p:nvPr>
            <p:extLst>
              <p:ext uri="{D42A27DB-BD31-4B8C-83A1-F6EECF244321}">
                <p14:modId xmlns:p14="http://schemas.microsoft.com/office/powerpoint/2010/main" val="3971235202"/>
              </p:ext>
            </p:extLst>
          </p:nvPr>
        </p:nvGraphicFramePr>
        <p:xfrm>
          <a:off x="2192421" y="1377392"/>
          <a:ext cx="7530676" cy="278130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916609185"/>
                    </a:ext>
                  </a:extLst>
                </a:gridCol>
                <a:gridCol w="2557825">
                  <a:extLst>
                    <a:ext uri="{9D8B030D-6E8A-4147-A177-3AD203B41FA5}">
                      <a16:colId xmlns:a16="http://schemas.microsoft.com/office/drawing/2014/main" val="2788228381"/>
                    </a:ext>
                  </a:extLst>
                </a:gridCol>
                <a:gridCol w="2263518">
                  <a:extLst>
                    <a:ext uri="{9D8B030D-6E8A-4147-A177-3AD203B41FA5}">
                      <a16:colId xmlns:a16="http://schemas.microsoft.com/office/drawing/2014/main" val="2187524941"/>
                    </a:ext>
                  </a:extLst>
                </a:gridCol>
              </a:tblGrid>
              <a:tr h="370840">
                <a:tc>
                  <a:txBody>
                    <a:bodyPr/>
                    <a:lstStyle/>
                    <a:p>
                      <a:pPr algn="l" fontAlgn="b"/>
                      <a:r>
                        <a:rPr lang="en-IN" sz="3600" b="0" i="0" u="none" strike="noStrike" dirty="0">
                          <a:solidFill>
                            <a:srgbClr val="000000"/>
                          </a:solidFill>
                          <a:effectLst/>
                          <a:latin typeface="Calibri" panose="020F0502020204030204" pitchFamily="34" charset="0"/>
                        </a:rPr>
                        <a:t>Code</a:t>
                      </a:r>
                    </a:p>
                  </a:txBody>
                  <a:tcPr marL="7620" marR="7620" marT="7620" marB="0" anchor="b"/>
                </a:tc>
                <a:tc>
                  <a:txBody>
                    <a:bodyPr/>
                    <a:lstStyle/>
                    <a:p>
                      <a:pPr algn="l" fontAlgn="b"/>
                      <a:r>
                        <a:rPr lang="en-IN" sz="3600" b="0" i="0" u="none" strike="noStrike" dirty="0">
                          <a:solidFill>
                            <a:srgbClr val="000000"/>
                          </a:solidFill>
                          <a:effectLst/>
                          <a:latin typeface="Calibri" panose="020F0502020204030204" pitchFamily="34" charset="0"/>
                        </a:rPr>
                        <a:t>statement </a:t>
                      </a:r>
                    </a:p>
                  </a:txBody>
                  <a:tcPr marL="7620" marR="7620" marT="7620" marB="0" anchor="b"/>
                </a:tc>
                <a:tc>
                  <a:txBody>
                    <a:bodyPr/>
                    <a:lstStyle/>
                    <a:p>
                      <a:pPr algn="l" fontAlgn="b"/>
                      <a:r>
                        <a:rPr lang="en-IN" sz="3600" b="0" i="0" u="none" strike="noStrike">
                          <a:solidFill>
                            <a:srgbClr val="000000"/>
                          </a:solidFill>
                          <a:effectLst/>
                          <a:latin typeface="Calibri" panose="020F0502020204030204" pitchFamily="34" charset="0"/>
                        </a:rPr>
                        <a:t>numb</a:t>
                      </a:r>
                    </a:p>
                  </a:txBody>
                  <a:tcPr marL="7620" marR="7620" marT="7620" marB="0" anchor="b"/>
                </a:tc>
                <a:extLst>
                  <a:ext uri="{0D108BD9-81ED-4DB2-BD59-A6C34878D82A}">
                    <a16:rowId xmlns:a16="http://schemas.microsoft.com/office/drawing/2014/main" val="277744922"/>
                  </a:ext>
                </a:extLst>
              </a:tr>
              <a:tr h="370840">
                <a:tc>
                  <a:txBody>
                    <a:bodyPr/>
                    <a:lstStyle/>
                    <a:p>
                      <a:pPr algn="r" fontAlgn="b"/>
                      <a:r>
                        <a:rPr lang="en-IN" sz="3600" b="0" i="0" u="none" strike="noStrike" dirty="0">
                          <a:solidFill>
                            <a:srgbClr val="000000"/>
                          </a:solidFill>
                          <a:effectLst/>
                          <a:latin typeface="Calibri" panose="020F0502020204030204" pitchFamily="34" charset="0"/>
                        </a:rPr>
                        <a:t>1</a:t>
                      </a:r>
                    </a:p>
                  </a:txBody>
                  <a:tcPr marL="7620" marR="7620" marT="7620" marB="0" anchor="b"/>
                </a:tc>
                <a:tc>
                  <a:txBody>
                    <a:bodyPr/>
                    <a:lstStyle/>
                    <a:p>
                      <a:pPr algn="r" fontAlgn="b"/>
                      <a:r>
                        <a:rPr lang="en-IN" sz="3600" b="0" i="0" u="none" strike="noStrike" dirty="0">
                          <a:solidFill>
                            <a:srgbClr val="000000"/>
                          </a:solidFill>
                          <a:effectLst/>
                          <a:latin typeface="Calibri" panose="020F0502020204030204" pitchFamily="34" charset="0"/>
                        </a:rPr>
                        <a:t>Moderately</a:t>
                      </a:r>
                    </a:p>
                  </a:txBody>
                  <a:tcPr marL="7620" marR="7620" marT="7620" marB="0" anchor="b"/>
                </a:tc>
                <a:tc>
                  <a:txBody>
                    <a:bodyPr/>
                    <a:lstStyle/>
                    <a:p>
                      <a:pPr algn="r" fontAlgn="b"/>
                      <a:r>
                        <a:rPr lang="en-IN" sz="3600" b="0" i="0" u="none" strike="noStrike">
                          <a:solidFill>
                            <a:srgbClr val="000000"/>
                          </a:solidFill>
                          <a:effectLst/>
                          <a:latin typeface="Calibri" panose="020F0502020204030204" pitchFamily="34" charset="0"/>
                        </a:rPr>
                        <a:t>39</a:t>
                      </a:r>
                    </a:p>
                  </a:txBody>
                  <a:tcPr marL="7620" marR="7620" marT="7620" marB="0" anchor="b"/>
                </a:tc>
                <a:extLst>
                  <a:ext uri="{0D108BD9-81ED-4DB2-BD59-A6C34878D82A}">
                    <a16:rowId xmlns:a16="http://schemas.microsoft.com/office/drawing/2014/main" val="3069857570"/>
                  </a:ext>
                </a:extLst>
              </a:tr>
              <a:tr h="370840">
                <a:tc>
                  <a:txBody>
                    <a:bodyPr/>
                    <a:lstStyle/>
                    <a:p>
                      <a:pPr algn="r" fontAlgn="b"/>
                      <a:r>
                        <a:rPr lang="en-IN" sz="3600" b="0" i="0" u="none" strike="noStrike" dirty="0">
                          <a:solidFill>
                            <a:srgbClr val="000000"/>
                          </a:solidFill>
                          <a:effectLst/>
                          <a:latin typeface="Calibri" panose="020F0502020204030204" pitchFamily="34" charset="0"/>
                        </a:rPr>
                        <a:t>2</a:t>
                      </a:r>
                    </a:p>
                  </a:txBody>
                  <a:tcPr marL="7620" marR="7620" marT="7620" marB="0" anchor="b"/>
                </a:tc>
                <a:tc>
                  <a:txBody>
                    <a:bodyPr/>
                    <a:lstStyle/>
                    <a:p>
                      <a:pPr algn="r" fontAlgn="b"/>
                      <a:r>
                        <a:rPr lang="en-IN" sz="3600" b="0" i="0" u="none" strike="noStrike" dirty="0">
                          <a:solidFill>
                            <a:srgbClr val="000000"/>
                          </a:solidFill>
                          <a:effectLst/>
                          <a:latin typeface="Calibri" panose="020F0502020204030204" pitchFamily="34" charset="0"/>
                        </a:rPr>
                        <a:t>Not at all</a:t>
                      </a:r>
                    </a:p>
                  </a:txBody>
                  <a:tcPr marL="7620" marR="7620" marT="7620" marB="0" anchor="b"/>
                </a:tc>
                <a:tc>
                  <a:txBody>
                    <a:bodyPr/>
                    <a:lstStyle/>
                    <a:p>
                      <a:pPr algn="r" fontAlgn="b"/>
                      <a:r>
                        <a:rPr lang="en-IN" sz="3600" b="0" i="0" u="none" strike="noStrike">
                          <a:solidFill>
                            <a:srgbClr val="000000"/>
                          </a:solidFill>
                          <a:effectLst/>
                          <a:latin typeface="Calibri" panose="020F0502020204030204" pitchFamily="34" charset="0"/>
                        </a:rPr>
                        <a:t>19</a:t>
                      </a:r>
                    </a:p>
                  </a:txBody>
                  <a:tcPr marL="7620" marR="7620" marT="7620" marB="0" anchor="b"/>
                </a:tc>
                <a:extLst>
                  <a:ext uri="{0D108BD9-81ED-4DB2-BD59-A6C34878D82A}">
                    <a16:rowId xmlns:a16="http://schemas.microsoft.com/office/drawing/2014/main" val="2828546655"/>
                  </a:ext>
                </a:extLst>
              </a:tr>
              <a:tr h="370840">
                <a:tc>
                  <a:txBody>
                    <a:bodyPr/>
                    <a:lstStyle/>
                    <a:p>
                      <a:pPr algn="r" fontAlgn="b"/>
                      <a:r>
                        <a:rPr lang="en-IN" sz="3600" b="0" i="0" u="none" strike="noStrike" dirty="0">
                          <a:solidFill>
                            <a:srgbClr val="000000"/>
                          </a:solidFill>
                          <a:effectLst/>
                          <a:latin typeface="Calibri" panose="020F0502020204030204" pitchFamily="34" charset="0"/>
                        </a:rPr>
                        <a:t>3</a:t>
                      </a:r>
                    </a:p>
                  </a:txBody>
                  <a:tcPr marL="7620" marR="7620" marT="7620" marB="0" anchor="b"/>
                </a:tc>
                <a:tc>
                  <a:txBody>
                    <a:bodyPr/>
                    <a:lstStyle/>
                    <a:p>
                      <a:pPr algn="r" fontAlgn="b"/>
                      <a:r>
                        <a:rPr lang="en-IN" sz="3600" b="0" i="0" u="none" strike="noStrike" dirty="0">
                          <a:solidFill>
                            <a:srgbClr val="000000"/>
                          </a:solidFill>
                          <a:effectLst/>
                          <a:latin typeface="Calibri" panose="020F0502020204030204" pitchFamily="34" charset="0"/>
                        </a:rPr>
                        <a:t>Significantly</a:t>
                      </a:r>
                    </a:p>
                  </a:txBody>
                  <a:tcPr marL="7620" marR="7620" marT="7620" marB="0" anchor="b"/>
                </a:tc>
                <a:tc>
                  <a:txBody>
                    <a:bodyPr/>
                    <a:lstStyle/>
                    <a:p>
                      <a:pPr algn="r" fontAlgn="b"/>
                      <a:r>
                        <a:rPr lang="en-IN" sz="3600" b="0" i="0" u="none" strike="noStrike">
                          <a:solidFill>
                            <a:srgbClr val="000000"/>
                          </a:solidFill>
                          <a:effectLst/>
                          <a:latin typeface="Calibri" panose="020F0502020204030204" pitchFamily="34" charset="0"/>
                        </a:rPr>
                        <a:t>18</a:t>
                      </a:r>
                    </a:p>
                  </a:txBody>
                  <a:tcPr marL="7620" marR="7620" marT="7620" marB="0" anchor="b"/>
                </a:tc>
                <a:extLst>
                  <a:ext uri="{0D108BD9-81ED-4DB2-BD59-A6C34878D82A}">
                    <a16:rowId xmlns:a16="http://schemas.microsoft.com/office/drawing/2014/main" val="627939977"/>
                  </a:ext>
                </a:extLst>
              </a:tr>
              <a:tr h="370840">
                <a:tc>
                  <a:txBody>
                    <a:bodyPr/>
                    <a:lstStyle/>
                    <a:p>
                      <a:pPr algn="r" fontAlgn="b"/>
                      <a:r>
                        <a:rPr lang="en-IN" sz="3600" b="0" i="0" u="none" strike="noStrike" dirty="0">
                          <a:solidFill>
                            <a:srgbClr val="000000"/>
                          </a:solidFill>
                          <a:effectLst/>
                          <a:latin typeface="Calibri" panose="020F0502020204030204" pitchFamily="34" charset="0"/>
                        </a:rPr>
                        <a:t>4</a:t>
                      </a:r>
                    </a:p>
                  </a:txBody>
                  <a:tcPr marL="7620" marR="7620" marT="7620" marB="0" anchor="b"/>
                </a:tc>
                <a:tc>
                  <a:txBody>
                    <a:bodyPr/>
                    <a:lstStyle/>
                    <a:p>
                      <a:pPr algn="r" fontAlgn="b"/>
                      <a:r>
                        <a:rPr lang="en-IN" sz="3600" b="0" i="0" u="none" strike="noStrike" dirty="0">
                          <a:solidFill>
                            <a:srgbClr val="000000"/>
                          </a:solidFill>
                          <a:effectLst/>
                          <a:latin typeface="Calibri" panose="020F0502020204030204" pitchFamily="34" charset="0"/>
                        </a:rPr>
                        <a:t>slightly</a:t>
                      </a:r>
                    </a:p>
                  </a:txBody>
                  <a:tcPr marL="7620" marR="7620" marT="7620" marB="0" anchor="b"/>
                </a:tc>
                <a:tc>
                  <a:txBody>
                    <a:bodyPr/>
                    <a:lstStyle/>
                    <a:p>
                      <a:pPr algn="r" fontAlgn="b"/>
                      <a:r>
                        <a:rPr lang="en-IN" sz="3600" b="0" i="0" u="none" strike="noStrike" dirty="0">
                          <a:solidFill>
                            <a:srgbClr val="000000"/>
                          </a:solidFill>
                          <a:effectLst/>
                          <a:latin typeface="Calibri" panose="020F0502020204030204" pitchFamily="34" charset="0"/>
                        </a:rPr>
                        <a:t>36</a:t>
                      </a:r>
                    </a:p>
                  </a:txBody>
                  <a:tcPr marL="7620" marR="7620" marT="7620" marB="0" anchor="b"/>
                </a:tc>
                <a:extLst>
                  <a:ext uri="{0D108BD9-81ED-4DB2-BD59-A6C34878D82A}">
                    <a16:rowId xmlns:a16="http://schemas.microsoft.com/office/drawing/2014/main" val="488195324"/>
                  </a:ext>
                </a:extLst>
              </a:tr>
            </a:tbl>
          </a:graphicData>
        </a:graphic>
      </p:graphicFrame>
      <p:sp>
        <p:nvSpPr>
          <p:cNvPr id="9" name="TextBox 8">
            <a:extLst>
              <a:ext uri="{FF2B5EF4-FFF2-40B4-BE49-F238E27FC236}">
                <a16:creationId xmlns:a16="http://schemas.microsoft.com/office/drawing/2014/main" id="{82EEBBE8-A02C-871D-80ED-75623B7F3E73}"/>
              </a:ext>
            </a:extLst>
          </p:cNvPr>
          <p:cNvSpPr txBox="1"/>
          <p:nvPr/>
        </p:nvSpPr>
        <p:spPr>
          <a:xfrm>
            <a:off x="3561347" y="4892842"/>
            <a:ext cx="3112169" cy="646331"/>
          </a:xfrm>
          <a:prstGeom prst="rect">
            <a:avLst/>
          </a:prstGeom>
          <a:noFill/>
        </p:spPr>
        <p:txBody>
          <a:bodyPr wrap="square" rtlCol="0">
            <a:spAutoFit/>
          </a:bodyPr>
          <a:lstStyle/>
          <a:p>
            <a:r>
              <a:rPr lang="en-IN" sz="3600" dirty="0"/>
              <a:t>Mode = 1</a:t>
            </a:r>
          </a:p>
        </p:txBody>
      </p:sp>
    </p:spTree>
    <p:extLst>
      <p:ext uri="{BB962C8B-B14F-4D97-AF65-F5344CB8AC3E}">
        <p14:creationId xmlns:p14="http://schemas.microsoft.com/office/powerpoint/2010/main" val="17133943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25B5A0E-59AF-E112-D377-DE0AC403E1AD}"/>
              </a:ext>
            </a:extLst>
          </p:cNvPr>
          <p:cNvPicPr>
            <a:picLocks noChangeAspect="1"/>
          </p:cNvPicPr>
          <p:nvPr/>
        </p:nvPicPr>
        <p:blipFill>
          <a:blip r:embed="rId2"/>
          <a:stretch>
            <a:fillRect/>
          </a:stretch>
        </p:blipFill>
        <p:spPr>
          <a:xfrm>
            <a:off x="0" y="863385"/>
            <a:ext cx="12192000" cy="5131229"/>
          </a:xfrm>
          <a:prstGeom prst="rect">
            <a:avLst/>
          </a:prstGeom>
        </p:spPr>
      </p:pic>
    </p:spTree>
    <p:extLst>
      <p:ext uri="{BB962C8B-B14F-4D97-AF65-F5344CB8AC3E}">
        <p14:creationId xmlns:p14="http://schemas.microsoft.com/office/powerpoint/2010/main" val="232966278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33D096-07C4-70A3-7589-0A8BE80F17F5}"/>
              </a:ext>
            </a:extLst>
          </p:cNvPr>
          <p:cNvSpPr>
            <a:spLocks noGrp="1"/>
          </p:cNvSpPr>
          <p:nvPr>
            <p:ph type="title"/>
          </p:nvPr>
        </p:nvSpPr>
        <p:spPr/>
        <p:txBody>
          <a:bodyPr>
            <a:normAutofit fontScale="90000"/>
          </a:bodyPr>
          <a:lstStyle/>
          <a:p>
            <a:r>
              <a:rPr lang="en-IN" dirty="0"/>
              <a:t>skewness	0.061409206</a:t>
            </a:r>
            <a:br>
              <a:rPr lang="en-IN" dirty="0"/>
            </a:br>
            <a:r>
              <a:rPr lang="en-IN" dirty="0"/>
              <a:t>kurtosis	-1.66555473</a:t>
            </a:r>
            <a:br>
              <a:rPr lang="en-IN" dirty="0"/>
            </a:br>
            <a:endParaRPr lang="en-IN" dirty="0"/>
          </a:p>
        </p:txBody>
      </p:sp>
      <p:pic>
        <p:nvPicPr>
          <p:cNvPr id="4" name="Picture 3">
            <a:extLst>
              <a:ext uri="{FF2B5EF4-FFF2-40B4-BE49-F238E27FC236}">
                <a16:creationId xmlns:a16="http://schemas.microsoft.com/office/drawing/2014/main" id="{08F6A7E0-2FE9-A649-376F-C5DBD3BCE5A1}"/>
              </a:ext>
            </a:extLst>
          </p:cNvPr>
          <p:cNvPicPr>
            <a:picLocks noChangeAspect="1"/>
          </p:cNvPicPr>
          <p:nvPr/>
        </p:nvPicPr>
        <p:blipFill>
          <a:blip r:embed="rId2"/>
          <a:stretch>
            <a:fillRect/>
          </a:stretch>
        </p:blipFill>
        <p:spPr>
          <a:xfrm>
            <a:off x="1796716" y="2051184"/>
            <a:ext cx="8069180" cy="4935836"/>
          </a:xfrm>
          <a:prstGeom prst="rect">
            <a:avLst/>
          </a:prstGeom>
        </p:spPr>
      </p:pic>
    </p:spTree>
    <p:extLst>
      <p:ext uri="{BB962C8B-B14F-4D97-AF65-F5344CB8AC3E}">
        <p14:creationId xmlns:p14="http://schemas.microsoft.com/office/powerpoint/2010/main" val="1247292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5A967-5347-D97C-5052-9BA31300C134}"/>
              </a:ext>
            </a:extLst>
          </p:cNvPr>
          <p:cNvSpPr>
            <a:spLocks noGrp="1"/>
          </p:cNvSpPr>
          <p:nvPr>
            <p:ph type="title"/>
          </p:nvPr>
        </p:nvSpPr>
        <p:spPr>
          <a:xfrm>
            <a:off x="838200" y="2430170"/>
            <a:ext cx="10515600" cy="1325563"/>
          </a:xfrm>
        </p:spPr>
        <p:txBody>
          <a:bodyPr>
            <a:normAutofit fontScale="90000"/>
          </a:bodyPr>
          <a:lstStyle/>
          <a:p>
            <a:r>
              <a:rPr lang="en-IN" dirty="0"/>
              <a:t>Inference </a:t>
            </a:r>
            <a:r>
              <a:rPr lang="en-US" dirty="0"/>
              <a:t>The largest portion of respondents (39%) indicates that social media influencers impact their beauty and skincare routine “moderately.” </a:t>
            </a:r>
            <a:br>
              <a:rPr lang="en-IN" dirty="0"/>
            </a:br>
            <a:r>
              <a:rPr lang="en-IN" dirty="0"/>
              <a:t>Insight</a:t>
            </a:r>
            <a:r>
              <a:rPr lang="en-US" dirty="0"/>
              <a:t> Social media influencers have a varied impact on beauty and skincare routines, with the majority experiencing moderate to slight influence.</a:t>
            </a:r>
            <a:br>
              <a:rPr lang="en-US" dirty="0"/>
            </a:br>
            <a:r>
              <a:rPr lang="en-US"/>
              <a:t>Recommendation: Encourage individuals to approach beauty and skincare advice from influencers with a critical eye. </a:t>
            </a:r>
            <a:endParaRPr lang="en-IN" dirty="0"/>
          </a:p>
        </p:txBody>
      </p:sp>
      <p:sp>
        <p:nvSpPr>
          <p:cNvPr id="3" name="Content Placeholder 2">
            <a:extLst>
              <a:ext uri="{FF2B5EF4-FFF2-40B4-BE49-F238E27FC236}">
                <a16:creationId xmlns:a16="http://schemas.microsoft.com/office/drawing/2014/main" id="{893F4502-86B6-564A-26E8-8785F2623C32}"/>
              </a:ext>
            </a:extLst>
          </p:cNvPr>
          <p:cNvSpPr>
            <a:spLocks noGrp="1"/>
          </p:cNvSpPr>
          <p:nvPr>
            <p:ph idx="1"/>
          </p:nvPr>
        </p:nvSpPr>
        <p:spPr>
          <a:xfrm>
            <a:off x="838200" y="1135814"/>
            <a:ext cx="10515600" cy="4351338"/>
          </a:xfrm>
        </p:spPr>
        <p:txBody>
          <a:bodyPr/>
          <a:lstStyle/>
          <a:p>
            <a:endParaRPr lang="en-IN" dirty="0"/>
          </a:p>
          <a:p>
            <a:pPr marL="0" indent="0">
              <a:buNone/>
            </a:pPr>
            <a:endParaRPr lang="en-IN" dirty="0"/>
          </a:p>
        </p:txBody>
      </p:sp>
    </p:spTree>
    <p:extLst>
      <p:ext uri="{BB962C8B-B14F-4D97-AF65-F5344CB8AC3E}">
        <p14:creationId xmlns:p14="http://schemas.microsoft.com/office/powerpoint/2010/main" val="161548382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31DDF6F-4672-A07F-52D0-17557950030A}"/>
              </a:ext>
            </a:extLst>
          </p:cNvPr>
          <p:cNvSpPr txBox="1"/>
          <p:nvPr/>
        </p:nvSpPr>
        <p:spPr>
          <a:xfrm>
            <a:off x="112295" y="192505"/>
            <a:ext cx="12079705" cy="954107"/>
          </a:xfrm>
          <a:prstGeom prst="rect">
            <a:avLst/>
          </a:prstGeom>
          <a:noFill/>
        </p:spPr>
        <p:txBody>
          <a:bodyPr wrap="square" rtlCol="0">
            <a:spAutoFit/>
          </a:bodyPr>
          <a:lstStyle/>
          <a:p>
            <a:r>
              <a:rPr lang="en-IN" sz="2800" b="0" i="0" u="none" strike="noStrike" dirty="0">
                <a:effectLst/>
                <a:latin typeface="Times New Roman" panose="02020603050405020304" pitchFamily="18" charset="0"/>
                <a:cs typeface="Times New Roman" panose="02020603050405020304" pitchFamily="18" charset="0"/>
              </a:rPr>
              <a:t>11. How often do you choose travel destinations based on social media influencers' recommendations?</a:t>
            </a:r>
            <a:r>
              <a:rPr lang="en-IN" sz="2800" dirty="0">
                <a:latin typeface="Times New Roman" panose="02020603050405020304" pitchFamily="18" charset="0"/>
                <a:cs typeface="Times New Roman" panose="02020603050405020304" pitchFamily="18" charset="0"/>
              </a:rPr>
              <a:t> </a:t>
            </a:r>
          </a:p>
        </p:txBody>
      </p:sp>
      <p:graphicFrame>
        <p:nvGraphicFramePr>
          <p:cNvPr id="3" name="Table 2">
            <a:extLst>
              <a:ext uri="{FF2B5EF4-FFF2-40B4-BE49-F238E27FC236}">
                <a16:creationId xmlns:a16="http://schemas.microsoft.com/office/drawing/2014/main" id="{8D70F139-2267-4750-0C31-ECC1C6949659}"/>
              </a:ext>
            </a:extLst>
          </p:cNvPr>
          <p:cNvGraphicFramePr>
            <a:graphicFrameLocks noGrp="1"/>
          </p:cNvGraphicFramePr>
          <p:nvPr>
            <p:extLst>
              <p:ext uri="{D42A27DB-BD31-4B8C-83A1-F6EECF244321}">
                <p14:modId xmlns:p14="http://schemas.microsoft.com/office/powerpoint/2010/main" val="2910014077"/>
              </p:ext>
            </p:extLst>
          </p:nvPr>
        </p:nvGraphicFramePr>
        <p:xfrm>
          <a:off x="112295" y="1514642"/>
          <a:ext cx="12079704" cy="3505200"/>
        </p:xfrm>
        <a:graphic>
          <a:graphicData uri="http://schemas.openxmlformats.org/drawingml/2006/table">
            <a:tbl>
              <a:tblPr firstRow="1" bandRow="1">
                <a:tableStyleId>{5C22544A-7EE6-4342-B048-85BDC9FD1C3A}</a:tableStyleId>
              </a:tblPr>
              <a:tblGrid>
                <a:gridCol w="4026568">
                  <a:extLst>
                    <a:ext uri="{9D8B030D-6E8A-4147-A177-3AD203B41FA5}">
                      <a16:colId xmlns:a16="http://schemas.microsoft.com/office/drawing/2014/main" val="2760088613"/>
                    </a:ext>
                  </a:extLst>
                </a:gridCol>
                <a:gridCol w="4026568">
                  <a:extLst>
                    <a:ext uri="{9D8B030D-6E8A-4147-A177-3AD203B41FA5}">
                      <a16:colId xmlns:a16="http://schemas.microsoft.com/office/drawing/2014/main" val="2918143068"/>
                    </a:ext>
                  </a:extLst>
                </a:gridCol>
                <a:gridCol w="4026568">
                  <a:extLst>
                    <a:ext uri="{9D8B030D-6E8A-4147-A177-3AD203B41FA5}">
                      <a16:colId xmlns:a16="http://schemas.microsoft.com/office/drawing/2014/main" val="166689399"/>
                    </a:ext>
                  </a:extLst>
                </a:gridCol>
              </a:tblGrid>
              <a:tr h="0">
                <a:tc>
                  <a:txBody>
                    <a:bodyPr/>
                    <a:lstStyle/>
                    <a:p>
                      <a:r>
                        <a:rPr lang="en-IN" sz="4000" b="0" dirty="0">
                          <a:solidFill>
                            <a:schemeClr val="bg1"/>
                          </a:solidFill>
                          <a:latin typeface="Times New Roman" panose="02020603050405020304" pitchFamily="18" charset="0"/>
                          <a:cs typeface="Times New Roman" panose="02020603050405020304" pitchFamily="18" charset="0"/>
                        </a:rPr>
                        <a:t>Code</a:t>
                      </a:r>
                    </a:p>
                  </a:txBody>
                  <a:tcPr/>
                </a:tc>
                <a:tc>
                  <a:txBody>
                    <a:bodyPr/>
                    <a:lstStyle/>
                    <a:p>
                      <a:pPr algn="l" fontAlgn="b"/>
                      <a:r>
                        <a:rPr lang="en-IN" sz="4000" b="0" i="0" u="none" strike="noStrike" dirty="0">
                          <a:solidFill>
                            <a:srgbClr val="000000"/>
                          </a:solidFill>
                          <a:effectLst/>
                          <a:latin typeface="Times New Roman" panose="02020603050405020304" pitchFamily="18" charset="0"/>
                          <a:cs typeface="Times New Roman" panose="02020603050405020304" pitchFamily="18" charset="0"/>
                        </a:rPr>
                        <a:t>Statement</a:t>
                      </a:r>
                    </a:p>
                  </a:txBody>
                  <a:tcPr marL="7620" marR="7620" marT="7620" marB="0" anchor="b"/>
                </a:tc>
                <a:tc>
                  <a:txBody>
                    <a:bodyPr/>
                    <a:lstStyle/>
                    <a:p>
                      <a:pPr algn="l" fontAlgn="b"/>
                      <a:r>
                        <a:rPr lang="en-IN" sz="4000" b="0" i="0" u="none" strike="noStrike">
                          <a:solidFill>
                            <a:srgbClr val="000000"/>
                          </a:solidFill>
                          <a:effectLst/>
                          <a:latin typeface="Times New Roman" panose="02020603050405020304" pitchFamily="18" charset="0"/>
                          <a:cs typeface="Times New Roman" panose="02020603050405020304" pitchFamily="18" charset="0"/>
                        </a:rPr>
                        <a:t>Numberes</a:t>
                      </a:r>
                    </a:p>
                  </a:txBody>
                  <a:tcPr marL="7620" marR="7620" marT="7620" marB="0" anchor="b"/>
                </a:tc>
                <a:extLst>
                  <a:ext uri="{0D108BD9-81ED-4DB2-BD59-A6C34878D82A}">
                    <a16:rowId xmlns:a16="http://schemas.microsoft.com/office/drawing/2014/main" val="72597629"/>
                  </a:ext>
                </a:extLst>
              </a:tr>
              <a:tr h="370840">
                <a:tc>
                  <a:txBody>
                    <a:bodyPr/>
                    <a:lstStyle/>
                    <a:p>
                      <a:r>
                        <a:rPr lang="en-IN" sz="4000" dirty="0">
                          <a:latin typeface="Times New Roman" panose="02020603050405020304" pitchFamily="18" charset="0"/>
                          <a:cs typeface="Times New Roman" panose="02020603050405020304" pitchFamily="18" charset="0"/>
                        </a:rPr>
                        <a:t>1</a:t>
                      </a:r>
                    </a:p>
                  </a:txBody>
                  <a:tcPr/>
                </a:tc>
                <a:tc>
                  <a:txBody>
                    <a:bodyPr/>
                    <a:lstStyle/>
                    <a:p>
                      <a:pPr algn="r" fontAlgn="b"/>
                      <a:r>
                        <a:rPr lang="en-IN" sz="4000" b="0" i="0" u="none" strike="noStrike" dirty="0">
                          <a:solidFill>
                            <a:srgbClr val="000000"/>
                          </a:solidFill>
                          <a:effectLst/>
                          <a:latin typeface="Times New Roman" panose="02020603050405020304" pitchFamily="18" charset="0"/>
                          <a:cs typeface="Times New Roman" panose="02020603050405020304" pitchFamily="18" charset="0"/>
                        </a:rPr>
                        <a:t>Often</a:t>
                      </a:r>
                    </a:p>
                  </a:txBody>
                  <a:tcPr marL="7620" marR="7620" marT="7620" marB="0" anchor="b"/>
                </a:tc>
                <a:tc>
                  <a:txBody>
                    <a:bodyPr/>
                    <a:lstStyle/>
                    <a:p>
                      <a:pPr algn="r" fontAlgn="b"/>
                      <a:r>
                        <a:rPr lang="en-IN" sz="4000" b="0" i="0" u="none" strike="noStrike" dirty="0">
                          <a:solidFill>
                            <a:srgbClr val="000000"/>
                          </a:solidFill>
                          <a:effectLst/>
                          <a:latin typeface="Times New Roman" panose="02020603050405020304" pitchFamily="18" charset="0"/>
                          <a:cs typeface="Times New Roman" panose="02020603050405020304" pitchFamily="18" charset="0"/>
                        </a:rPr>
                        <a:t>15</a:t>
                      </a:r>
                    </a:p>
                  </a:txBody>
                  <a:tcPr marL="7620" marR="7620" marT="7620" marB="0" anchor="b"/>
                </a:tc>
                <a:extLst>
                  <a:ext uri="{0D108BD9-81ED-4DB2-BD59-A6C34878D82A}">
                    <a16:rowId xmlns:a16="http://schemas.microsoft.com/office/drawing/2014/main" val="2978095225"/>
                  </a:ext>
                </a:extLst>
              </a:tr>
              <a:tr h="370840">
                <a:tc>
                  <a:txBody>
                    <a:bodyPr/>
                    <a:lstStyle/>
                    <a:p>
                      <a:r>
                        <a:rPr lang="en-IN" sz="4000" dirty="0">
                          <a:latin typeface="Times New Roman" panose="02020603050405020304" pitchFamily="18" charset="0"/>
                          <a:cs typeface="Times New Roman" panose="02020603050405020304" pitchFamily="18" charset="0"/>
                        </a:rPr>
                        <a:t>2</a:t>
                      </a:r>
                    </a:p>
                  </a:txBody>
                  <a:tcPr/>
                </a:tc>
                <a:tc>
                  <a:txBody>
                    <a:bodyPr/>
                    <a:lstStyle/>
                    <a:p>
                      <a:pPr algn="r" fontAlgn="b"/>
                      <a:r>
                        <a:rPr lang="en-IN" sz="4000" b="0" i="0" u="none" strike="noStrike" dirty="0">
                          <a:solidFill>
                            <a:srgbClr val="000000"/>
                          </a:solidFill>
                          <a:effectLst/>
                          <a:latin typeface="Times New Roman" panose="02020603050405020304" pitchFamily="18" charset="0"/>
                          <a:cs typeface="Times New Roman" panose="02020603050405020304" pitchFamily="18" charset="0"/>
                        </a:rPr>
                        <a:t>Sometimes</a:t>
                      </a:r>
                    </a:p>
                  </a:txBody>
                  <a:tcPr marL="7620" marR="7620" marT="7620" marB="0" anchor="b"/>
                </a:tc>
                <a:tc>
                  <a:txBody>
                    <a:bodyPr/>
                    <a:lstStyle/>
                    <a:p>
                      <a:pPr algn="r" fontAlgn="b"/>
                      <a:r>
                        <a:rPr lang="en-IN" sz="4000" b="0" i="0" u="none" strike="noStrike">
                          <a:solidFill>
                            <a:srgbClr val="000000"/>
                          </a:solidFill>
                          <a:effectLst/>
                          <a:latin typeface="Times New Roman" panose="02020603050405020304" pitchFamily="18" charset="0"/>
                          <a:cs typeface="Times New Roman" panose="02020603050405020304" pitchFamily="18" charset="0"/>
                        </a:rPr>
                        <a:t>53</a:t>
                      </a:r>
                    </a:p>
                  </a:txBody>
                  <a:tcPr marL="7620" marR="7620" marT="7620" marB="0" anchor="b"/>
                </a:tc>
                <a:extLst>
                  <a:ext uri="{0D108BD9-81ED-4DB2-BD59-A6C34878D82A}">
                    <a16:rowId xmlns:a16="http://schemas.microsoft.com/office/drawing/2014/main" val="434868349"/>
                  </a:ext>
                </a:extLst>
              </a:tr>
              <a:tr h="370840">
                <a:tc>
                  <a:txBody>
                    <a:bodyPr/>
                    <a:lstStyle/>
                    <a:p>
                      <a:r>
                        <a:rPr lang="en-IN" sz="4000" dirty="0">
                          <a:latin typeface="Times New Roman" panose="02020603050405020304" pitchFamily="18" charset="0"/>
                          <a:cs typeface="Times New Roman" panose="02020603050405020304" pitchFamily="18" charset="0"/>
                        </a:rPr>
                        <a:t>3</a:t>
                      </a:r>
                    </a:p>
                  </a:txBody>
                  <a:tcPr/>
                </a:tc>
                <a:tc>
                  <a:txBody>
                    <a:bodyPr/>
                    <a:lstStyle/>
                    <a:p>
                      <a:pPr algn="r" fontAlgn="b"/>
                      <a:r>
                        <a:rPr lang="en-IN" sz="4000" b="0" i="0" u="none" strike="noStrike" dirty="0">
                          <a:solidFill>
                            <a:srgbClr val="000000"/>
                          </a:solidFill>
                          <a:effectLst/>
                          <a:latin typeface="Times New Roman" panose="02020603050405020304" pitchFamily="18" charset="0"/>
                          <a:cs typeface="Times New Roman" panose="02020603050405020304" pitchFamily="18" charset="0"/>
                        </a:rPr>
                        <a:t>Rarely</a:t>
                      </a:r>
                    </a:p>
                  </a:txBody>
                  <a:tcPr marL="7620" marR="7620" marT="7620" marB="0" anchor="b"/>
                </a:tc>
                <a:tc>
                  <a:txBody>
                    <a:bodyPr/>
                    <a:lstStyle/>
                    <a:p>
                      <a:pPr algn="r" fontAlgn="b"/>
                      <a:r>
                        <a:rPr lang="en-IN" sz="4000" b="0" i="0" u="none" strike="noStrike">
                          <a:solidFill>
                            <a:srgbClr val="000000"/>
                          </a:solidFill>
                          <a:effectLst/>
                          <a:latin typeface="Times New Roman" panose="02020603050405020304" pitchFamily="18" charset="0"/>
                          <a:cs typeface="Times New Roman" panose="02020603050405020304" pitchFamily="18" charset="0"/>
                        </a:rPr>
                        <a:t>31</a:t>
                      </a:r>
                    </a:p>
                  </a:txBody>
                  <a:tcPr marL="7620" marR="7620" marT="7620" marB="0" anchor="b"/>
                </a:tc>
                <a:extLst>
                  <a:ext uri="{0D108BD9-81ED-4DB2-BD59-A6C34878D82A}">
                    <a16:rowId xmlns:a16="http://schemas.microsoft.com/office/drawing/2014/main" val="1187213935"/>
                  </a:ext>
                </a:extLst>
              </a:tr>
              <a:tr h="370840">
                <a:tc>
                  <a:txBody>
                    <a:bodyPr/>
                    <a:lstStyle/>
                    <a:p>
                      <a:r>
                        <a:rPr lang="en-IN" sz="4000" dirty="0">
                          <a:latin typeface="Times New Roman" panose="02020603050405020304" pitchFamily="18" charset="0"/>
                          <a:cs typeface="Times New Roman" panose="02020603050405020304" pitchFamily="18" charset="0"/>
                        </a:rPr>
                        <a:t>4</a:t>
                      </a:r>
                    </a:p>
                  </a:txBody>
                  <a:tcPr/>
                </a:tc>
                <a:tc>
                  <a:txBody>
                    <a:bodyPr/>
                    <a:lstStyle/>
                    <a:p>
                      <a:pPr algn="r" fontAlgn="b"/>
                      <a:r>
                        <a:rPr lang="en-IN" sz="4000" b="0" i="0" u="none" strike="noStrike" dirty="0">
                          <a:solidFill>
                            <a:srgbClr val="000000"/>
                          </a:solidFill>
                          <a:effectLst/>
                          <a:latin typeface="Times New Roman" panose="02020603050405020304" pitchFamily="18" charset="0"/>
                          <a:cs typeface="Times New Roman" panose="02020603050405020304" pitchFamily="18" charset="0"/>
                        </a:rPr>
                        <a:t>Never</a:t>
                      </a:r>
                    </a:p>
                  </a:txBody>
                  <a:tcPr marL="7620" marR="7620" marT="7620" marB="0" anchor="b"/>
                </a:tc>
                <a:tc>
                  <a:txBody>
                    <a:bodyPr/>
                    <a:lstStyle/>
                    <a:p>
                      <a:pPr algn="r" fontAlgn="b"/>
                      <a:r>
                        <a:rPr lang="en-IN" sz="4000" b="0" i="0" u="none" strike="noStrike" dirty="0">
                          <a:solidFill>
                            <a:srgbClr val="000000"/>
                          </a:solidFill>
                          <a:effectLst/>
                          <a:latin typeface="Times New Roman" panose="02020603050405020304" pitchFamily="18" charset="0"/>
                          <a:cs typeface="Times New Roman" panose="02020603050405020304" pitchFamily="18" charset="0"/>
                        </a:rPr>
                        <a:t>13</a:t>
                      </a:r>
                    </a:p>
                  </a:txBody>
                  <a:tcPr marL="7620" marR="7620" marT="7620" marB="0" anchor="b"/>
                </a:tc>
                <a:extLst>
                  <a:ext uri="{0D108BD9-81ED-4DB2-BD59-A6C34878D82A}">
                    <a16:rowId xmlns:a16="http://schemas.microsoft.com/office/drawing/2014/main" val="916598403"/>
                  </a:ext>
                </a:extLst>
              </a:tr>
            </a:tbl>
          </a:graphicData>
        </a:graphic>
      </p:graphicFrame>
      <p:sp>
        <p:nvSpPr>
          <p:cNvPr id="4" name="TextBox 3">
            <a:extLst>
              <a:ext uri="{FF2B5EF4-FFF2-40B4-BE49-F238E27FC236}">
                <a16:creationId xmlns:a16="http://schemas.microsoft.com/office/drawing/2014/main" id="{65B5C012-40C1-B798-03FF-B03AC0B5D7B6}"/>
              </a:ext>
            </a:extLst>
          </p:cNvPr>
          <p:cNvSpPr txBox="1"/>
          <p:nvPr/>
        </p:nvSpPr>
        <p:spPr>
          <a:xfrm>
            <a:off x="4604084" y="5710989"/>
            <a:ext cx="3160295" cy="707886"/>
          </a:xfrm>
          <a:prstGeom prst="rect">
            <a:avLst/>
          </a:prstGeom>
          <a:noFill/>
        </p:spPr>
        <p:txBody>
          <a:bodyPr wrap="square" rtlCol="0">
            <a:spAutoFit/>
          </a:bodyPr>
          <a:lstStyle/>
          <a:p>
            <a:r>
              <a:rPr lang="en-IN" sz="4000" dirty="0">
                <a:latin typeface="Times New Roman" panose="02020603050405020304" pitchFamily="18" charset="0"/>
                <a:cs typeface="Times New Roman" panose="02020603050405020304" pitchFamily="18" charset="0"/>
              </a:rPr>
              <a:t>Mode = 2</a:t>
            </a:r>
          </a:p>
        </p:txBody>
      </p:sp>
    </p:spTree>
    <p:extLst>
      <p:ext uri="{BB962C8B-B14F-4D97-AF65-F5344CB8AC3E}">
        <p14:creationId xmlns:p14="http://schemas.microsoft.com/office/powerpoint/2010/main" val="185610514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87B0FCD-8FF1-5504-0FD7-B3DE5EDFDC9A}"/>
              </a:ext>
            </a:extLst>
          </p:cNvPr>
          <p:cNvPicPr>
            <a:picLocks noChangeAspect="1"/>
          </p:cNvPicPr>
          <p:nvPr/>
        </p:nvPicPr>
        <p:blipFill>
          <a:blip r:embed="rId2"/>
          <a:stretch>
            <a:fillRect/>
          </a:stretch>
        </p:blipFill>
        <p:spPr>
          <a:xfrm>
            <a:off x="0" y="664390"/>
            <a:ext cx="12192000" cy="5529219"/>
          </a:xfrm>
          <a:prstGeom prst="rect">
            <a:avLst/>
          </a:prstGeom>
        </p:spPr>
      </p:pic>
    </p:spTree>
    <p:extLst>
      <p:ext uri="{BB962C8B-B14F-4D97-AF65-F5344CB8AC3E}">
        <p14:creationId xmlns:p14="http://schemas.microsoft.com/office/powerpoint/2010/main" val="373356529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C9500C5-BC6B-419F-A4ED-71C1B99E6D0D}"/>
              </a:ext>
            </a:extLst>
          </p:cNvPr>
          <p:cNvSpPr txBox="1"/>
          <p:nvPr/>
        </p:nvSpPr>
        <p:spPr>
          <a:xfrm>
            <a:off x="4170947" y="705853"/>
            <a:ext cx="3994485" cy="984885"/>
          </a:xfrm>
          <a:prstGeom prst="rect">
            <a:avLst/>
          </a:prstGeom>
          <a:noFill/>
        </p:spPr>
        <p:txBody>
          <a:bodyPr wrap="square" rtlCol="0">
            <a:spAutoFit/>
          </a:bodyPr>
          <a:lstStyle/>
          <a:p>
            <a:r>
              <a:rPr lang="en-IN" sz="2800" dirty="0">
                <a:latin typeface="Times New Roman" panose="02020603050405020304" pitchFamily="18" charset="0"/>
                <a:cs typeface="Times New Roman" panose="02020603050405020304" pitchFamily="18" charset="0"/>
              </a:rPr>
              <a:t>Kurtosis	-0.484191115</a:t>
            </a:r>
          </a:p>
          <a:p>
            <a:r>
              <a:rPr lang="en-IN" sz="2800" dirty="0">
                <a:latin typeface="Times New Roman" panose="02020603050405020304" pitchFamily="18" charset="0"/>
                <a:cs typeface="Times New Roman" panose="02020603050405020304" pitchFamily="18" charset="0"/>
              </a:rPr>
              <a:t>Skewness	0.310085943</a:t>
            </a:r>
          </a:p>
        </p:txBody>
      </p:sp>
      <p:pic>
        <p:nvPicPr>
          <p:cNvPr id="5" name="Picture 4">
            <a:extLst>
              <a:ext uri="{FF2B5EF4-FFF2-40B4-BE49-F238E27FC236}">
                <a16:creationId xmlns:a16="http://schemas.microsoft.com/office/drawing/2014/main" id="{64E382EC-66F6-EE47-B456-9E1BCC83C69F}"/>
              </a:ext>
            </a:extLst>
          </p:cNvPr>
          <p:cNvPicPr>
            <a:picLocks noChangeAspect="1"/>
          </p:cNvPicPr>
          <p:nvPr/>
        </p:nvPicPr>
        <p:blipFill>
          <a:blip r:embed="rId2"/>
          <a:stretch>
            <a:fillRect/>
          </a:stretch>
        </p:blipFill>
        <p:spPr>
          <a:xfrm>
            <a:off x="192505" y="2051184"/>
            <a:ext cx="11758863" cy="4897266"/>
          </a:xfrm>
          <a:prstGeom prst="rect">
            <a:avLst/>
          </a:prstGeom>
        </p:spPr>
      </p:pic>
    </p:spTree>
    <p:extLst>
      <p:ext uri="{BB962C8B-B14F-4D97-AF65-F5344CB8AC3E}">
        <p14:creationId xmlns:p14="http://schemas.microsoft.com/office/powerpoint/2010/main" val="283644367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B912D3A-1085-7157-4D8A-14C41E596741}"/>
              </a:ext>
            </a:extLst>
          </p:cNvPr>
          <p:cNvSpPr txBox="1"/>
          <p:nvPr/>
        </p:nvSpPr>
        <p:spPr>
          <a:xfrm>
            <a:off x="1206631" y="870904"/>
            <a:ext cx="9785022" cy="1077218"/>
          </a:xfrm>
          <a:prstGeom prst="rect">
            <a:avLst/>
          </a:prstGeom>
          <a:noFill/>
        </p:spPr>
        <p:txBody>
          <a:bodyPr wrap="square" rtlCol="0">
            <a:spAutoFit/>
          </a:bodyPr>
          <a:lstStyle/>
          <a:p>
            <a:r>
              <a:rPr lang="en-IN" sz="3200" dirty="0">
                <a:latin typeface="Times New Roman" panose="02020603050405020304" pitchFamily="18" charset="0"/>
                <a:cs typeface="Times New Roman" panose="02020603050405020304" pitchFamily="18" charset="0"/>
              </a:rPr>
              <a:t>Inference: Influencers have a moderate impact on destination choices</a:t>
            </a:r>
          </a:p>
        </p:txBody>
      </p:sp>
      <p:sp>
        <p:nvSpPr>
          <p:cNvPr id="3" name="TextBox 2">
            <a:extLst>
              <a:ext uri="{FF2B5EF4-FFF2-40B4-BE49-F238E27FC236}">
                <a16:creationId xmlns:a16="http://schemas.microsoft.com/office/drawing/2014/main" id="{F4840E96-29F8-9C5C-7C83-4089A2CF9A56}"/>
              </a:ext>
            </a:extLst>
          </p:cNvPr>
          <p:cNvSpPr txBox="1"/>
          <p:nvPr/>
        </p:nvSpPr>
        <p:spPr>
          <a:xfrm>
            <a:off x="1206631" y="2351782"/>
            <a:ext cx="10001839" cy="1077218"/>
          </a:xfrm>
          <a:prstGeom prst="rect">
            <a:avLst/>
          </a:prstGeom>
          <a:noFill/>
        </p:spPr>
        <p:txBody>
          <a:bodyPr wrap="square" rtlCol="0">
            <a:spAutoFit/>
          </a:bodyPr>
          <a:lstStyle/>
          <a:p>
            <a:r>
              <a:rPr lang="en-IN" sz="3200" dirty="0">
                <a:latin typeface="Times New Roman" panose="02020603050405020304" pitchFamily="18" charset="0"/>
                <a:cs typeface="Times New Roman" panose="02020603050405020304" pitchFamily="18" charset="0"/>
              </a:rPr>
              <a:t>Insight: People might need additional confirmation from friends, relatives or reviews before choosing.</a:t>
            </a:r>
          </a:p>
        </p:txBody>
      </p:sp>
      <p:sp>
        <p:nvSpPr>
          <p:cNvPr id="4" name="TextBox 3">
            <a:extLst>
              <a:ext uri="{FF2B5EF4-FFF2-40B4-BE49-F238E27FC236}">
                <a16:creationId xmlns:a16="http://schemas.microsoft.com/office/drawing/2014/main" id="{435265B6-7642-099C-26E9-6D259B45E2E3}"/>
              </a:ext>
            </a:extLst>
          </p:cNvPr>
          <p:cNvSpPr txBox="1"/>
          <p:nvPr/>
        </p:nvSpPr>
        <p:spPr>
          <a:xfrm>
            <a:off x="1319752" y="3934946"/>
            <a:ext cx="9209988" cy="1569660"/>
          </a:xfrm>
          <a:prstGeom prst="rect">
            <a:avLst/>
          </a:prstGeom>
          <a:noFill/>
        </p:spPr>
        <p:txBody>
          <a:bodyPr wrap="square" rtlCol="0">
            <a:spAutoFit/>
          </a:bodyPr>
          <a:lstStyle/>
          <a:p>
            <a:r>
              <a:rPr lang="en-IN" sz="3200" dirty="0">
                <a:latin typeface="Times New Roman" panose="02020603050405020304" pitchFamily="18" charset="0"/>
                <a:cs typeface="Times New Roman" panose="02020603050405020304" pitchFamily="18" charset="0"/>
              </a:rPr>
              <a:t>Recommendation: Influencers can involve random people visiting and ask their opinions, can collaborate with local tourist agencies.</a:t>
            </a:r>
          </a:p>
        </p:txBody>
      </p:sp>
    </p:spTree>
    <p:extLst>
      <p:ext uri="{BB962C8B-B14F-4D97-AF65-F5344CB8AC3E}">
        <p14:creationId xmlns:p14="http://schemas.microsoft.com/office/powerpoint/2010/main" val="285689446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A105219-798C-15EE-684E-CFB2E3343D1D}"/>
              </a:ext>
            </a:extLst>
          </p:cNvPr>
          <p:cNvSpPr txBox="1"/>
          <p:nvPr/>
        </p:nvSpPr>
        <p:spPr>
          <a:xfrm>
            <a:off x="441158" y="431937"/>
            <a:ext cx="11309684" cy="1077218"/>
          </a:xfrm>
          <a:prstGeom prst="rect">
            <a:avLst/>
          </a:prstGeom>
          <a:noFill/>
        </p:spPr>
        <p:txBody>
          <a:bodyPr wrap="square" rtlCol="0">
            <a:spAutoFit/>
          </a:bodyPr>
          <a:lstStyle/>
          <a:p>
            <a:r>
              <a:rPr lang="en-US" sz="3200" b="0" i="0" u="none" strike="noStrike" dirty="0">
                <a:effectLst/>
                <a:latin typeface="Times New Roman" panose="02020603050405020304" pitchFamily="18" charset="0"/>
                <a:cs typeface="Times New Roman" panose="02020603050405020304" pitchFamily="18" charset="0"/>
              </a:rPr>
              <a:t>12. How much do social media influencers influence your dining choices?</a:t>
            </a:r>
            <a:r>
              <a:rPr lang="en-US" sz="3200" dirty="0">
                <a:latin typeface="Times New Roman" panose="02020603050405020304" pitchFamily="18" charset="0"/>
                <a:cs typeface="Times New Roman" panose="02020603050405020304" pitchFamily="18" charset="0"/>
              </a:rPr>
              <a:t> </a:t>
            </a:r>
            <a:endParaRPr lang="en-IN" sz="3200" dirty="0">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CDC757EA-7572-0885-CBB5-769C85CC6449}"/>
              </a:ext>
            </a:extLst>
          </p:cNvPr>
          <p:cNvGraphicFramePr>
            <a:graphicFrameLocks noGrp="1"/>
          </p:cNvGraphicFramePr>
          <p:nvPr>
            <p:extLst>
              <p:ext uri="{D42A27DB-BD31-4B8C-83A1-F6EECF244321}">
                <p14:modId xmlns:p14="http://schemas.microsoft.com/office/powerpoint/2010/main" val="684020799"/>
              </p:ext>
            </p:extLst>
          </p:nvPr>
        </p:nvGraphicFramePr>
        <p:xfrm>
          <a:off x="152400" y="1647212"/>
          <a:ext cx="11887200" cy="3563575"/>
        </p:xfrm>
        <a:graphic>
          <a:graphicData uri="http://schemas.openxmlformats.org/drawingml/2006/table">
            <a:tbl>
              <a:tblPr firstRow="1" bandRow="1">
                <a:tableStyleId>{5C22544A-7EE6-4342-B048-85BDC9FD1C3A}</a:tableStyleId>
              </a:tblPr>
              <a:tblGrid>
                <a:gridCol w="3962400">
                  <a:extLst>
                    <a:ext uri="{9D8B030D-6E8A-4147-A177-3AD203B41FA5}">
                      <a16:colId xmlns:a16="http://schemas.microsoft.com/office/drawing/2014/main" val="2412817600"/>
                    </a:ext>
                  </a:extLst>
                </a:gridCol>
                <a:gridCol w="3962400">
                  <a:extLst>
                    <a:ext uri="{9D8B030D-6E8A-4147-A177-3AD203B41FA5}">
                      <a16:colId xmlns:a16="http://schemas.microsoft.com/office/drawing/2014/main" val="652287902"/>
                    </a:ext>
                  </a:extLst>
                </a:gridCol>
                <a:gridCol w="3962400">
                  <a:extLst>
                    <a:ext uri="{9D8B030D-6E8A-4147-A177-3AD203B41FA5}">
                      <a16:colId xmlns:a16="http://schemas.microsoft.com/office/drawing/2014/main" val="3643924613"/>
                    </a:ext>
                  </a:extLst>
                </a:gridCol>
              </a:tblGrid>
              <a:tr h="712715">
                <a:tc>
                  <a:txBody>
                    <a:bodyPr/>
                    <a:lstStyle/>
                    <a:p>
                      <a:pPr algn="l" fontAlgn="b"/>
                      <a:r>
                        <a:rPr lang="en-IN" sz="3600" b="0" i="0" u="none" strike="noStrike" dirty="0">
                          <a:solidFill>
                            <a:srgbClr val="000000"/>
                          </a:solidFill>
                          <a:effectLst/>
                          <a:latin typeface="Times New Roman" panose="02020603050405020304" pitchFamily="18" charset="0"/>
                          <a:cs typeface="Times New Roman" panose="02020603050405020304" pitchFamily="18" charset="0"/>
                        </a:rPr>
                        <a:t>Code</a:t>
                      </a:r>
                    </a:p>
                  </a:txBody>
                  <a:tcPr marL="7620" marR="7620" marT="7620" marB="0" anchor="b"/>
                </a:tc>
                <a:tc>
                  <a:txBody>
                    <a:bodyPr/>
                    <a:lstStyle/>
                    <a:p>
                      <a:pPr algn="l" fontAlgn="b"/>
                      <a:r>
                        <a:rPr lang="en-IN" sz="3600" b="0" i="0" u="none" strike="noStrike" dirty="0">
                          <a:solidFill>
                            <a:srgbClr val="000000"/>
                          </a:solidFill>
                          <a:effectLst/>
                          <a:latin typeface="Calibri" panose="020F0502020204030204" pitchFamily="34" charset="0"/>
                        </a:rPr>
                        <a:t>Statement</a:t>
                      </a:r>
                    </a:p>
                  </a:txBody>
                  <a:tcPr marL="7620" marR="7620" marT="7620" marB="0" anchor="b"/>
                </a:tc>
                <a:tc>
                  <a:txBody>
                    <a:bodyPr/>
                    <a:lstStyle/>
                    <a:p>
                      <a:pPr algn="l" fontAlgn="b"/>
                      <a:r>
                        <a:rPr lang="en-IN" sz="3600" b="0" i="0" u="none" strike="noStrike">
                          <a:solidFill>
                            <a:srgbClr val="000000"/>
                          </a:solidFill>
                          <a:effectLst/>
                          <a:latin typeface="Calibri" panose="020F0502020204030204" pitchFamily="34" charset="0"/>
                        </a:rPr>
                        <a:t>Numbers</a:t>
                      </a:r>
                    </a:p>
                  </a:txBody>
                  <a:tcPr marL="7620" marR="7620" marT="7620" marB="0" anchor="b"/>
                </a:tc>
                <a:extLst>
                  <a:ext uri="{0D108BD9-81ED-4DB2-BD59-A6C34878D82A}">
                    <a16:rowId xmlns:a16="http://schemas.microsoft.com/office/drawing/2014/main" val="80842484"/>
                  </a:ext>
                </a:extLst>
              </a:tr>
              <a:tr h="712715">
                <a:tc>
                  <a:txBody>
                    <a:bodyPr/>
                    <a:lstStyle/>
                    <a:p>
                      <a:pPr algn="r" fontAlgn="b"/>
                      <a:r>
                        <a:rPr lang="en-IN" sz="3600" b="0" i="0" u="none" strike="noStrike" dirty="0">
                          <a:solidFill>
                            <a:srgbClr val="000000"/>
                          </a:solidFill>
                          <a:effectLst/>
                          <a:latin typeface="Calibri" panose="020F0502020204030204" pitchFamily="34" charset="0"/>
                        </a:rPr>
                        <a:t>1</a:t>
                      </a:r>
                    </a:p>
                  </a:txBody>
                  <a:tcPr marL="7620" marR="7620" marT="7620" marB="0" anchor="b"/>
                </a:tc>
                <a:tc>
                  <a:txBody>
                    <a:bodyPr/>
                    <a:lstStyle/>
                    <a:p>
                      <a:pPr algn="r" fontAlgn="b"/>
                      <a:r>
                        <a:rPr lang="en-IN" sz="3600" b="0" i="0" u="none" strike="noStrike" dirty="0">
                          <a:solidFill>
                            <a:srgbClr val="000000"/>
                          </a:solidFill>
                          <a:effectLst/>
                          <a:latin typeface="Calibri" panose="020F0502020204030204" pitchFamily="34" charset="0"/>
                        </a:rPr>
                        <a:t>Not at all</a:t>
                      </a:r>
                    </a:p>
                  </a:txBody>
                  <a:tcPr marL="7620" marR="7620" marT="7620" marB="0" anchor="b"/>
                </a:tc>
                <a:tc>
                  <a:txBody>
                    <a:bodyPr/>
                    <a:lstStyle/>
                    <a:p>
                      <a:pPr algn="r" fontAlgn="b"/>
                      <a:r>
                        <a:rPr lang="en-IN" sz="3600" b="0" i="0" u="none" strike="noStrike">
                          <a:solidFill>
                            <a:srgbClr val="000000"/>
                          </a:solidFill>
                          <a:effectLst/>
                          <a:latin typeface="Calibri" panose="020F0502020204030204" pitchFamily="34" charset="0"/>
                        </a:rPr>
                        <a:t>18</a:t>
                      </a:r>
                    </a:p>
                  </a:txBody>
                  <a:tcPr marL="7620" marR="7620" marT="7620" marB="0" anchor="b"/>
                </a:tc>
                <a:extLst>
                  <a:ext uri="{0D108BD9-81ED-4DB2-BD59-A6C34878D82A}">
                    <a16:rowId xmlns:a16="http://schemas.microsoft.com/office/drawing/2014/main" val="4008613896"/>
                  </a:ext>
                </a:extLst>
              </a:tr>
              <a:tr h="712715">
                <a:tc>
                  <a:txBody>
                    <a:bodyPr/>
                    <a:lstStyle/>
                    <a:p>
                      <a:pPr algn="r" fontAlgn="b"/>
                      <a:r>
                        <a:rPr lang="en-IN" sz="3600" b="0" i="0" u="none" strike="noStrike" dirty="0">
                          <a:solidFill>
                            <a:srgbClr val="000000"/>
                          </a:solidFill>
                          <a:effectLst/>
                          <a:latin typeface="Calibri" panose="020F0502020204030204" pitchFamily="34" charset="0"/>
                        </a:rPr>
                        <a:t>2</a:t>
                      </a:r>
                    </a:p>
                  </a:txBody>
                  <a:tcPr marL="7620" marR="7620" marT="7620" marB="0" anchor="b"/>
                </a:tc>
                <a:tc>
                  <a:txBody>
                    <a:bodyPr/>
                    <a:lstStyle/>
                    <a:p>
                      <a:pPr algn="r" fontAlgn="b"/>
                      <a:r>
                        <a:rPr lang="en-IN" sz="3600" b="0" i="0" u="none" strike="noStrike" dirty="0">
                          <a:solidFill>
                            <a:srgbClr val="000000"/>
                          </a:solidFill>
                          <a:effectLst/>
                          <a:latin typeface="Calibri" panose="020F0502020204030204" pitchFamily="34" charset="0"/>
                        </a:rPr>
                        <a:t>Slightly</a:t>
                      </a:r>
                    </a:p>
                  </a:txBody>
                  <a:tcPr marL="7620" marR="7620" marT="7620" marB="0" anchor="b"/>
                </a:tc>
                <a:tc>
                  <a:txBody>
                    <a:bodyPr/>
                    <a:lstStyle/>
                    <a:p>
                      <a:pPr algn="r" fontAlgn="b"/>
                      <a:r>
                        <a:rPr lang="en-IN" sz="3600" b="0" i="0" u="none" strike="noStrike">
                          <a:solidFill>
                            <a:srgbClr val="000000"/>
                          </a:solidFill>
                          <a:effectLst/>
                          <a:latin typeface="Calibri" panose="020F0502020204030204" pitchFamily="34" charset="0"/>
                        </a:rPr>
                        <a:t>41</a:t>
                      </a:r>
                    </a:p>
                  </a:txBody>
                  <a:tcPr marL="7620" marR="7620" marT="7620" marB="0" anchor="b"/>
                </a:tc>
                <a:extLst>
                  <a:ext uri="{0D108BD9-81ED-4DB2-BD59-A6C34878D82A}">
                    <a16:rowId xmlns:a16="http://schemas.microsoft.com/office/drawing/2014/main" val="3739974939"/>
                  </a:ext>
                </a:extLst>
              </a:tr>
              <a:tr h="712715">
                <a:tc>
                  <a:txBody>
                    <a:bodyPr/>
                    <a:lstStyle/>
                    <a:p>
                      <a:pPr algn="r" fontAlgn="b"/>
                      <a:r>
                        <a:rPr lang="en-IN" sz="3600" b="0" i="0" u="none" strike="noStrike" dirty="0">
                          <a:solidFill>
                            <a:srgbClr val="000000"/>
                          </a:solidFill>
                          <a:effectLst/>
                          <a:latin typeface="Calibri" panose="020F0502020204030204" pitchFamily="34" charset="0"/>
                        </a:rPr>
                        <a:t>3</a:t>
                      </a:r>
                    </a:p>
                  </a:txBody>
                  <a:tcPr marL="7620" marR="7620" marT="7620" marB="0" anchor="b"/>
                </a:tc>
                <a:tc>
                  <a:txBody>
                    <a:bodyPr/>
                    <a:lstStyle/>
                    <a:p>
                      <a:pPr algn="r" fontAlgn="b"/>
                      <a:r>
                        <a:rPr lang="en-IN" sz="3600" b="0" i="0" u="none" strike="noStrike" dirty="0">
                          <a:solidFill>
                            <a:srgbClr val="000000"/>
                          </a:solidFill>
                          <a:effectLst/>
                          <a:latin typeface="Calibri" panose="020F0502020204030204" pitchFamily="34" charset="0"/>
                        </a:rPr>
                        <a:t>Moderately</a:t>
                      </a:r>
                    </a:p>
                  </a:txBody>
                  <a:tcPr marL="7620" marR="7620" marT="7620" marB="0" anchor="b"/>
                </a:tc>
                <a:tc>
                  <a:txBody>
                    <a:bodyPr/>
                    <a:lstStyle/>
                    <a:p>
                      <a:pPr algn="r" fontAlgn="b"/>
                      <a:r>
                        <a:rPr lang="en-IN" sz="3600" b="0" i="0" u="none" strike="noStrike">
                          <a:solidFill>
                            <a:srgbClr val="000000"/>
                          </a:solidFill>
                          <a:effectLst/>
                          <a:latin typeface="Calibri" panose="020F0502020204030204" pitchFamily="34" charset="0"/>
                        </a:rPr>
                        <a:t>35</a:t>
                      </a:r>
                    </a:p>
                  </a:txBody>
                  <a:tcPr marL="7620" marR="7620" marT="7620" marB="0" anchor="b"/>
                </a:tc>
                <a:extLst>
                  <a:ext uri="{0D108BD9-81ED-4DB2-BD59-A6C34878D82A}">
                    <a16:rowId xmlns:a16="http://schemas.microsoft.com/office/drawing/2014/main" val="2290748833"/>
                  </a:ext>
                </a:extLst>
              </a:tr>
              <a:tr h="712715">
                <a:tc>
                  <a:txBody>
                    <a:bodyPr/>
                    <a:lstStyle/>
                    <a:p>
                      <a:pPr algn="r" fontAlgn="b"/>
                      <a:r>
                        <a:rPr lang="en-IN" sz="3600" b="0" i="0" u="none" strike="noStrike" dirty="0">
                          <a:solidFill>
                            <a:srgbClr val="000000"/>
                          </a:solidFill>
                          <a:effectLst/>
                          <a:latin typeface="Calibri" panose="020F0502020204030204" pitchFamily="34" charset="0"/>
                        </a:rPr>
                        <a:t>4</a:t>
                      </a:r>
                    </a:p>
                  </a:txBody>
                  <a:tcPr marL="7620" marR="7620" marT="7620" marB="0" anchor="b"/>
                </a:tc>
                <a:tc>
                  <a:txBody>
                    <a:bodyPr/>
                    <a:lstStyle/>
                    <a:p>
                      <a:pPr algn="r" fontAlgn="b"/>
                      <a:r>
                        <a:rPr lang="en-IN" sz="3600" b="0" i="0" u="none" strike="noStrike" dirty="0">
                          <a:solidFill>
                            <a:srgbClr val="000000"/>
                          </a:solidFill>
                          <a:effectLst/>
                          <a:latin typeface="Calibri" panose="020F0502020204030204" pitchFamily="34" charset="0"/>
                        </a:rPr>
                        <a:t>Significantly</a:t>
                      </a:r>
                    </a:p>
                  </a:txBody>
                  <a:tcPr marL="7620" marR="7620" marT="7620" marB="0" anchor="b"/>
                </a:tc>
                <a:tc>
                  <a:txBody>
                    <a:bodyPr/>
                    <a:lstStyle/>
                    <a:p>
                      <a:pPr algn="r" fontAlgn="b"/>
                      <a:r>
                        <a:rPr lang="en-IN" sz="3600" b="0" i="0" u="none" strike="noStrike" dirty="0">
                          <a:solidFill>
                            <a:srgbClr val="000000"/>
                          </a:solidFill>
                          <a:effectLst/>
                          <a:latin typeface="Calibri" panose="020F0502020204030204" pitchFamily="34" charset="0"/>
                        </a:rPr>
                        <a:t>18</a:t>
                      </a:r>
                    </a:p>
                  </a:txBody>
                  <a:tcPr marL="7620" marR="7620" marT="7620" marB="0" anchor="b"/>
                </a:tc>
                <a:extLst>
                  <a:ext uri="{0D108BD9-81ED-4DB2-BD59-A6C34878D82A}">
                    <a16:rowId xmlns:a16="http://schemas.microsoft.com/office/drawing/2014/main" val="1581538818"/>
                  </a:ext>
                </a:extLst>
              </a:tr>
            </a:tbl>
          </a:graphicData>
        </a:graphic>
      </p:graphicFrame>
      <p:sp>
        <p:nvSpPr>
          <p:cNvPr id="4" name="TextBox 3">
            <a:extLst>
              <a:ext uri="{FF2B5EF4-FFF2-40B4-BE49-F238E27FC236}">
                <a16:creationId xmlns:a16="http://schemas.microsoft.com/office/drawing/2014/main" id="{9FE1F04E-FFA5-2DB8-5395-0D6B42C30498}"/>
              </a:ext>
            </a:extLst>
          </p:cNvPr>
          <p:cNvSpPr txBox="1"/>
          <p:nvPr/>
        </p:nvSpPr>
        <p:spPr>
          <a:xfrm>
            <a:off x="4494271" y="5595066"/>
            <a:ext cx="5224764" cy="830997"/>
          </a:xfrm>
          <a:prstGeom prst="rect">
            <a:avLst/>
          </a:prstGeom>
          <a:noFill/>
        </p:spPr>
        <p:txBody>
          <a:bodyPr wrap="square" rtlCol="0">
            <a:spAutoFit/>
          </a:bodyPr>
          <a:lstStyle/>
          <a:p>
            <a:r>
              <a:rPr lang="en-IN" sz="4800" dirty="0">
                <a:latin typeface="Times New Roman" panose="02020603050405020304" pitchFamily="18" charset="0"/>
                <a:cs typeface="Times New Roman" panose="02020603050405020304" pitchFamily="18" charset="0"/>
              </a:rPr>
              <a:t>Mode = 2</a:t>
            </a:r>
          </a:p>
        </p:txBody>
      </p:sp>
    </p:spTree>
    <p:extLst>
      <p:ext uri="{BB962C8B-B14F-4D97-AF65-F5344CB8AC3E}">
        <p14:creationId xmlns:p14="http://schemas.microsoft.com/office/powerpoint/2010/main" val="63909980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7230E1C-AE8E-B338-397B-A2C57E439CE1}"/>
              </a:ext>
            </a:extLst>
          </p:cNvPr>
          <p:cNvPicPr>
            <a:picLocks noChangeAspect="1"/>
          </p:cNvPicPr>
          <p:nvPr/>
        </p:nvPicPr>
        <p:blipFill>
          <a:blip r:embed="rId2"/>
          <a:stretch>
            <a:fillRect/>
          </a:stretch>
        </p:blipFill>
        <p:spPr>
          <a:xfrm>
            <a:off x="0" y="863385"/>
            <a:ext cx="12192000" cy="5131229"/>
          </a:xfrm>
          <a:prstGeom prst="rect">
            <a:avLst/>
          </a:prstGeom>
        </p:spPr>
      </p:pic>
    </p:spTree>
    <p:extLst>
      <p:ext uri="{BB962C8B-B14F-4D97-AF65-F5344CB8AC3E}">
        <p14:creationId xmlns:p14="http://schemas.microsoft.com/office/powerpoint/2010/main" val="421450907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F9D1276-9315-D3E6-67D6-CF13391D1E1E}"/>
              </a:ext>
            </a:extLst>
          </p:cNvPr>
          <p:cNvSpPr txBox="1"/>
          <p:nvPr/>
        </p:nvSpPr>
        <p:spPr>
          <a:xfrm>
            <a:off x="1008668" y="417095"/>
            <a:ext cx="6338616" cy="1077218"/>
          </a:xfrm>
          <a:prstGeom prst="rect">
            <a:avLst/>
          </a:prstGeom>
          <a:noFill/>
        </p:spPr>
        <p:txBody>
          <a:bodyPr wrap="square" rtlCol="0">
            <a:spAutoFit/>
          </a:bodyPr>
          <a:lstStyle/>
          <a:p>
            <a:r>
              <a:rPr lang="en-IN" sz="3200" dirty="0">
                <a:latin typeface="Times New Roman" panose="02020603050405020304" pitchFamily="18" charset="0"/>
                <a:cs typeface="Times New Roman" panose="02020603050405020304" pitchFamily="18" charset="0"/>
              </a:rPr>
              <a:t>Kurtosis</a:t>
            </a:r>
            <a:r>
              <a:rPr lang="en-IN" sz="3200" dirty="0"/>
              <a:t>	-0.884189227</a:t>
            </a:r>
          </a:p>
          <a:p>
            <a:r>
              <a:rPr lang="en-IN" sz="3200" dirty="0"/>
              <a:t>Skewness	0.07820346</a:t>
            </a:r>
          </a:p>
        </p:txBody>
      </p:sp>
      <p:pic>
        <p:nvPicPr>
          <p:cNvPr id="5" name="Picture 4">
            <a:extLst>
              <a:ext uri="{FF2B5EF4-FFF2-40B4-BE49-F238E27FC236}">
                <a16:creationId xmlns:a16="http://schemas.microsoft.com/office/drawing/2014/main" id="{030B0C7F-EEF4-BC0B-B3E8-2312C2CA2280}"/>
              </a:ext>
            </a:extLst>
          </p:cNvPr>
          <p:cNvPicPr>
            <a:picLocks noChangeAspect="1"/>
          </p:cNvPicPr>
          <p:nvPr/>
        </p:nvPicPr>
        <p:blipFill>
          <a:blip r:embed="rId2"/>
          <a:stretch>
            <a:fillRect/>
          </a:stretch>
        </p:blipFill>
        <p:spPr>
          <a:xfrm>
            <a:off x="288758" y="1427748"/>
            <a:ext cx="11486147" cy="5414638"/>
          </a:xfrm>
          <a:prstGeom prst="rect">
            <a:avLst/>
          </a:prstGeom>
        </p:spPr>
      </p:pic>
    </p:spTree>
    <p:extLst>
      <p:ext uri="{BB962C8B-B14F-4D97-AF65-F5344CB8AC3E}">
        <p14:creationId xmlns:p14="http://schemas.microsoft.com/office/powerpoint/2010/main" val="280127597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F347758-9747-9B43-0EE7-EFC2FC618AE1}"/>
              </a:ext>
            </a:extLst>
          </p:cNvPr>
          <p:cNvSpPr txBox="1"/>
          <p:nvPr/>
        </p:nvSpPr>
        <p:spPr>
          <a:xfrm>
            <a:off x="970961" y="589589"/>
            <a:ext cx="9275976" cy="1077218"/>
          </a:xfrm>
          <a:prstGeom prst="rect">
            <a:avLst/>
          </a:prstGeom>
          <a:noFill/>
        </p:spPr>
        <p:txBody>
          <a:bodyPr wrap="square" rtlCol="0">
            <a:spAutoFit/>
          </a:bodyPr>
          <a:lstStyle/>
          <a:p>
            <a:r>
              <a:rPr lang="en-IN" sz="3200" dirty="0">
                <a:latin typeface="Times New Roman" panose="02020603050405020304" pitchFamily="18" charset="0"/>
                <a:cs typeface="Times New Roman" panose="02020603050405020304" pitchFamily="18" charset="0"/>
              </a:rPr>
              <a:t>Inference: Majority sample have slight influence on dining choices.</a:t>
            </a:r>
          </a:p>
        </p:txBody>
      </p:sp>
      <p:sp>
        <p:nvSpPr>
          <p:cNvPr id="3" name="TextBox 2">
            <a:extLst>
              <a:ext uri="{FF2B5EF4-FFF2-40B4-BE49-F238E27FC236}">
                <a16:creationId xmlns:a16="http://schemas.microsoft.com/office/drawing/2014/main" id="{C0A2FC4D-5859-E33B-19D6-68625E89AB43}"/>
              </a:ext>
            </a:extLst>
          </p:cNvPr>
          <p:cNvSpPr txBox="1"/>
          <p:nvPr/>
        </p:nvSpPr>
        <p:spPr>
          <a:xfrm>
            <a:off x="970961" y="2121684"/>
            <a:ext cx="9577633" cy="1569660"/>
          </a:xfrm>
          <a:prstGeom prst="rect">
            <a:avLst/>
          </a:prstGeom>
          <a:noFill/>
        </p:spPr>
        <p:txBody>
          <a:bodyPr wrap="square" rtlCol="0">
            <a:spAutoFit/>
          </a:bodyPr>
          <a:lstStyle/>
          <a:p>
            <a:r>
              <a:rPr lang="en-IN" sz="3200" dirty="0">
                <a:latin typeface="Times New Roman" panose="02020603050405020304" pitchFamily="18" charset="0"/>
                <a:cs typeface="Times New Roman" panose="02020603050405020304" pitchFamily="18" charset="0"/>
              </a:rPr>
              <a:t>Insight: Second biggest chose moderate, overall people are willing to choose dining choices based on influencers.</a:t>
            </a:r>
          </a:p>
        </p:txBody>
      </p:sp>
      <p:sp>
        <p:nvSpPr>
          <p:cNvPr id="4" name="TextBox 3">
            <a:extLst>
              <a:ext uri="{FF2B5EF4-FFF2-40B4-BE49-F238E27FC236}">
                <a16:creationId xmlns:a16="http://schemas.microsoft.com/office/drawing/2014/main" id="{713CE8AD-C217-63D9-2F71-DBE84246575C}"/>
              </a:ext>
            </a:extLst>
          </p:cNvPr>
          <p:cNvSpPr txBox="1"/>
          <p:nvPr/>
        </p:nvSpPr>
        <p:spPr>
          <a:xfrm>
            <a:off x="970961" y="4150936"/>
            <a:ext cx="9492792" cy="1077218"/>
          </a:xfrm>
          <a:prstGeom prst="rect">
            <a:avLst/>
          </a:prstGeom>
          <a:noFill/>
        </p:spPr>
        <p:txBody>
          <a:bodyPr wrap="square" rtlCol="0">
            <a:spAutoFit/>
          </a:bodyPr>
          <a:lstStyle/>
          <a:p>
            <a:r>
              <a:rPr lang="en-IN" sz="3200" dirty="0">
                <a:latin typeface="Times New Roman" panose="02020603050405020304" pitchFamily="18" charset="0"/>
                <a:cs typeface="Times New Roman" panose="02020603050405020304" pitchFamily="18" charset="0"/>
              </a:rPr>
              <a:t>Recommendation: Influencers could help restaurants give feedback from customers on food choices.</a:t>
            </a:r>
          </a:p>
        </p:txBody>
      </p:sp>
    </p:spTree>
    <p:extLst>
      <p:ext uri="{BB962C8B-B14F-4D97-AF65-F5344CB8AC3E}">
        <p14:creationId xmlns:p14="http://schemas.microsoft.com/office/powerpoint/2010/main" val="417636434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EC4743B-E74F-F8BE-44E1-8B329550FE05}"/>
              </a:ext>
            </a:extLst>
          </p:cNvPr>
          <p:cNvSpPr txBox="1"/>
          <p:nvPr/>
        </p:nvSpPr>
        <p:spPr>
          <a:xfrm>
            <a:off x="1762813" y="91884"/>
            <a:ext cx="8149389" cy="1569660"/>
          </a:xfrm>
          <a:prstGeom prst="rect">
            <a:avLst/>
          </a:prstGeom>
          <a:noFill/>
        </p:spPr>
        <p:txBody>
          <a:bodyPr wrap="square" rtlCol="0">
            <a:spAutoFit/>
          </a:bodyPr>
          <a:lstStyle/>
          <a:p>
            <a:r>
              <a:rPr lang="en-US" sz="3200" b="0" i="0" u="none" strike="noStrike" dirty="0">
                <a:effectLst/>
                <a:latin typeface="Times New Roman" panose="02020603050405020304" pitchFamily="18" charset="0"/>
                <a:cs typeface="Times New Roman" panose="02020603050405020304" pitchFamily="18" charset="0"/>
              </a:rPr>
              <a:t>13. How often do you follow technology and gadget recommendations from social media influencers?</a:t>
            </a:r>
            <a:r>
              <a:rPr lang="en-US" sz="3200" dirty="0">
                <a:latin typeface="Times New Roman" panose="02020603050405020304" pitchFamily="18" charset="0"/>
                <a:cs typeface="Times New Roman" panose="02020603050405020304" pitchFamily="18" charset="0"/>
              </a:rPr>
              <a:t> .</a:t>
            </a:r>
            <a:endParaRPr lang="en-IN" sz="3200" dirty="0">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0FB8A949-3550-DC09-F937-A0DCBF61121F}"/>
              </a:ext>
            </a:extLst>
          </p:cNvPr>
          <p:cNvGraphicFramePr>
            <a:graphicFrameLocks noGrp="1"/>
          </p:cNvGraphicFramePr>
          <p:nvPr>
            <p:extLst>
              <p:ext uri="{D42A27DB-BD31-4B8C-83A1-F6EECF244321}">
                <p14:modId xmlns:p14="http://schemas.microsoft.com/office/powerpoint/2010/main" val="3470509211"/>
              </p:ext>
            </p:extLst>
          </p:nvPr>
        </p:nvGraphicFramePr>
        <p:xfrm>
          <a:off x="401053" y="1661544"/>
          <a:ext cx="11389894" cy="3835210"/>
        </p:xfrm>
        <a:graphic>
          <a:graphicData uri="http://schemas.openxmlformats.org/drawingml/2006/table">
            <a:tbl>
              <a:tblPr firstRow="1" bandRow="1">
                <a:tableStyleId>{5C22544A-7EE6-4342-B048-85BDC9FD1C3A}</a:tableStyleId>
              </a:tblPr>
              <a:tblGrid>
                <a:gridCol w="3784143">
                  <a:extLst>
                    <a:ext uri="{9D8B030D-6E8A-4147-A177-3AD203B41FA5}">
                      <a16:colId xmlns:a16="http://schemas.microsoft.com/office/drawing/2014/main" val="1709781362"/>
                    </a:ext>
                  </a:extLst>
                </a:gridCol>
                <a:gridCol w="3809120">
                  <a:extLst>
                    <a:ext uri="{9D8B030D-6E8A-4147-A177-3AD203B41FA5}">
                      <a16:colId xmlns:a16="http://schemas.microsoft.com/office/drawing/2014/main" val="2184526416"/>
                    </a:ext>
                  </a:extLst>
                </a:gridCol>
                <a:gridCol w="3796631">
                  <a:extLst>
                    <a:ext uri="{9D8B030D-6E8A-4147-A177-3AD203B41FA5}">
                      <a16:colId xmlns:a16="http://schemas.microsoft.com/office/drawing/2014/main" val="1437151050"/>
                    </a:ext>
                  </a:extLst>
                </a:gridCol>
              </a:tblGrid>
              <a:tr h="767042">
                <a:tc>
                  <a:txBody>
                    <a:bodyPr/>
                    <a:lstStyle/>
                    <a:p>
                      <a:r>
                        <a:rPr lang="en-IN" sz="3600" dirty="0">
                          <a:solidFill>
                            <a:schemeClr val="bg1"/>
                          </a:solidFill>
                          <a:latin typeface="Times New Roman" panose="02020603050405020304" pitchFamily="18" charset="0"/>
                          <a:cs typeface="Times New Roman" panose="02020603050405020304" pitchFamily="18" charset="0"/>
                        </a:rPr>
                        <a:t>Code</a:t>
                      </a:r>
                    </a:p>
                  </a:txBody>
                  <a:tcPr/>
                </a:tc>
                <a:tc>
                  <a:txBody>
                    <a:bodyPr/>
                    <a:lstStyle/>
                    <a:p>
                      <a:pPr algn="l" fontAlgn="b"/>
                      <a:r>
                        <a:rPr lang="en-IN" sz="3600" b="0" i="0" u="none" strike="noStrike" dirty="0">
                          <a:solidFill>
                            <a:srgbClr val="000000"/>
                          </a:solidFill>
                          <a:effectLst/>
                          <a:latin typeface="Times New Roman" panose="02020603050405020304" pitchFamily="18" charset="0"/>
                          <a:cs typeface="Times New Roman" panose="02020603050405020304" pitchFamily="18" charset="0"/>
                        </a:rPr>
                        <a:t>Statement</a:t>
                      </a:r>
                    </a:p>
                  </a:txBody>
                  <a:tcPr marL="7620" marR="7620" marT="7620" marB="0" anchor="b"/>
                </a:tc>
                <a:tc>
                  <a:txBody>
                    <a:bodyPr/>
                    <a:lstStyle/>
                    <a:p>
                      <a:pPr algn="l" fontAlgn="b"/>
                      <a:r>
                        <a:rPr lang="en-IN" sz="3600" b="0" i="0" u="none" strike="noStrike">
                          <a:solidFill>
                            <a:srgbClr val="000000"/>
                          </a:solidFill>
                          <a:effectLst/>
                          <a:latin typeface="Times New Roman" panose="02020603050405020304" pitchFamily="18" charset="0"/>
                          <a:cs typeface="Times New Roman" panose="02020603050405020304" pitchFamily="18" charset="0"/>
                        </a:rPr>
                        <a:t>Numbers</a:t>
                      </a:r>
                    </a:p>
                  </a:txBody>
                  <a:tcPr marL="7620" marR="7620" marT="7620" marB="0" anchor="b"/>
                </a:tc>
                <a:extLst>
                  <a:ext uri="{0D108BD9-81ED-4DB2-BD59-A6C34878D82A}">
                    <a16:rowId xmlns:a16="http://schemas.microsoft.com/office/drawing/2014/main" val="1378168381"/>
                  </a:ext>
                </a:extLst>
              </a:tr>
              <a:tr h="767042">
                <a:tc>
                  <a:txBody>
                    <a:bodyPr/>
                    <a:lstStyle/>
                    <a:p>
                      <a:r>
                        <a:rPr lang="en-IN" sz="3600" dirty="0">
                          <a:latin typeface="Times New Roman" panose="02020603050405020304" pitchFamily="18" charset="0"/>
                          <a:cs typeface="Times New Roman" panose="02020603050405020304" pitchFamily="18" charset="0"/>
                        </a:rPr>
                        <a:t>1</a:t>
                      </a:r>
                    </a:p>
                  </a:txBody>
                  <a:tcPr/>
                </a:tc>
                <a:tc>
                  <a:txBody>
                    <a:bodyPr/>
                    <a:lstStyle/>
                    <a:p>
                      <a:pPr algn="r" fontAlgn="b"/>
                      <a:r>
                        <a:rPr lang="en-IN" sz="3600" b="0" i="0" u="none" strike="noStrike" dirty="0">
                          <a:solidFill>
                            <a:srgbClr val="000000"/>
                          </a:solidFill>
                          <a:effectLst/>
                          <a:latin typeface="Times New Roman" panose="02020603050405020304" pitchFamily="18" charset="0"/>
                          <a:cs typeface="Times New Roman" panose="02020603050405020304" pitchFamily="18" charset="0"/>
                        </a:rPr>
                        <a:t>Often</a:t>
                      </a:r>
                    </a:p>
                  </a:txBody>
                  <a:tcPr marL="7620" marR="7620" marT="7620" marB="0" anchor="b"/>
                </a:tc>
                <a:tc>
                  <a:txBody>
                    <a:bodyPr/>
                    <a:lstStyle/>
                    <a:p>
                      <a:pPr algn="r" fontAlgn="b"/>
                      <a:r>
                        <a:rPr lang="en-IN" sz="3600" b="0" i="0" u="none" strike="noStrike">
                          <a:solidFill>
                            <a:srgbClr val="000000"/>
                          </a:solidFill>
                          <a:effectLst/>
                          <a:latin typeface="Times New Roman" panose="02020603050405020304" pitchFamily="18" charset="0"/>
                          <a:cs typeface="Times New Roman" panose="02020603050405020304" pitchFamily="18" charset="0"/>
                        </a:rPr>
                        <a:t>12</a:t>
                      </a:r>
                    </a:p>
                  </a:txBody>
                  <a:tcPr marL="7620" marR="7620" marT="7620" marB="0" anchor="b"/>
                </a:tc>
                <a:extLst>
                  <a:ext uri="{0D108BD9-81ED-4DB2-BD59-A6C34878D82A}">
                    <a16:rowId xmlns:a16="http://schemas.microsoft.com/office/drawing/2014/main" val="2535250362"/>
                  </a:ext>
                </a:extLst>
              </a:tr>
              <a:tr h="767042">
                <a:tc>
                  <a:txBody>
                    <a:bodyPr/>
                    <a:lstStyle/>
                    <a:p>
                      <a:r>
                        <a:rPr lang="en-IN" sz="3600" dirty="0">
                          <a:latin typeface="Times New Roman" panose="02020603050405020304" pitchFamily="18" charset="0"/>
                          <a:cs typeface="Times New Roman" panose="02020603050405020304" pitchFamily="18" charset="0"/>
                        </a:rPr>
                        <a:t>2</a:t>
                      </a:r>
                    </a:p>
                  </a:txBody>
                  <a:tcPr/>
                </a:tc>
                <a:tc>
                  <a:txBody>
                    <a:bodyPr/>
                    <a:lstStyle/>
                    <a:p>
                      <a:pPr algn="r" fontAlgn="b"/>
                      <a:r>
                        <a:rPr lang="en-IN" sz="3600" b="0" i="0" u="none" strike="noStrike" dirty="0">
                          <a:solidFill>
                            <a:srgbClr val="000000"/>
                          </a:solidFill>
                          <a:effectLst/>
                          <a:latin typeface="Times New Roman" panose="02020603050405020304" pitchFamily="18" charset="0"/>
                          <a:cs typeface="Times New Roman" panose="02020603050405020304" pitchFamily="18" charset="0"/>
                        </a:rPr>
                        <a:t>Sometimes</a:t>
                      </a:r>
                    </a:p>
                  </a:txBody>
                  <a:tcPr marL="7620" marR="7620" marT="7620" marB="0" anchor="b"/>
                </a:tc>
                <a:tc>
                  <a:txBody>
                    <a:bodyPr/>
                    <a:lstStyle/>
                    <a:p>
                      <a:pPr algn="r" fontAlgn="b"/>
                      <a:r>
                        <a:rPr lang="en-IN" sz="3600" b="0" i="0" u="none" strike="noStrike">
                          <a:solidFill>
                            <a:srgbClr val="000000"/>
                          </a:solidFill>
                          <a:effectLst/>
                          <a:latin typeface="Times New Roman" panose="02020603050405020304" pitchFamily="18" charset="0"/>
                          <a:cs typeface="Times New Roman" panose="02020603050405020304" pitchFamily="18" charset="0"/>
                        </a:rPr>
                        <a:t>56</a:t>
                      </a:r>
                    </a:p>
                  </a:txBody>
                  <a:tcPr marL="7620" marR="7620" marT="7620" marB="0" anchor="b"/>
                </a:tc>
                <a:extLst>
                  <a:ext uri="{0D108BD9-81ED-4DB2-BD59-A6C34878D82A}">
                    <a16:rowId xmlns:a16="http://schemas.microsoft.com/office/drawing/2014/main" val="4164175432"/>
                  </a:ext>
                </a:extLst>
              </a:tr>
              <a:tr h="767042">
                <a:tc>
                  <a:txBody>
                    <a:bodyPr/>
                    <a:lstStyle/>
                    <a:p>
                      <a:r>
                        <a:rPr lang="en-IN" sz="3600" dirty="0">
                          <a:latin typeface="Times New Roman" panose="02020603050405020304" pitchFamily="18" charset="0"/>
                          <a:cs typeface="Times New Roman" panose="02020603050405020304" pitchFamily="18" charset="0"/>
                        </a:rPr>
                        <a:t>3</a:t>
                      </a:r>
                    </a:p>
                  </a:txBody>
                  <a:tcPr/>
                </a:tc>
                <a:tc>
                  <a:txBody>
                    <a:bodyPr/>
                    <a:lstStyle/>
                    <a:p>
                      <a:pPr algn="r" fontAlgn="b"/>
                      <a:r>
                        <a:rPr lang="en-IN" sz="3600" b="0" i="0" u="none" strike="noStrike" dirty="0">
                          <a:solidFill>
                            <a:srgbClr val="000000"/>
                          </a:solidFill>
                          <a:effectLst/>
                          <a:latin typeface="Times New Roman" panose="02020603050405020304" pitchFamily="18" charset="0"/>
                          <a:cs typeface="Times New Roman" panose="02020603050405020304" pitchFamily="18" charset="0"/>
                        </a:rPr>
                        <a:t>Rarely</a:t>
                      </a:r>
                    </a:p>
                  </a:txBody>
                  <a:tcPr marL="7620" marR="7620" marT="7620" marB="0" anchor="b"/>
                </a:tc>
                <a:tc>
                  <a:txBody>
                    <a:bodyPr/>
                    <a:lstStyle/>
                    <a:p>
                      <a:pPr algn="r" fontAlgn="b"/>
                      <a:r>
                        <a:rPr lang="en-IN" sz="3600" b="0" i="0" u="none" strike="noStrike">
                          <a:solidFill>
                            <a:srgbClr val="000000"/>
                          </a:solidFill>
                          <a:effectLst/>
                          <a:latin typeface="Times New Roman" panose="02020603050405020304" pitchFamily="18" charset="0"/>
                          <a:cs typeface="Times New Roman" panose="02020603050405020304" pitchFamily="18" charset="0"/>
                        </a:rPr>
                        <a:t>34</a:t>
                      </a:r>
                    </a:p>
                  </a:txBody>
                  <a:tcPr marL="7620" marR="7620" marT="7620" marB="0" anchor="b"/>
                </a:tc>
                <a:extLst>
                  <a:ext uri="{0D108BD9-81ED-4DB2-BD59-A6C34878D82A}">
                    <a16:rowId xmlns:a16="http://schemas.microsoft.com/office/drawing/2014/main" val="3385465905"/>
                  </a:ext>
                </a:extLst>
              </a:tr>
              <a:tr h="767042">
                <a:tc>
                  <a:txBody>
                    <a:bodyPr/>
                    <a:lstStyle/>
                    <a:p>
                      <a:r>
                        <a:rPr lang="en-IN" sz="3600" dirty="0">
                          <a:latin typeface="Times New Roman" panose="02020603050405020304" pitchFamily="18" charset="0"/>
                          <a:cs typeface="Times New Roman" panose="02020603050405020304" pitchFamily="18" charset="0"/>
                        </a:rPr>
                        <a:t>4</a:t>
                      </a:r>
                    </a:p>
                  </a:txBody>
                  <a:tcPr/>
                </a:tc>
                <a:tc>
                  <a:txBody>
                    <a:bodyPr/>
                    <a:lstStyle/>
                    <a:p>
                      <a:pPr algn="r" fontAlgn="b"/>
                      <a:r>
                        <a:rPr lang="en-IN" sz="3600" b="0" i="0" u="none" strike="noStrike" dirty="0">
                          <a:solidFill>
                            <a:srgbClr val="000000"/>
                          </a:solidFill>
                          <a:effectLst/>
                          <a:latin typeface="Times New Roman" panose="02020603050405020304" pitchFamily="18" charset="0"/>
                          <a:cs typeface="Times New Roman" panose="02020603050405020304" pitchFamily="18" charset="0"/>
                        </a:rPr>
                        <a:t>Never</a:t>
                      </a:r>
                    </a:p>
                  </a:txBody>
                  <a:tcPr marL="7620" marR="7620" marT="7620" marB="0" anchor="b"/>
                </a:tc>
                <a:tc>
                  <a:txBody>
                    <a:bodyPr/>
                    <a:lstStyle/>
                    <a:p>
                      <a:pPr algn="r" fontAlgn="b"/>
                      <a:r>
                        <a:rPr lang="en-IN" sz="3600" b="0" i="0" u="none" strike="noStrike" dirty="0">
                          <a:solidFill>
                            <a:srgbClr val="000000"/>
                          </a:solidFill>
                          <a:effectLst/>
                          <a:latin typeface="Times New Roman" panose="02020603050405020304" pitchFamily="18" charset="0"/>
                          <a:cs typeface="Times New Roman" panose="02020603050405020304" pitchFamily="18" charset="0"/>
                        </a:rPr>
                        <a:t>10</a:t>
                      </a:r>
                    </a:p>
                  </a:txBody>
                  <a:tcPr marL="7620" marR="7620" marT="7620" marB="0" anchor="b"/>
                </a:tc>
                <a:extLst>
                  <a:ext uri="{0D108BD9-81ED-4DB2-BD59-A6C34878D82A}">
                    <a16:rowId xmlns:a16="http://schemas.microsoft.com/office/drawing/2014/main" val="2548299130"/>
                  </a:ext>
                </a:extLst>
              </a:tr>
            </a:tbl>
          </a:graphicData>
        </a:graphic>
      </p:graphicFrame>
      <p:sp>
        <p:nvSpPr>
          <p:cNvPr id="4" name="TextBox 3">
            <a:extLst>
              <a:ext uri="{FF2B5EF4-FFF2-40B4-BE49-F238E27FC236}">
                <a16:creationId xmlns:a16="http://schemas.microsoft.com/office/drawing/2014/main" id="{5AD637FF-B64A-6023-120E-F08A330227B5}"/>
              </a:ext>
            </a:extLst>
          </p:cNvPr>
          <p:cNvSpPr txBox="1"/>
          <p:nvPr/>
        </p:nvSpPr>
        <p:spPr>
          <a:xfrm>
            <a:off x="4315326" y="5759116"/>
            <a:ext cx="3946358" cy="584775"/>
          </a:xfrm>
          <a:prstGeom prst="rect">
            <a:avLst/>
          </a:prstGeom>
          <a:noFill/>
        </p:spPr>
        <p:txBody>
          <a:bodyPr wrap="square" rtlCol="0">
            <a:spAutoFit/>
          </a:bodyPr>
          <a:lstStyle/>
          <a:p>
            <a:r>
              <a:rPr lang="en-IN" sz="3200" dirty="0">
                <a:latin typeface="Times New Roman" panose="02020603050405020304" pitchFamily="18" charset="0"/>
                <a:cs typeface="Times New Roman" panose="02020603050405020304" pitchFamily="18" charset="0"/>
              </a:rPr>
              <a:t>Mode = 2</a:t>
            </a:r>
          </a:p>
        </p:txBody>
      </p:sp>
    </p:spTree>
    <p:extLst>
      <p:ext uri="{BB962C8B-B14F-4D97-AF65-F5344CB8AC3E}">
        <p14:creationId xmlns:p14="http://schemas.microsoft.com/office/powerpoint/2010/main" val="229056815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D028903-906D-B900-6476-54EC5292449B}"/>
              </a:ext>
            </a:extLst>
          </p:cNvPr>
          <p:cNvPicPr>
            <a:picLocks noChangeAspect="1"/>
          </p:cNvPicPr>
          <p:nvPr/>
        </p:nvPicPr>
        <p:blipFill>
          <a:blip r:embed="rId2"/>
          <a:stretch>
            <a:fillRect/>
          </a:stretch>
        </p:blipFill>
        <p:spPr>
          <a:xfrm>
            <a:off x="0" y="664390"/>
            <a:ext cx="12192000" cy="5529219"/>
          </a:xfrm>
          <a:prstGeom prst="rect">
            <a:avLst/>
          </a:prstGeom>
        </p:spPr>
      </p:pic>
    </p:spTree>
    <p:extLst>
      <p:ext uri="{BB962C8B-B14F-4D97-AF65-F5344CB8AC3E}">
        <p14:creationId xmlns:p14="http://schemas.microsoft.com/office/powerpoint/2010/main" val="196973975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20D3B35-C2FF-358B-673E-01B339C8DB2C}"/>
              </a:ext>
            </a:extLst>
          </p:cNvPr>
          <p:cNvSpPr txBox="1"/>
          <p:nvPr/>
        </p:nvSpPr>
        <p:spPr>
          <a:xfrm>
            <a:off x="1762812" y="529389"/>
            <a:ext cx="6563041" cy="1077218"/>
          </a:xfrm>
          <a:prstGeom prst="rect">
            <a:avLst/>
          </a:prstGeom>
          <a:noFill/>
        </p:spPr>
        <p:txBody>
          <a:bodyPr wrap="square" rtlCol="0">
            <a:spAutoFit/>
          </a:bodyPr>
          <a:lstStyle/>
          <a:p>
            <a:r>
              <a:rPr lang="en-IN" sz="3200" dirty="0">
                <a:latin typeface="Times New Roman" panose="02020603050405020304" pitchFamily="18" charset="0"/>
                <a:cs typeface="Times New Roman" panose="02020603050405020304" pitchFamily="18" charset="0"/>
              </a:rPr>
              <a:t>Kurtosis	-0.259531635</a:t>
            </a:r>
          </a:p>
          <a:p>
            <a:r>
              <a:rPr lang="en-IN" sz="3200" dirty="0">
                <a:latin typeface="Times New Roman" panose="02020603050405020304" pitchFamily="18" charset="0"/>
                <a:cs typeface="Times New Roman" panose="02020603050405020304" pitchFamily="18" charset="0"/>
              </a:rPr>
              <a:t>Skewness	0.310856533</a:t>
            </a:r>
          </a:p>
        </p:txBody>
      </p:sp>
      <p:pic>
        <p:nvPicPr>
          <p:cNvPr id="3" name="Picture 2">
            <a:extLst>
              <a:ext uri="{FF2B5EF4-FFF2-40B4-BE49-F238E27FC236}">
                <a16:creationId xmlns:a16="http://schemas.microsoft.com/office/drawing/2014/main" id="{8E49FDE2-DE56-7E80-EF40-B553FB9CCD2A}"/>
              </a:ext>
            </a:extLst>
          </p:cNvPr>
          <p:cNvPicPr>
            <a:picLocks noChangeAspect="1"/>
          </p:cNvPicPr>
          <p:nvPr/>
        </p:nvPicPr>
        <p:blipFill>
          <a:blip r:embed="rId2"/>
          <a:stretch>
            <a:fillRect/>
          </a:stretch>
        </p:blipFill>
        <p:spPr>
          <a:xfrm>
            <a:off x="304801" y="1507958"/>
            <a:ext cx="11550316" cy="5382639"/>
          </a:xfrm>
          <a:prstGeom prst="rect">
            <a:avLst/>
          </a:prstGeom>
        </p:spPr>
      </p:pic>
    </p:spTree>
    <p:extLst>
      <p:ext uri="{BB962C8B-B14F-4D97-AF65-F5344CB8AC3E}">
        <p14:creationId xmlns:p14="http://schemas.microsoft.com/office/powerpoint/2010/main" val="129913351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72E3EAF-C50B-92F4-6CE4-753DBE70CDFB}"/>
              </a:ext>
            </a:extLst>
          </p:cNvPr>
          <p:cNvSpPr txBox="1"/>
          <p:nvPr/>
        </p:nvSpPr>
        <p:spPr>
          <a:xfrm>
            <a:off x="1131216" y="1155032"/>
            <a:ext cx="9539926" cy="1077218"/>
          </a:xfrm>
          <a:prstGeom prst="rect">
            <a:avLst/>
          </a:prstGeom>
          <a:noFill/>
        </p:spPr>
        <p:txBody>
          <a:bodyPr wrap="square" rtlCol="0">
            <a:spAutoFit/>
          </a:bodyPr>
          <a:lstStyle/>
          <a:p>
            <a:r>
              <a:rPr lang="en-IN" sz="3200" dirty="0">
                <a:latin typeface="Times New Roman" panose="02020603050405020304" pitchFamily="18" charset="0"/>
                <a:cs typeface="Times New Roman" panose="02020603050405020304" pitchFamily="18" charset="0"/>
              </a:rPr>
              <a:t>Inference: 50% of sample listens to influencer recommendations sometimes.</a:t>
            </a:r>
          </a:p>
        </p:txBody>
      </p:sp>
      <p:sp>
        <p:nvSpPr>
          <p:cNvPr id="3" name="TextBox 2">
            <a:extLst>
              <a:ext uri="{FF2B5EF4-FFF2-40B4-BE49-F238E27FC236}">
                <a16:creationId xmlns:a16="http://schemas.microsoft.com/office/drawing/2014/main" id="{A7019BA1-4238-69BA-6A6C-1DCE9EAE95FA}"/>
              </a:ext>
            </a:extLst>
          </p:cNvPr>
          <p:cNvSpPr txBox="1"/>
          <p:nvPr/>
        </p:nvSpPr>
        <p:spPr>
          <a:xfrm>
            <a:off x="1131216" y="2634586"/>
            <a:ext cx="8682086" cy="1077218"/>
          </a:xfrm>
          <a:prstGeom prst="rect">
            <a:avLst/>
          </a:prstGeom>
          <a:noFill/>
        </p:spPr>
        <p:txBody>
          <a:bodyPr wrap="square" rtlCol="0">
            <a:spAutoFit/>
          </a:bodyPr>
          <a:lstStyle/>
          <a:p>
            <a:r>
              <a:rPr lang="en-IN" sz="3200" dirty="0">
                <a:latin typeface="Times New Roman" panose="02020603050405020304" pitchFamily="18" charset="0"/>
                <a:cs typeface="Times New Roman" panose="02020603050405020304" pitchFamily="18" charset="0"/>
              </a:rPr>
              <a:t>Insights: Lots of people have chosen rarely and never, maybe most influencers lack expertise.</a:t>
            </a:r>
          </a:p>
        </p:txBody>
      </p:sp>
      <p:sp>
        <p:nvSpPr>
          <p:cNvPr id="4" name="TextBox 3">
            <a:extLst>
              <a:ext uri="{FF2B5EF4-FFF2-40B4-BE49-F238E27FC236}">
                <a16:creationId xmlns:a16="http://schemas.microsoft.com/office/drawing/2014/main" id="{955A84D0-1CE3-F5D8-D97E-54A7588B09CD}"/>
              </a:ext>
            </a:extLst>
          </p:cNvPr>
          <p:cNvSpPr txBox="1"/>
          <p:nvPr/>
        </p:nvSpPr>
        <p:spPr>
          <a:xfrm>
            <a:off x="1131216" y="4334510"/>
            <a:ext cx="9219414" cy="1077218"/>
          </a:xfrm>
          <a:prstGeom prst="rect">
            <a:avLst/>
          </a:prstGeom>
          <a:noFill/>
        </p:spPr>
        <p:txBody>
          <a:bodyPr wrap="square" rtlCol="0">
            <a:spAutoFit/>
          </a:bodyPr>
          <a:lstStyle/>
          <a:p>
            <a:r>
              <a:rPr lang="en-IN" sz="3200" dirty="0">
                <a:latin typeface="Times New Roman" panose="02020603050405020304" pitchFamily="18" charset="0"/>
                <a:cs typeface="Times New Roman" panose="02020603050405020304" pitchFamily="18" charset="0"/>
              </a:rPr>
              <a:t>Recommendations: Would recommend to collaborate with technical social media people or engineers.</a:t>
            </a:r>
          </a:p>
        </p:txBody>
      </p:sp>
    </p:spTree>
    <p:extLst>
      <p:ext uri="{BB962C8B-B14F-4D97-AF65-F5344CB8AC3E}">
        <p14:creationId xmlns:p14="http://schemas.microsoft.com/office/powerpoint/2010/main" val="285661532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EC92E25-C751-0250-0A79-A37CDD0D4321}"/>
              </a:ext>
            </a:extLst>
          </p:cNvPr>
          <p:cNvSpPr txBox="1"/>
          <p:nvPr/>
        </p:nvSpPr>
        <p:spPr>
          <a:xfrm>
            <a:off x="938462" y="474411"/>
            <a:ext cx="10635916" cy="1077218"/>
          </a:xfrm>
          <a:prstGeom prst="rect">
            <a:avLst/>
          </a:prstGeom>
          <a:noFill/>
        </p:spPr>
        <p:txBody>
          <a:bodyPr wrap="square" rtlCol="0">
            <a:spAutoFit/>
          </a:bodyPr>
          <a:lstStyle/>
          <a:p>
            <a:r>
              <a:rPr lang="en-US" sz="3200" dirty="0">
                <a:latin typeface="Times New Roman" panose="02020603050405020304" pitchFamily="18" charset="0"/>
                <a:cs typeface="Times New Roman" panose="02020603050405020304" pitchFamily="18" charset="0"/>
              </a:rPr>
              <a:t>14. How much do social media influencers impact your entertainment choices (movies, music, etc.)?</a:t>
            </a:r>
          </a:p>
        </p:txBody>
      </p:sp>
      <p:graphicFrame>
        <p:nvGraphicFramePr>
          <p:cNvPr id="3" name="Table 2">
            <a:extLst>
              <a:ext uri="{FF2B5EF4-FFF2-40B4-BE49-F238E27FC236}">
                <a16:creationId xmlns:a16="http://schemas.microsoft.com/office/drawing/2014/main" id="{00283417-289D-0AE9-718F-175BB2771F36}"/>
              </a:ext>
            </a:extLst>
          </p:cNvPr>
          <p:cNvGraphicFramePr>
            <a:graphicFrameLocks noGrp="1"/>
          </p:cNvGraphicFramePr>
          <p:nvPr>
            <p:extLst>
              <p:ext uri="{D42A27DB-BD31-4B8C-83A1-F6EECF244321}">
                <p14:modId xmlns:p14="http://schemas.microsoft.com/office/powerpoint/2010/main" val="2562353030"/>
              </p:ext>
            </p:extLst>
          </p:nvPr>
        </p:nvGraphicFramePr>
        <p:xfrm>
          <a:off x="561474" y="1801171"/>
          <a:ext cx="11389893" cy="3505200"/>
        </p:xfrm>
        <a:graphic>
          <a:graphicData uri="http://schemas.openxmlformats.org/drawingml/2006/table">
            <a:tbl>
              <a:tblPr firstRow="1" bandRow="1">
                <a:tableStyleId>{5C22544A-7EE6-4342-B048-85BDC9FD1C3A}</a:tableStyleId>
              </a:tblPr>
              <a:tblGrid>
                <a:gridCol w="3796631">
                  <a:extLst>
                    <a:ext uri="{9D8B030D-6E8A-4147-A177-3AD203B41FA5}">
                      <a16:colId xmlns:a16="http://schemas.microsoft.com/office/drawing/2014/main" val="977386116"/>
                    </a:ext>
                  </a:extLst>
                </a:gridCol>
                <a:gridCol w="3796631">
                  <a:extLst>
                    <a:ext uri="{9D8B030D-6E8A-4147-A177-3AD203B41FA5}">
                      <a16:colId xmlns:a16="http://schemas.microsoft.com/office/drawing/2014/main" val="2149543746"/>
                    </a:ext>
                  </a:extLst>
                </a:gridCol>
                <a:gridCol w="3796631">
                  <a:extLst>
                    <a:ext uri="{9D8B030D-6E8A-4147-A177-3AD203B41FA5}">
                      <a16:colId xmlns:a16="http://schemas.microsoft.com/office/drawing/2014/main" val="2391845955"/>
                    </a:ext>
                  </a:extLst>
                </a:gridCol>
              </a:tblGrid>
              <a:tr h="0">
                <a:tc>
                  <a:txBody>
                    <a:bodyPr/>
                    <a:lstStyle/>
                    <a:p>
                      <a:r>
                        <a:rPr lang="en-IN" sz="4000" dirty="0">
                          <a:solidFill>
                            <a:schemeClr val="bg1"/>
                          </a:solidFill>
                          <a:latin typeface="Times New Roman" panose="02020603050405020304" pitchFamily="18" charset="0"/>
                          <a:cs typeface="Times New Roman" panose="02020603050405020304" pitchFamily="18" charset="0"/>
                        </a:rPr>
                        <a:t>Code</a:t>
                      </a:r>
                    </a:p>
                  </a:txBody>
                  <a:tcPr/>
                </a:tc>
                <a:tc>
                  <a:txBody>
                    <a:bodyPr/>
                    <a:lstStyle/>
                    <a:p>
                      <a:pPr algn="l" fontAlgn="b"/>
                      <a:r>
                        <a:rPr lang="en-IN" sz="4000" b="0" i="0" u="none" strike="noStrike" dirty="0">
                          <a:solidFill>
                            <a:srgbClr val="000000"/>
                          </a:solidFill>
                          <a:effectLst/>
                          <a:latin typeface="Times New Roman" panose="02020603050405020304" pitchFamily="18" charset="0"/>
                          <a:cs typeface="Times New Roman" panose="02020603050405020304" pitchFamily="18" charset="0"/>
                        </a:rPr>
                        <a:t>Statement</a:t>
                      </a:r>
                    </a:p>
                  </a:txBody>
                  <a:tcPr marL="7620" marR="7620" marT="7620" marB="0" anchor="b"/>
                </a:tc>
                <a:tc>
                  <a:txBody>
                    <a:bodyPr/>
                    <a:lstStyle/>
                    <a:p>
                      <a:pPr algn="l" fontAlgn="b"/>
                      <a:r>
                        <a:rPr lang="en-IN" sz="4000" b="0" i="0" u="none" strike="noStrike">
                          <a:solidFill>
                            <a:srgbClr val="000000"/>
                          </a:solidFill>
                          <a:effectLst/>
                          <a:latin typeface="Times New Roman" panose="02020603050405020304" pitchFamily="18" charset="0"/>
                          <a:cs typeface="Times New Roman" panose="02020603050405020304" pitchFamily="18" charset="0"/>
                        </a:rPr>
                        <a:t>Numbers</a:t>
                      </a:r>
                    </a:p>
                  </a:txBody>
                  <a:tcPr marL="7620" marR="7620" marT="7620" marB="0" anchor="b"/>
                </a:tc>
                <a:extLst>
                  <a:ext uri="{0D108BD9-81ED-4DB2-BD59-A6C34878D82A}">
                    <a16:rowId xmlns:a16="http://schemas.microsoft.com/office/drawing/2014/main" val="1921628866"/>
                  </a:ext>
                </a:extLst>
              </a:tr>
              <a:tr h="370840">
                <a:tc>
                  <a:txBody>
                    <a:bodyPr/>
                    <a:lstStyle/>
                    <a:p>
                      <a:r>
                        <a:rPr lang="en-IN" sz="4000" dirty="0">
                          <a:latin typeface="Times New Roman" panose="02020603050405020304" pitchFamily="18" charset="0"/>
                          <a:cs typeface="Times New Roman" panose="02020603050405020304" pitchFamily="18" charset="0"/>
                        </a:rPr>
                        <a:t>1</a:t>
                      </a:r>
                    </a:p>
                  </a:txBody>
                  <a:tcPr/>
                </a:tc>
                <a:tc>
                  <a:txBody>
                    <a:bodyPr/>
                    <a:lstStyle/>
                    <a:p>
                      <a:pPr algn="r" fontAlgn="b"/>
                      <a:r>
                        <a:rPr lang="en-IN" sz="4000" b="0" i="0" u="none" strike="noStrike" dirty="0">
                          <a:solidFill>
                            <a:srgbClr val="000000"/>
                          </a:solidFill>
                          <a:effectLst/>
                          <a:latin typeface="Times New Roman" panose="02020603050405020304" pitchFamily="18" charset="0"/>
                          <a:cs typeface="Times New Roman" panose="02020603050405020304" pitchFamily="18" charset="0"/>
                        </a:rPr>
                        <a:t>Not at all</a:t>
                      </a:r>
                    </a:p>
                  </a:txBody>
                  <a:tcPr marL="7620" marR="7620" marT="7620" marB="0" anchor="b"/>
                </a:tc>
                <a:tc>
                  <a:txBody>
                    <a:bodyPr/>
                    <a:lstStyle/>
                    <a:p>
                      <a:pPr algn="r" fontAlgn="b"/>
                      <a:r>
                        <a:rPr lang="en-IN" sz="4000" b="0" i="0" u="none" strike="noStrike">
                          <a:solidFill>
                            <a:srgbClr val="000000"/>
                          </a:solidFill>
                          <a:effectLst/>
                          <a:latin typeface="Times New Roman" panose="02020603050405020304" pitchFamily="18" charset="0"/>
                          <a:cs typeface="Times New Roman" panose="02020603050405020304" pitchFamily="18" charset="0"/>
                        </a:rPr>
                        <a:t>18</a:t>
                      </a:r>
                    </a:p>
                  </a:txBody>
                  <a:tcPr marL="7620" marR="7620" marT="7620" marB="0" anchor="b"/>
                </a:tc>
                <a:extLst>
                  <a:ext uri="{0D108BD9-81ED-4DB2-BD59-A6C34878D82A}">
                    <a16:rowId xmlns:a16="http://schemas.microsoft.com/office/drawing/2014/main" val="3366611322"/>
                  </a:ext>
                </a:extLst>
              </a:tr>
              <a:tr h="370840">
                <a:tc>
                  <a:txBody>
                    <a:bodyPr/>
                    <a:lstStyle/>
                    <a:p>
                      <a:r>
                        <a:rPr lang="en-IN" sz="4000" dirty="0">
                          <a:latin typeface="Times New Roman" panose="02020603050405020304" pitchFamily="18" charset="0"/>
                          <a:cs typeface="Times New Roman" panose="02020603050405020304" pitchFamily="18" charset="0"/>
                        </a:rPr>
                        <a:t>2</a:t>
                      </a:r>
                    </a:p>
                  </a:txBody>
                  <a:tcPr/>
                </a:tc>
                <a:tc>
                  <a:txBody>
                    <a:bodyPr/>
                    <a:lstStyle/>
                    <a:p>
                      <a:pPr algn="r" fontAlgn="b"/>
                      <a:r>
                        <a:rPr lang="en-IN" sz="4000" b="0" i="0" u="none" strike="noStrike" dirty="0">
                          <a:solidFill>
                            <a:srgbClr val="000000"/>
                          </a:solidFill>
                          <a:effectLst/>
                          <a:latin typeface="Times New Roman" panose="02020603050405020304" pitchFamily="18" charset="0"/>
                          <a:cs typeface="Times New Roman" panose="02020603050405020304" pitchFamily="18" charset="0"/>
                        </a:rPr>
                        <a:t>Slightly</a:t>
                      </a:r>
                    </a:p>
                  </a:txBody>
                  <a:tcPr marL="7620" marR="7620" marT="7620" marB="0" anchor="b"/>
                </a:tc>
                <a:tc>
                  <a:txBody>
                    <a:bodyPr/>
                    <a:lstStyle/>
                    <a:p>
                      <a:pPr algn="r" fontAlgn="b"/>
                      <a:r>
                        <a:rPr lang="en-IN" sz="4000" b="0" i="0" u="none" strike="noStrike">
                          <a:solidFill>
                            <a:srgbClr val="000000"/>
                          </a:solidFill>
                          <a:effectLst/>
                          <a:latin typeface="Times New Roman" panose="02020603050405020304" pitchFamily="18" charset="0"/>
                          <a:cs typeface="Times New Roman" panose="02020603050405020304" pitchFamily="18" charset="0"/>
                        </a:rPr>
                        <a:t>35</a:t>
                      </a:r>
                    </a:p>
                  </a:txBody>
                  <a:tcPr marL="7620" marR="7620" marT="7620" marB="0" anchor="b"/>
                </a:tc>
                <a:extLst>
                  <a:ext uri="{0D108BD9-81ED-4DB2-BD59-A6C34878D82A}">
                    <a16:rowId xmlns:a16="http://schemas.microsoft.com/office/drawing/2014/main" val="580626718"/>
                  </a:ext>
                </a:extLst>
              </a:tr>
              <a:tr h="370840">
                <a:tc>
                  <a:txBody>
                    <a:bodyPr/>
                    <a:lstStyle/>
                    <a:p>
                      <a:r>
                        <a:rPr lang="en-IN" sz="4000" dirty="0">
                          <a:latin typeface="Times New Roman" panose="02020603050405020304" pitchFamily="18" charset="0"/>
                          <a:cs typeface="Times New Roman" panose="02020603050405020304" pitchFamily="18" charset="0"/>
                        </a:rPr>
                        <a:t>3</a:t>
                      </a:r>
                    </a:p>
                  </a:txBody>
                  <a:tcPr/>
                </a:tc>
                <a:tc>
                  <a:txBody>
                    <a:bodyPr/>
                    <a:lstStyle/>
                    <a:p>
                      <a:pPr algn="r" fontAlgn="b"/>
                      <a:r>
                        <a:rPr lang="en-IN" sz="4000" b="0" i="0" u="none" strike="noStrike" dirty="0">
                          <a:solidFill>
                            <a:srgbClr val="000000"/>
                          </a:solidFill>
                          <a:effectLst/>
                          <a:latin typeface="Times New Roman" panose="02020603050405020304" pitchFamily="18" charset="0"/>
                          <a:cs typeface="Times New Roman" panose="02020603050405020304" pitchFamily="18" charset="0"/>
                        </a:rPr>
                        <a:t>Moderately</a:t>
                      </a:r>
                    </a:p>
                  </a:txBody>
                  <a:tcPr marL="7620" marR="7620" marT="7620" marB="0" anchor="b"/>
                </a:tc>
                <a:tc>
                  <a:txBody>
                    <a:bodyPr/>
                    <a:lstStyle/>
                    <a:p>
                      <a:pPr algn="r" fontAlgn="b"/>
                      <a:r>
                        <a:rPr lang="en-IN" sz="4000" b="0" i="0" u="none" strike="noStrike">
                          <a:solidFill>
                            <a:srgbClr val="000000"/>
                          </a:solidFill>
                          <a:effectLst/>
                          <a:latin typeface="Times New Roman" panose="02020603050405020304" pitchFamily="18" charset="0"/>
                          <a:cs typeface="Times New Roman" panose="02020603050405020304" pitchFamily="18" charset="0"/>
                        </a:rPr>
                        <a:t>38</a:t>
                      </a:r>
                    </a:p>
                  </a:txBody>
                  <a:tcPr marL="7620" marR="7620" marT="7620" marB="0" anchor="b"/>
                </a:tc>
                <a:extLst>
                  <a:ext uri="{0D108BD9-81ED-4DB2-BD59-A6C34878D82A}">
                    <a16:rowId xmlns:a16="http://schemas.microsoft.com/office/drawing/2014/main" val="1930643002"/>
                  </a:ext>
                </a:extLst>
              </a:tr>
              <a:tr h="370840">
                <a:tc>
                  <a:txBody>
                    <a:bodyPr/>
                    <a:lstStyle/>
                    <a:p>
                      <a:r>
                        <a:rPr lang="en-IN" sz="4000" dirty="0">
                          <a:latin typeface="Times New Roman" panose="02020603050405020304" pitchFamily="18" charset="0"/>
                          <a:cs typeface="Times New Roman" panose="02020603050405020304" pitchFamily="18" charset="0"/>
                        </a:rPr>
                        <a:t>4</a:t>
                      </a:r>
                    </a:p>
                  </a:txBody>
                  <a:tcPr/>
                </a:tc>
                <a:tc>
                  <a:txBody>
                    <a:bodyPr/>
                    <a:lstStyle/>
                    <a:p>
                      <a:pPr algn="r" fontAlgn="b"/>
                      <a:r>
                        <a:rPr lang="en-IN" sz="4000" b="0" i="0" u="none" strike="noStrike" dirty="0">
                          <a:solidFill>
                            <a:srgbClr val="000000"/>
                          </a:solidFill>
                          <a:effectLst/>
                          <a:latin typeface="Times New Roman" panose="02020603050405020304" pitchFamily="18" charset="0"/>
                          <a:cs typeface="Times New Roman" panose="02020603050405020304" pitchFamily="18" charset="0"/>
                        </a:rPr>
                        <a:t>Significantly</a:t>
                      </a:r>
                    </a:p>
                  </a:txBody>
                  <a:tcPr marL="7620" marR="7620" marT="7620" marB="0" anchor="b"/>
                </a:tc>
                <a:tc>
                  <a:txBody>
                    <a:bodyPr/>
                    <a:lstStyle/>
                    <a:p>
                      <a:pPr algn="r" fontAlgn="b"/>
                      <a:r>
                        <a:rPr lang="en-IN" sz="4000" b="0" i="0" u="none" strike="noStrike" dirty="0">
                          <a:solidFill>
                            <a:srgbClr val="000000"/>
                          </a:solidFill>
                          <a:effectLst/>
                          <a:latin typeface="Times New Roman" panose="02020603050405020304" pitchFamily="18" charset="0"/>
                          <a:cs typeface="Times New Roman" panose="02020603050405020304" pitchFamily="18" charset="0"/>
                        </a:rPr>
                        <a:t>21</a:t>
                      </a:r>
                    </a:p>
                  </a:txBody>
                  <a:tcPr marL="7620" marR="7620" marT="7620" marB="0" anchor="b"/>
                </a:tc>
                <a:extLst>
                  <a:ext uri="{0D108BD9-81ED-4DB2-BD59-A6C34878D82A}">
                    <a16:rowId xmlns:a16="http://schemas.microsoft.com/office/drawing/2014/main" val="188005041"/>
                  </a:ext>
                </a:extLst>
              </a:tr>
            </a:tbl>
          </a:graphicData>
        </a:graphic>
      </p:graphicFrame>
      <p:sp>
        <p:nvSpPr>
          <p:cNvPr id="4" name="TextBox 3">
            <a:extLst>
              <a:ext uri="{FF2B5EF4-FFF2-40B4-BE49-F238E27FC236}">
                <a16:creationId xmlns:a16="http://schemas.microsoft.com/office/drawing/2014/main" id="{2434468F-47EE-31D3-9970-F50D0CD7D0F5}"/>
              </a:ext>
            </a:extLst>
          </p:cNvPr>
          <p:cNvSpPr txBox="1"/>
          <p:nvPr/>
        </p:nvSpPr>
        <p:spPr>
          <a:xfrm>
            <a:off x="4235116" y="5727032"/>
            <a:ext cx="2454442" cy="707886"/>
          </a:xfrm>
          <a:prstGeom prst="rect">
            <a:avLst/>
          </a:prstGeom>
          <a:noFill/>
        </p:spPr>
        <p:txBody>
          <a:bodyPr wrap="square" rtlCol="0">
            <a:spAutoFit/>
          </a:bodyPr>
          <a:lstStyle/>
          <a:p>
            <a:r>
              <a:rPr lang="en-IN" sz="4000" dirty="0">
                <a:latin typeface="Times New Roman" panose="02020603050405020304" pitchFamily="18" charset="0"/>
                <a:cs typeface="Times New Roman" panose="02020603050405020304" pitchFamily="18" charset="0"/>
              </a:rPr>
              <a:t>Mode = 3</a:t>
            </a:r>
          </a:p>
        </p:txBody>
      </p:sp>
    </p:spTree>
    <p:extLst>
      <p:ext uri="{BB962C8B-B14F-4D97-AF65-F5344CB8AC3E}">
        <p14:creationId xmlns:p14="http://schemas.microsoft.com/office/powerpoint/2010/main" val="234877265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B4DA6F7-A47A-7709-6450-6B94F94618E6}"/>
              </a:ext>
            </a:extLst>
          </p:cNvPr>
          <p:cNvPicPr>
            <a:picLocks noChangeAspect="1"/>
          </p:cNvPicPr>
          <p:nvPr/>
        </p:nvPicPr>
        <p:blipFill>
          <a:blip r:embed="rId2"/>
          <a:stretch>
            <a:fillRect/>
          </a:stretch>
        </p:blipFill>
        <p:spPr>
          <a:xfrm>
            <a:off x="0" y="664390"/>
            <a:ext cx="12192000" cy="5529219"/>
          </a:xfrm>
          <a:prstGeom prst="rect">
            <a:avLst/>
          </a:prstGeom>
        </p:spPr>
      </p:pic>
    </p:spTree>
    <p:extLst>
      <p:ext uri="{BB962C8B-B14F-4D97-AF65-F5344CB8AC3E}">
        <p14:creationId xmlns:p14="http://schemas.microsoft.com/office/powerpoint/2010/main" val="382141272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06AAF2F-DD58-57FE-32B7-D7D1B4CB3CE7}"/>
              </a:ext>
            </a:extLst>
          </p:cNvPr>
          <p:cNvSpPr txBox="1"/>
          <p:nvPr/>
        </p:nvSpPr>
        <p:spPr>
          <a:xfrm>
            <a:off x="1772240" y="721895"/>
            <a:ext cx="5671298" cy="1077218"/>
          </a:xfrm>
          <a:prstGeom prst="rect">
            <a:avLst/>
          </a:prstGeom>
          <a:noFill/>
        </p:spPr>
        <p:txBody>
          <a:bodyPr wrap="square" rtlCol="0">
            <a:spAutoFit/>
          </a:bodyPr>
          <a:lstStyle/>
          <a:p>
            <a:r>
              <a:rPr lang="en-IN" sz="3200">
                <a:latin typeface="Times New Roman" panose="02020603050405020304" pitchFamily="18" charset="0"/>
                <a:cs typeface="Times New Roman" panose="02020603050405020304" pitchFamily="18" charset="0"/>
              </a:rPr>
              <a:t>Kurtosis	-0.968075754</a:t>
            </a:r>
          </a:p>
          <a:p>
            <a:r>
              <a:rPr lang="en-IN" sz="3200">
                <a:latin typeface="Times New Roman" panose="02020603050405020304" pitchFamily="18" charset="0"/>
                <a:cs typeface="Times New Roman" panose="02020603050405020304" pitchFamily="18" charset="0"/>
              </a:rPr>
              <a:t>Skewness	-0.064195561</a:t>
            </a:r>
            <a:endParaRPr lang="en-IN" sz="32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49C84D9A-8FAD-2531-8950-5C38F5E790E0}"/>
              </a:ext>
            </a:extLst>
          </p:cNvPr>
          <p:cNvPicPr>
            <a:picLocks noChangeAspect="1"/>
          </p:cNvPicPr>
          <p:nvPr/>
        </p:nvPicPr>
        <p:blipFill>
          <a:blip r:embed="rId2"/>
          <a:stretch>
            <a:fillRect/>
          </a:stretch>
        </p:blipFill>
        <p:spPr>
          <a:xfrm>
            <a:off x="208547" y="2051184"/>
            <a:ext cx="11774906" cy="4916551"/>
          </a:xfrm>
          <a:prstGeom prst="rect">
            <a:avLst/>
          </a:prstGeom>
        </p:spPr>
      </p:pic>
    </p:spTree>
    <p:extLst>
      <p:ext uri="{BB962C8B-B14F-4D97-AF65-F5344CB8AC3E}">
        <p14:creationId xmlns:p14="http://schemas.microsoft.com/office/powerpoint/2010/main" val="185021107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E2E0B9E-566C-DAC6-B4B3-A743378589D6}"/>
              </a:ext>
            </a:extLst>
          </p:cNvPr>
          <p:cNvSpPr txBox="1"/>
          <p:nvPr/>
        </p:nvSpPr>
        <p:spPr>
          <a:xfrm>
            <a:off x="1404594" y="1235242"/>
            <a:ext cx="8578392" cy="1077218"/>
          </a:xfrm>
          <a:prstGeom prst="rect">
            <a:avLst/>
          </a:prstGeom>
          <a:noFill/>
        </p:spPr>
        <p:txBody>
          <a:bodyPr wrap="square" rtlCol="0">
            <a:spAutoFit/>
          </a:bodyPr>
          <a:lstStyle/>
          <a:p>
            <a:r>
              <a:rPr lang="en-IN" sz="3200" dirty="0">
                <a:latin typeface="Times New Roman" panose="02020603050405020304" pitchFamily="18" charset="0"/>
                <a:cs typeface="Times New Roman" panose="02020603050405020304" pitchFamily="18" charset="0"/>
              </a:rPr>
              <a:t>Inference: Most people have chosen moderate influence on media choices.</a:t>
            </a:r>
          </a:p>
        </p:txBody>
      </p:sp>
      <p:sp>
        <p:nvSpPr>
          <p:cNvPr id="3" name="TextBox 2">
            <a:extLst>
              <a:ext uri="{FF2B5EF4-FFF2-40B4-BE49-F238E27FC236}">
                <a16:creationId xmlns:a16="http://schemas.microsoft.com/office/drawing/2014/main" id="{7B013E50-C57E-B4C4-F404-24DA697121C6}"/>
              </a:ext>
            </a:extLst>
          </p:cNvPr>
          <p:cNvSpPr txBox="1"/>
          <p:nvPr/>
        </p:nvSpPr>
        <p:spPr>
          <a:xfrm>
            <a:off x="1404594" y="2478505"/>
            <a:ext cx="9813303" cy="1077218"/>
          </a:xfrm>
          <a:prstGeom prst="rect">
            <a:avLst/>
          </a:prstGeom>
          <a:noFill/>
        </p:spPr>
        <p:txBody>
          <a:bodyPr wrap="square" rtlCol="0">
            <a:spAutoFit/>
          </a:bodyPr>
          <a:lstStyle/>
          <a:p>
            <a:r>
              <a:rPr lang="en-IN" sz="3200" dirty="0">
                <a:latin typeface="Times New Roman" panose="02020603050405020304" pitchFamily="18" charset="0"/>
                <a:cs typeface="Times New Roman" panose="02020603050405020304" pitchFamily="18" charset="0"/>
              </a:rPr>
              <a:t>Insight: The reason might be that personal tastes of audience do not match with the influencers’ tastes.</a:t>
            </a:r>
          </a:p>
        </p:txBody>
      </p:sp>
      <p:sp>
        <p:nvSpPr>
          <p:cNvPr id="4" name="TextBox 3">
            <a:extLst>
              <a:ext uri="{FF2B5EF4-FFF2-40B4-BE49-F238E27FC236}">
                <a16:creationId xmlns:a16="http://schemas.microsoft.com/office/drawing/2014/main" id="{3DD43802-0A78-205D-5312-19A4DF2C3A99}"/>
              </a:ext>
            </a:extLst>
          </p:cNvPr>
          <p:cNvSpPr txBox="1"/>
          <p:nvPr/>
        </p:nvSpPr>
        <p:spPr>
          <a:xfrm>
            <a:off x="1230198" y="3853743"/>
            <a:ext cx="8927184" cy="1569660"/>
          </a:xfrm>
          <a:prstGeom prst="rect">
            <a:avLst/>
          </a:prstGeom>
          <a:noFill/>
        </p:spPr>
        <p:txBody>
          <a:bodyPr wrap="square" rtlCol="0">
            <a:spAutoFit/>
          </a:bodyPr>
          <a:lstStyle/>
          <a:p>
            <a:r>
              <a:rPr lang="en-IN" sz="3200" dirty="0">
                <a:latin typeface="Times New Roman" panose="02020603050405020304" pitchFamily="18" charset="0"/>
                <a:cs typeface="Times New Roman" panose="02020603050405020304" pitchFamily="18" charset="0"/>
              </a:rPr>
              <a:t>Recommendations: Influencers can involve people with different media tastes, so they can attract wide audience.</a:t>
            </a:r>
          </a:p>
        </p:txBody>
      </p:sp>
    </p:spTree>
    <p:extLst>
      <p:ext uri="{BB962C8B-B14F-4D97-AF65-F5344CB8AC3E}">
        <p14:creationId xmlns:p14="http://schemas.microsoft.com/office/powerpoint/2010/main" val="57971528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04C5784-E072-10D1-5C04-740C33925D1E}"/>
              </a:ext>
            </a:extLst>
          </p:cNvPr>
          <p:cNvSpPr txBox="1"/>
          <p:nvPr/>
        </p:nvSpPr>
        <p:spPr>
          <a:xfrm>
            <a:off x="240631" y="320842"/>
            <a:ext cx="11710737" cy="1077218"/>
          </a:xfrm>
          <a:prstGeom prst="rect">
            <a:avLst/>
          </a:prstGeom>
          <a:noFill/>
        </p:spPr>
        <p:txBody>
          <a:bodyPr wrap="square" rtlCol="0">
            <a:spAutoFit/>
          </a:bodyPr>
          <a:lstStyle/>
          <a:p>
            <a:r>
              <a:rPr lang="en-US" sz="3200" dirty="0">
                <a:latin typeface="Times New Roman" panose="02020603050405020304" pitchFamily="18" charset="0"/>
                <a:cs typeface="Times New Roman" panose="02020603050405020304" pitchFamily="18" charset="0"/>
              </a:rPr>
              <a:t>15. Overall, how influential are social media influencers in your daily life ?</a:t>
            </a:r>
          </a:p>
        </p:txBody>
      </p:sp>
      <p:graphicFrame>
        <p:nvGraphicFramePr>
          <p:cNvPr id="3" name="Table 2">
            <a:extLst>
              <a:ext uri="{FF2B5EF4-FFF2-40B4-BE49-F238E27FC236}">
                <a16:creationId xmlns:a16="http://schemas.microsoft.com/office/drawing/2014/main" id="{A7153366-85F9-3C81-EF50-CD34C88863EE}"/>
              </a:ext>
            </a:extLst>
          </p:cNvPr>
          <p:cNvGraphicFramePr>
            <a:graphicFrameLocks noGrp="1"/>
          </p:cNvGraphicFramePr>
          <p:nvPr>
            <p:extLst>
              <p:ext uri="{D42A27DB-BD31-4B8C-83A1-F6EECF244321}">
                <p14:modId xmlns:p14="http://schemas.microsoft.com/office/powerpoint/2010/main" val="1665111438"/>
              </p:ext>
            </p:extLst>
          </p:nvPr>
        </p:nvGraphicFramePr>
        <p:xfrm>
          <a:off x="48126" y="1398060"/>
          <a:ext cx="12015537" cy="4266333"/>
        </p:xfrm>
        <a:graphic>
          <a:graphicData uri="http://schemas.openxmlformats.org/drawingml/2006/table">
            <a:tbl>
              <a:tblPr firstRow="1" bandRow="1">
                <a:tableStyleId>{5C22544A-7EE6-4342-B048-85BDC9FD1C3A}</a:tableStyleId>
              </a:tblPr>
              <a:tblGrid>
                <a:gridCol w="3982079">
                  <a:extLst>
                    <a:ext uri="{9D8B030D-6E8A-4147-A177-3AD203B41FA5}">
                      <a16:colId xmlns:a16="http://schemas.microsoft.com/office/drawing/2014/main" val="1672401507"/>
                    </a:ext>
                  </a:extLst>
                </a:gridCol>
                <a:gridCol w="3910973">
                  <a:extLst>
                    <a:ext uri="{9D8B030D-6E8A-4147-A177-3AD203B41FA5}">
                      <a16:colId xmlns:a16="http://schemas.microsoft.com/office/drawing/2014/main" val="15939880"/>
                    </a:ext>
                  </a:extLst>
                </a:gridCol>
                <a:gridCol w="4122485">
                  <a:extLst>
                    <a:ext uri="{9D8B030D-6E8A-4147-A177-3AD203B41FA5}">
                      <a16:colId xmlns:a16="http://schemas.microsoft.com/office/drawing/2014/main" val="1915567891"/>
                    </a:ext>
                  </a:extLst>
                </a:gridCol>
              </a:tblGrid>
              <a:tr h="597615">
                <a:tc>
                  <a:txBody>
                    <a:bodyPr/>
                    <a:lstStyle/>
                    <a:p>
                      <a:pPr algn="l" fontAlgn="b"/>
                      <a:r>
                        <a:rPr lang="en-IN" sz="4000" b="0" i="0" u="none" strike="noStrike" dirty="0">
                          <a:solidFill>
                            <a:srgbClr val="000000"/>
                          </a:solidFill>
                          <a:effectLst/>
                          <a:latin typeface="Times New Roman" panose="02020603050405020304" pitchFamily="18" charset="0"/>
                          <a:cs typeface="Times New Roman" panose="02020603050405020304" pitchFamily="18" charset="0"/>
                        </a:rPr>
                        <a:t>Code</a:t>
                      </a:r>
                    </a:p>
                  </a:txBody>
                  <a:tcPr marL="7620" marR="7620" marT="7620" marB="0" anchor="b"/>
                </a:tc>
                <a:tc>
                  <a:txBody>
                    <a:bodyPr/>
                    <a:lstStyle/>
                    <a:p>
                      <a:pPr algn="l" fontAlgn="b"/>
                      <a:r>
                        <a:rPr lang="en-IN" sz="4000" b="0" i="0" u="none" strike="noStrike" dirty="0">
                          <a:solidFill>
                            <a:srgbClr val="000000"/>
                          </a:solidFill>
                          <a:effectLst/>
                          <a:latin typeface="Times New Roman" panose="02020603050405020304" pitchFamily="18" charset="0"/>
                          <a:cs typeface="Times New Roman" panose="02020603050405020304" pitchFamily="18" charset="0"/>
                        </a:rPr>
                        <a:t>Statement</a:t>
                      </a:r>
                    </a:p>
                  </a:txBody>
                  <a:tcPr marL="7620" marR="7620" marT="7620" marB="0" anchor="b"/>
                </a:tc>
                <a:tc>
                  <a:txBody>
                    <a:bodyPr/>
                    <a:lstStyle/>
                    <a:p>
                      <a:pPr algn="l" fontAlgn="b"/>
                      <a:r>
                        <a:rPr lang="en-IN" sz="4000" b="0" i="0" u="none" strike="noStrike">
                          <a:solidFill>
                            <a:srgbClr val="000000"/>
                          </a:solidFill>
                          <a:effectLst/>
                          <a:latin typeface="Times New Roman" panose="02020603050405020304" pitchFamily="18" charset="0"/>
                          <a:cs typeface="Times New Roman" panose="02020603050405020304" pitchFamily="18" charset="0"/>
                        </a:rPr>
                        <a:t>Numbers</a:t>
                      </a:r>
                    </a:p>
                  </a:txBody>
                  <a:tcPr marL="7620" marR="7620" marT="7620" marB="0" anchor="b"/>
                </a:tc>
                <a:extLst>
                  <a:ext uri="{0D108BD9-81ED-4DB2-BD59-A6C34878D82A}">
                    <a16:rowId xmlns:a16="http://schemas.microsoft.com/office/drawing/2014/main" val="3451886718"/>
                  </a:ext>
                </a:extLst>
              </a:tr>
              <a:tr h="597615">
                <a:tc>
                  <a:txBody>
                    <a:bodyPr/>
                    <a:lstStyle/>
                    <a:p>
                      <a:pPr algn="r" fontAlgn="b"/>
                      <a:r>
                        <a:rPr lang="en-IN" sz="4000" b="0" i="0" u="none" strike="noStrike" dirty="0">
                          <a:solidFill>
                            <a:srgbClr val="000000"/>
                          </a:solidFill>
                          <a:effectLst/>
                          <a:latin typeface="Times New Roman" panose="02020603050405020304" pitchFamily="18" charset="0"/>
                          <a:cs typeface="Times New Roman" panose="02020603050405020304" pitchFamily="18" charset="0"/>
                        </a:rPr>
                        <a:t>1</a:t>
                      </a:r>
                    </a:p>
                  </a:txBody>
                  <a:tcPr marL="7620" marR="7620" marT="7620" marB="0" anchor="b"/>
                </a:tc>
                <a:tc>
                  <a:txBody>
                    <a:bodyPr/>
                    <a:lstStyle/>
                    <a:p>
                      <a:pPr algn="r" fontAlgn="b"/>
                      <a:r>
                        <a:rPr lang="en-IN" sz="4000" b="0" i="0" u="none" strike="noStrike" dirty="0">
                          <a:solidFill>
                            <a:srgbClr val="000000"/>
                          </a:solidFill>
                          <a:effectLst/>
                          <a:latin typeface="Times New Roman" panose="02020603050405020304" pitchFamily="18" charset="0"/>
                          <a:cs typeface="Times New Roman" panose="02020603050405020304" pitchFamily="18" charset="0"/>
                        </a:rPr>
                        <a:t>Not influential</a:t>
                      </a:r>
                    </a:p>
                  </a:txBody>
                  <a:tcPr marL="7620" marR="7620" marT="7620" marB="0" anchor="b"/>
                </a:tc>
                <a:tc>
                  <a:txBody>
                    <a:bodyPr/>
                    <a:lstStyle/>
                    <a:p>
                      <a:pPr algn="r" fontAlgn="b"/>
                      <a:r>
                        <a:rPr lang="en-IN" sz="4000" b="0" i="0" u="none" strike="noStrike">
                          <a:solidFill>
                            <a:srgbClr val="000000"/>
                          </a:solidFill>
                          <a:effectLst/>
                          <a:latin typeface="Times New Roman" panose="02020603050405020304" pitchFamily="18" charset="0"/>
                          <a:cs typeface="Times New Roman" panose="02020603050405020304" pitchFamily="18" charset="0"/>
                        </a:rPr>
                        <a:t>23</a:t>
                      </a:r>
                    </a:p>
                  </a:txBody>
                  <a:tcPr marL="7620" marR="7620" marT="7620" marB="0" anchor="b"/>
                </a:tc>
                <a:extLst>
                  <a:ext uri="{0D108BD9-81ED-4DB2-BD59-A6C34878D82A}">
                    <a16:rowId xmlns:a16="http://schemas.microsoft.com/office/drawing/2014/main" val="2510307976"/>
                  </a:ext>
                </a:extLst>
              </a:tr>
              <a:tr h="1187853">
                <a:tc>
                  <a:txBody>
                    <a:bodyPr/>
                    <a:lstStyle/>
                    <a:p>
                      <a:pPr algn="r" fontAlgn="b"/>
                      <a:r>
                        <a:rPr lang="en-IN" sz="4000" b="0" i="0" u="none" strike="noStrike" dirty="0">
                          <a:solidFill>
                            <a:srgbClr val="000000"/>
                          </a:solidFill>
                          <a:effectLst/>
                          <a:latin typeface="Times New Roman" panose="02020603050405020304" pitchFamily="18" charset="0"/>
                          <a:cs typeface="Times New Roman" panose="02020603050405020304" pitchFamily="18" charset="0"/>
                        </a:rPr>
                        <a:t>2</a:t>
                      </a:r>
                    </a:p>
                  </a:txBody>
                  <a:tcPr marL="7620" marR="7620" marT="7620" marB="0" anchor="b"/>
                </a:tc>
                <a:tc>
                  <a:txBody>
                    <a:bodyPr/>
                    <a:lstStyle/>
                    <a:p>
                      <a:pPr algn="r" fontAlgn="b"/>
                      <a:r>
                        <a:rPr lang="en-IN" sz="4000" b="0" i="0" u="none" strike="noStrike" dirty="0">
                          <a:solidFill>
                            <a:srgbClr val="000000"/>
                          </a:solidFill>
                          <a:effectLst/>
                          <a:latin typeface="Times New Roman" panose="02020603050405020304" pitchFamily="18" charset="0"/>
                          <a:cs typeface="Times New Roman" panose="02020603050405020304" pitchFamily="18" charset="0"/>
                        </a:rPr>
                        <a:t>Slightly influential</a:t>
                      </a:r>
                    </a:p>
                  </a:txBody>
                  <a:tcPr marL="7620" marR="7620" marT="7620" marB="0" anchor="b"/>
                </a:tc>
                <a:tc>
                  <a:txBody>
                    <a:bodyPr/>
                    <a:lstStyle/>
                    <a:p>
                      <a:pPr algn="r" fontAlgn="b"/>
                      <a:r>
                        <a:rPr lang="en-IN" sz="4000" b="0" i="0" u="none" strike="noStrike" dirty="0">
                          <a:solidFill>
                            <a:srgbClr val="000000"/>
                          </a:solidFill>
                          <a:effectLst/>
                          <a:latin typeface="Times New Roman" panose="02020603050405020304" pitchFamily="18" charset="0"/>
                          <a:cs typeface="Times New Roman" panose="02020603050405020304" pitchFamily="18" charset="0"/>
                        </a:rPr>
                        <a:t>46</a:t>
                      </a:r>
                    </a:p>
                  </a:txBody>
                  <a:tcPr marL="7620" marR="7620" marT="7620" marB="0" anchor="b"/>
                </a:tc>
                <a:extLst>
                  <a:ext uri="{0D108BD9-81ED-4DB2-BD59-A6C34878D82A}">
                    <a16:rowId xmlns:a16="http://schemas.microsoft.com/office/drawing/2014/main" val="2043429324"/>
                  </a:ext>
                </a:extLst>
              </a:tr>
              <a:tr h="1187853">
                <a:tc>
                  <a:txBody>
                    <a:bodyPr/>
                    <a:lstStyle/>
                    <a:p>
                      <a:pPr algn="r" fontAlgn="b"/>
                      <a:r>
                        <a:rPr lang="en-IN" sz="4000" b="0" i="0" u="none" strike="noStrike" dirty="0">
                          <a:solidFill>
                            <a:srgbClr val="000000"/>
                          </a:solidFill>
                          <a:effectLst/>
                          <a:latin typeface="Times New Roman" panose="02020603050405020304" pitchFamily="18" charset="0"/>
                          <a:cs typeface="Times New Roman" panose="02020603050405020304" pitchFamily="18" charset="0"/>
                        </a:rPr>
                        <a:t>3</a:t>
                      </a:r>
                    </a:p>
                  </a:txBody>
                  <a:tcPr marL="7620" marR="7620" marT="7620" marB="0" anchor="b"/>
                </a:tc>
                <a:tc>
                  <a:txBody>
                    <a:bodyPr/>
                    <a:lstStyle/>
                    <a:p>
                      <a:pPr algn="r" fontAlgn="b"/>
                      <a:r>
                        <a:rPr lang="en-IN" sz="4000" b="0" i="0" u="none" strike="noStrike" dirty="0">
                          <a:solidFill>
                            <a:srgbClr val="000000"/>
                          </a:solidFill>
                          <a:effectLst/>
                          <a:latin typeface="Times New Roman" panose="02020603050405020304" pitchFamily="18" charset="0"/>
                          <a:cs typeface="Times New Roman" panose="02020603050405020304" pitchFamily="18" charset="0"/>
                        </a:rPr>
                        <a:t>Moderately influential</a:t>
                      </a:r>
                    </a:p>
                  </a:txBody>
                  <a:tcPr marL="7620" marR="7620" marT="7620" marB="0" anchor="b"/>
                </a:tc>
                <a:tc>
                  <a:txBody>
                    <a:bodyPr/>
                    <a:lstStyle/>
                    <a:p>
                      <a:pPr algn="r" fontAlgn="b"/>
                      <a:r>
                        <a:rPr lang="en-IN" sz="4000" b="0" i="0" u="none" strike="noStrike" dirty="0">
                          <a:solidFill>
                            <a:srgbClr val="000000"/>
                          </a:solidFill>
                          <a:effectLst/>
                          <a:latin typeface="Times New Roman" panose="02020603050405020304" pitchFamily="18" charset="0"/>
                          <a:cs typeface="Times New Roman" panose="02020603050405020304" pitchFamily="18" charset="0"/>
                        </a:rPr>
                        <a:t>35</a:t>
                      </a:r>
                    </a:p>
                  </a:txBody>
                  <a:tcPr marL="7620" marR="7620" marT="7620" marB="0" anchor="b"/>
                </a:tc>
                <a:extLst>
                  <a:ext uri="{0D108BD9-81ED-4DB2-BD59-A6C34878D82A}">
                    <a16:rowId xmlns:a16="http://schemas.microsoft.com/office/drawing/2014/main" val="1474211925"/>
                  </a:ext>
                </a:extLst>
              </a:tr>
              <a:tr h="597615">
                <a:tc>
                  <a:txBody>
                    <a:bodyPr/>
                    <a:lstStyle/>
                    <a:p>
                      <a:pPr algn="r" fontAlgn="b"/>
                      <a:r>
                        <a:rPr lang="en-IN" sz="4000" b="0" i="0" u="none" strike="noStrike" dirty="0">
                          <a:solidFill>
                            <a:srgbClr val="000000"/>
                          </a:solidFill>
                          <a:effectLst/>
                          <a:latin typeface="Times New Roman" panose="02020603050405020304" pitchFamily="18" charset="0"/>
                          <a:cs typeface="Times New Roman" panose="02020603050405020304" pitchFamily="18" charset="0"/>
                        </a:rPr>
                        <a:t>4</a:t>
                      </a:r>
                    </a:p>
                  </a:txBody>
                  <a:tcPr marL="7620" marR="7620" marT="7620" marB="0" anchor="b"/>
                </a:tc>
                <a:tc>
                  <a:txBody>
                    <a:bodyPr/>
                    <a:lstStyle/>
                    <a:p>
                      <a:pPr algn="r" fontAlgn="b"/>
                      <a:r>
                        <a:rPr lang="en-IN" sz="4000" b="0" i="0" u="none" strike="noStrike" dirty="0">
                          <a:solidFill>
                            <a:srgbClr val="000000"/>
                          </a:solidFill>
                          <a:effectLst/>
                          <a:latin typeface="Times New Roman" panose="02020603050405020304" pitchFamily="18" charset="0"/>
                          <a:cs typeface="Times New Roman" panose="02020603050405020304" pitchFamily="18" charset="0"/>
                        </a:rPr>
                        <a:t>Very influential</a:t>
                      </a:r>
                    </a:p>
                  </a:txBody>
                  <a:tcPr marL="7620" marR="7620" marT="7620" marB="0" anchor="b"/>
                </a:tc>
                <a:tc>
                  <a:txBody>
                    <a:bodyPr/>
                    <a:lstStyle/>
                    <a:p>
                      <a:pPr algn="r" fontAlgn="b"/>
                      <a:r>
                        <a:rPr lang="en-IN" sz="4000" b="0" i="0" u="none" strike="noStrike" dirty="0">
                          <a:solidFill>
                            <a:srgbClr val="000000"/>
                          </a:solidFill>
                          <a:effectLst/>
                          <a:latin typeface="Times New Roman" panose="02020603050405020304" pitchFamily="18" charset="0"/>
                          <a:cs typeface="Times New Roman" panose="02020603050405020304" pitchFamily="18" charset="0"/>
                        </a:rPr>
                        <a:t>8</a:t>
                      </a:r>
                    </a:p>
                  </a:txBody>
                  <a:tcPr marL="7620" marR="7620" marT="7620" marB="0" anchor="b"/>
                </a:tc>
                <a:extLst>
                  <a:ext uri="{0D108BD9-81ED-4DB2-BD59-A6C34878D82A}">
                    <a16:rowId xmlns:a16="http://schemas.microsoft.com/office/drawing/2014/main" val="621777774"/>
                  </a:ext>
                </a:extLst>
              </a:tr>
            </a:tbl>
          </a:graphicData>
        </a:graphic>
      </p:graphicFrame>
      <p:sp>
        <p:nvSpPr>
          <p:cNvPr id="4" name="TextBox 3">
            <a:extLst>
              <a:ext uri="{FF2B5EF4-FFF2-40B4-BE49-F238E27FC236}">
                <a16:creationId xmlns:a16="http://schemas.microsoft.com/office/drawing/2014/main" id="{DC9FE4C6-109C-2663-4844-98D318F4DACE}"/>
              </a:ext>
            </a:extLst>
          </p:cNvPr>
          <p:cNvSpPr txBox="1"/>
          <p:nvPr/>
        </p:nvSpPr>
        <p:spPr>
          <a:xfrm>
            <a:off x="4780547" y="5857248"/>
            <a:ext cx="4764506" cy="923330"/>
          </a:xfrm>
          <a:prstGeom prst="rect">
            <a:avLst/>
          </a:prstGeom>
          <a:noFill/>
        </p:spPr>
        <p:txBody>
          <a:bodyPr wrap="square" rtlCol="0">
            <a:spAutoFit/>
          </a:bodyPr>
          <a:lstStyle/>
          <a:p>
            <a:r>
              <a:rPr lang="en-IN" sz="5400" dirty="0">
                <a:latin typeface="Times New Roman" panose="02020603050405020304" pitchFamily="18" charset="0"/>
                <a:cs typeface="Times New Roman" panose="02020603050405020304" pitchFamily="18" charset="0"/>
              </a:rPr>
              <a:t>Mode = 2</a:t>
            </a:r>
          </a:p>
        </p:txBody>
      </p:sp>
    </p:spTree>
    <p:extLst>
      <p:ext uri="{BB962C8B-B14F-4D97-AF65-F5344CB8AC3E}">
        <p14:creationId xmlns:p14="http://schemas.microsoft.com/office/powerpoint/2010/main" val="21190334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4278988-9516-BC19-ACC0-54CA763571C6}"/>
              </a:ext>
            </a:extLst>
          </p:cNvPr>
          <p:cNvPicPr>
            <a:picLocks noChangeAspect="1"/>
          </p:cNvPicPr>
          <p:nvPr/>
        </p:nvPicPr>
        <p:blipFill>
          <a:blip r:embed="rId2"/>
          <a:stretch>
            <a:fillRect/>
          </a:stretch>
        </p:blipFill>
        <p:spPr>
          <a:xfrm>
            <a:off x="0" y="863385"/>
            <a:ext cx="12192000" cy="5131229"/>
          </a:xfrm>
          <a:prstGeom prst="rect">
            <a:avLst/>
          </a:prstGeom>
        </p:spPr>
      </p:pic>
    </p:spTree>
    <p:extLst>
      <p:ext uri="{BB962C8B-B14F-4D97-AF65-F5344CB8AC3E}">
        <p14:creationId xmlns:p14="http://schemas.microsoft.com/office/powerpoint/2010/main" val="283073822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2AD1D64-3751-78A4-4F67-A9B1B2489FFD}"/>
              </a:ext>
            </a:extLst>
          </p:cNvPr>
          <p:cNvSpPr txBox="1"/>
          <p:nvPr/>
        </p:nvSpPr>
        <p:spPr>
          <a:xfrm>
            <a:off x="4203032" y="1106905"/>
            <a:ext cx="2406315" cy="369332"/>
          </a:xfrm>
          <a:prstGeom prst="rect">
            <a:avLst/>
          </a:prstGeom>
          <a:noFill/>
        </p:spPr>
        <p:txBody>
          <a:bodyPr wrap="square" rtlCol="0">
            <a:spAutoFit/>
          </a:bodyPr>
          <a:lstStyle/>
          <a:p>
            <a:endParaRPr lang="en-IN" dirty="0"/>
          </a:p>
        </p:txBody>
      </p:sp>
      <p:sp>
        <p:nvSpPr>
          <p:cNvPr id="3" name="TextBox 2">
            <a:extLst>
              <a:ext uri="{FF2B5EF4-FFF2-40B4-BE49-F238E27FC236}">
                <a16:creationId xmlns:a16="http://schemas.microsoft.com/office/drawing/2014/main" id="{D61FFDD6-BEF6-851A-4796-E8CB5B0FC792}"/>
              </a:ext>
            </a:extLst>
          </p:cNvPr>
          <p:cNvSpPr txBox="1"/>
          <p:nvPr/>
        </p:nvSpPr>
        <p:spPr>
          <a:xfrm>
            <a:off x="1725105" y="460574"/>
            <a:ext cx="5333421" cy="1077218"/>
          </a:xfrm>
          <a:prstGeom prst="rect">
            <a:avLst/>
          </a:prstGeom>
          <a:noFill/>
        </p:spPr>
        <p:txBody>
          <a:bodyPr wrap="square" rtlCol="0">
            <a:spAutoFit/>
          </a:bodyPr>
          <a:lstStyle/>
          <a:p>
            <a:r>
              <a:rPr lang="en-IN" sz="3200" dirty="0">
                <a:latin typeface="Times New Roman" panose="02020603050405020304" pitchFamily="18" charset="0"/>
                <a:cs typeface="Times New Roman" panose="02020603050405020304" pitchFamily="18" charset="0"/>
              </a:rPr>
              <a:t>Skewness	0.170235815</a:t>
            </a:r>
          </a:p>
          <a:p>
            <a:r>
              <a:rPr lang="en-IN" sz="3200" dirty="0">
                <a:latin typeface="Times New Roman" panose="02020603050405020304" pitchFamily="18" charset="0"/>
                <a:cs typeface="Times New Roman" panose="02020603050405020304" pitchFamily="18" charset="0"/>
              </a:rPr>
              <a:t>Kurtosis	-0.660293168</a:t>
            </a:r>
          </a:p>
        </p:txBody>
      </p:sp>
      <p:pic>
        <p:nvPicPr>
          <p:cNvPr id="4" name="Picture 3">
            <a:extLst>
              <a:ext uri="{FF2B5EF4-FFF2-40B4-BE49-F238E27FC236}">
                <a16:creationId xmlns:a16="http://schemas.microsoft.com/office/drawing/2014/main" id="{813ACB52-A659-536D-1E84-0B8724DFC77B}"/>
              </a:ext>
            </a:extLst>
          </p:cNvPr>
          <p:cNvPicPr>
            <a:picLocks noChangeAspect="1"/>
          </p:cNvPicPr>
          <p:nvPr/>
        </p:nvPicPr>
        <p:blipFill>
          <a:blip r:embed="rId2"/>
          <a:stretch>
            <a:fillRect/>
          </a:stretch>
        </p:blipFill>
        <p:spPr>
          <a:xfrm>
            <a:off x="0" y="1636296"/>
            <a:ext cx="11967411" cy="5321798"/>
          </a:xfrm>
          <a:prstGeom prst="rect">
            <a:avLst/>
          </a:prstGeom>
        </p:spPr>
      </p:pic>
    </p:spTree>
    <p:extLst>
      <p:ext uri="{BB962C8B-B14F-4D97-AF65-F5344CB8AC3E}">
        <p14:creationId xmlns:p14="http://schemas.microsoft.com/office/powerpoint/2010/main" val="416850165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EE3BB36-9F3D-F635-87AA-A49F20213089}"/>
              </a:ext>
            </a:extLst>
          </p:cNvPr>
          <p:cNvSpPr txBox="1"/>
          <p:nvPr/>
        </p:nvSpPr>
        <p:spPr>
          <a:xfrm>
            <a:off x="1772239" y="737937"/>
            <a:ext cx="8647521" cy="1077218"/>
          </a:xfrm>
          <a:prstGeom prst="rect">
            <a:avLst/>
          </a:prstGeom>
          <a:noFill/>
        </p:spPr>
        <p:txBody>
          <a:bodyPr wrap="square" rtlCol="0">
            <a:spAutoFit/>
          </a:bodyPr>
          <a:lstStyle/>
          <a:p>
            <a:r>
              <a:rPr lang="en-IN" sz="3200" dirty="0">
                <a:latin typeface="Times New Roman" panose="02020603050405020304" pitchFamily="18" charset="0"/>
                <a:cs typeface="Times New Roman" panose="02020603050405020304" pitchFamily="18" charset="0"/>
              </a:rPr>
              <a:t>Inferences: The people have said that they are slightly-moderately influenced.</a:t>
            </a:r>
          </a:p>
        </p:txBody>
      </p:sp>
      <p:sp>
        <p:nvSpPr>
          <p:cNvPr id="3" name="TextBox 2">
            <a:extLst>
              <a:ext uri="{FF2B5EF4-FFF2-40B4-BE49-F238E27FC236}">
                <a16:creationId xmlns:a16="http://schemas.microsoft.com/office/drawing/2014/main" id="{BC7B5587-8377-C1A3-B583-15A93339C3BB}"/>
              </a:ext>
            </a:extLst>
          </p:cNvPr>
          <p:cNvSpPr txBox="1"/>
          <p:nvPr/>
        </p:nvSpPr>
        <p:spPr>
          <a:xfrm>
            <a:off x="1772239" y="2147500"/>
            <a:ext cx="7880808" cy="1569660"/>
          </a:xfrm>
          <a:prstGeom prst="rect">
            <a:avLst/>
          </a:prstGeom>
          <a:noFill/>
        </p:spPr>
        <p:txBody>
          <a:bodyPr wrap="square" rtlCol="0">
            <a:spAutoFit/>
          </a:bodyPr>
          <a:lstStyle/>
          <a:p>
            <a:r>
              <a:rPr lang="en-IN" sz="3200" dirty="0">
                <a:latin typeface="Times New Roman" panose="02020603050405020304" pitchFamily="18" charset="0"/>
                <a:cs typeface="Times New Roman" panose="02020603050405020304" pitchFamily="18" charset="0"/>
              </a:rPr>
              <a:t>Insights: 20.5% of the sample has chosen zero influence, might be due to personality differences.</a:t>
            </a:r>
          </a:p>
        </p:txBody>
      </p:sp>
      <p:sp>
        <p:nvSpPr>
          <p:cNvPr id="4" name="TextBox 3">
            <a:extLst>
              <a:ext uri="{FF2B5EF4-FFF2-40B4-BE49-F238E27FC236}">
                <a16:creationId xmlns:a16="http://schemas.microsoft.com/office/drawing/2014/main" id="{EB650DA8-6A72-1333-D291-5E9CD6C232BB}"/>
              </a:ext>
            </a:extLst>
          </p:cNvPr>
          <p:cNvSpPr txBox="1"/>
          <p:nvPr/>
        </p:nvSpPr>
        <p:spPr>
          <a:xfrm>
            <a:off x="1772239" y="3796356"/>
            <a:ext cx="7880809" cy="1569660"/>
          </a:xfrm>
          <a:prstGeom prst="rect">
            <a:avLst/>
          </a:prstGeom>
          <a:noFill/>
        </p:spPr>
        <p:txBody>
          <a:bodyPr wrap="square" rtlCol="0">
            <a:spAutoFit/>
          </a:bodyPr>
          <a:lstStyle/>
          <a:p>
            <a:r>
              <a:rPr lang="en-IN" sz="3200" dirty="0">
                <a:latin typeface="Times New Roman" panose="02020603050405020304" pitchFamily="18" charset="0"/>
                <a:cs typeface="Times New Roman" panose="02020603050405020304" pitchFamily="18" charset="0"/>
              </a:rPr>
              <a:t>Recommendations: Would recommend influencers to be transparent, truthful, and not promote harmful products.</a:t>
            </a:r>
          </a:p>
        </p:txBody>
      </p:sp>
    </p:spTree>
    <p:extLst>
      <p:ext uri="{BB962C8B-B14F-4D97-AF65-F5344CB8AC3E}">
        <p14:creationId xmlns:p14="http://schemas.microsoft.com/office/powerpoint/2010/main" val="148753513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D80A441-1E70-89DF-C2C2-70E8BFD4144C}"/>
              </a:ext>
            </a:extLst>
          </p:cNvPr>
          <p:cNvSpPr txBox="1"/>
          <p:nvPr/>
        </p:nvSpPr>
        <p:spPr>
          <a:xfrm>
            <a:off x="657726" y="545432"/>
            <a:ext cx="11036969" cy="646331"/>
          </a:xfrm>
          <a:prstGeom prst="rect">
            <a:avLst/>
          </a:prstGeom>
          <a:noFill/>
        </p:spPr>
        <p:txBody>
          <a:bodyPr wrap="square" rtlCol="0">
            <a:spAutoFit/>
          </a:bodyPr>
          <a:lstStyle/>
          <a:p>
            <a:r>
              <a:rPr lang="en-IN" sz="3600" dirty="0">
                <a:latin typeface="Times New Roman" panose="02020603050405020304" pitchFamily="18" charset="0"/>
                <a:cs typeface="Times New Roman" panose="02020603050405020304" pitchFamily="18" charset="0"/>
              </a:rPr>
              <a:t>Improvements measures, addition of new questions</a:t>
            </a:r>
          </a:p>
        </p:txBody>
      </p:sp>
      <p:sp>
        <p:nvSpPr>
          <p:cNvPr id="3" name="TextBox 2">
            <a:extLst>
              <a:ext uri="{FF2B5EF4-FFF2-40B4-BE49-F238E27FC236}">
                <a16:creationId xmlns:a16="http://schemas.microsoft.com/office/drawing/2014/main" id="{9D2ED258-223B-92AE-4263-CA58B16CAFE7}"/>
              </a:ext>
            </a:extLst>
          </p:cNvPr>
          <p:cNvSpPr txBox="1"/>
          <p:nvPr/>
        </p:nvSpPr>
        <p:spPr>
          <a:xfrm>
            <a:off x="1187116" y="1957137"/>
            <a:ext cx="10218821" cy="3046988"/>
          </a:xfrm>
          <a:prstGeom prst="rect">
            <a:avLst/>
          </a:prstGeom>
          <a:noFill/>
        </p:spPr>
        <p:txBody>
          <a:bodyPr wrap="square" rtlCol="0">
            <a:spAutoFit/>
          </a:bodyPr>
          <a:lstStyle/>
          <a:p>
            <a:pPr marL="342900" indent="-342900">
              <a:buAutoNum type="arabicPeriod"/>
            </a:pPr>
            <a:r>
              <a:rPr lang="en-IN" sz="3200" dirty="0">
                <a:latin typeface="Times New Roman" panose="02020603050405020304" pitchFamily="18" charset="0"/>
                <a:cs typeface="Times New Roman" panose="02020603050405020304" pitchFamily="18" charset="0"/>
              </a:rPr>
              <a:t>Collect the data sooner</a:t>
            </a:r>
          </a:p>
          <a:p>
            <a:pPr marL="342900" indent="-342900">
              <a:buAutoNum type="arabicPeriod"/>
            </a:pPr>
            <a:r>
              <a:rPr lang="en-IN" sz="3200" dirty="0">
                <a:latin typeface="Times New Roman" panose="02020603050405020304" pitchFamily="18" charset="0"/>
                <a:cs typeface="Times New Roman" panose="02020603050405020304" pitchFamily="18" charset="0"/>
              </a:rPr>
              <a:t>Could have asked numerical data</a:t>
            </a:r>
          </a:p>
          <a:p>
            <a:pPr marL="342900" indent="-342900">
              <a:buAutoNum type="arabicPeriod"/>
            </a:pPr>
            <a:r>
              <a:rPr lang="en-IN" sz="3200" dirty="0">
                <a:latin typeface="Times New Roman" panose="02020603050405020304" pitchFamily="18" charset="0"/>
                <a:cs typeface="Times New Roman" panose="02020603050405020304" pitchFamily="18" charset="0"/>
              </a:rPr>
              <a:t>Could have done other types of analyses that I do not know yet</a:t>
            </a:r>
          </a:p>
          <a:p>
            <a:pPr marL="342900" indent="-342900">
              <a:buAutoNum type="arabicPeriod"/>
            </a:pPr>
            <a:r>
              <a:rPr lang="en-IN" sz="3200" dirty="0">
                <a:latin typeface="Times New Roman" panose="02020603050405020304" pitchFamily="18" charset="0"/>
                <a:cs typeface="Times New Roman" panose="02020603050405020304" pitchFamily="18" charset="0"/>
              </a:rPr>
              <a:t>Could have created better charts that represents the data more accurately</a:t>
            </a:r>
          </a:p>
        </p:txBody>
      </p:sp>
    </p:spTree>
    <p:extLst>
      <p:ext uri="{BB962C8B-B14F-4D97-AF65-F5344CB8AC3E}">
        <p14:creationId xmlns:p14="http://schemas.microsoft.com/office/powerpoint/2010/main" val="45702464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3C44652-6D1F-B651-ADB5-2897EA321DCF}"/>
              </a:ext>
            </a:extLst>
          </p:cNvPr>
          <p:cNvSpPr txBox="1"/>
          <p:nvPr/>
        </p:nvSpPr>
        <p:spPr>
          <a:xfrm>
            <a:off x="3545305" y="577516"/>
            <a:ext cx="3946358" cy="830997"/>
          </a:xfrm>
          <a:prstGeom prst="rect">
            <a:avLst/>
          </a:prstGeom>
          <a:noFill/>
        </p:spPr>
        <p:txBody>
          <a:bodyPr wrap="square" rtlCol="0">
            <a:spAutoFit/>
          </a:bodyPr>
          <a:lstStyle/>
          <a:p>
            <a:r>
              <a:rPr lang="en-IN" sz="4800" dirty="0">
                <a:latin typeface="Times New Roman" panose="02020603050405020304" pitchFamily="18" charset="0"/>
                <a:cs typeface="Times New Roman" panose="02020603050405020304" pitchFamily="18" charset="0"/>
              </a:rPr>
              <a:t>Mistakes done</a:t>
            </a:r>
          </a:p>
        </p:txBody>
      </p:sp>
      <p:sp>
        <p:nvSpPr>
          <p:cNvPr id="3" name="TextBox 2">
            <a:extLst>
              <a:ext uri="{FF2B5EF4-FFF2-40B4-BE49-F238E27FC236}">
                <a16:creationId xmlns:a16="http://schemas.microsoft.com/office/drawing/2014/main" id="{F9294CAC-9BD9-96B6-AA0F-FA062DAD4711}"/>
              </a:ext>
            </a:extLst>
          </p:cNvPr>
          <p:cNvSpPr txBox="1"/>
          <p:nvPr/>
        </p:nvSpPr>
        <p:spPr>
          <a:xfrm>
            <a:off x="449179" y="2711116"/>
            <a:ext cx="11454063" cy="3970318"/>
          </a:xfrm>
          <a:prstGeom prst="rect">
            <a:avLst/>
          </a:prstGeom>
          <a:noFill/>
        </p:spPr>
        <p:txBody>
          <a:bodyPr wrap="square" rtlCol="0">
            <a:spAutoFit/>
          </a:bodyPr>
          <a:lstStyle/>
          <a:p>
            <a:r>
              <a:rPr lang="en-IN" sz="3600" dirty="0">
                <a:latin typeface="Times New Roman" panose="02020603050405020304" pitchFamily="18" charset="0"/>
                <a:cs typeface="Times New Roman" panose="02020603050405020304" pitchFamily="18" charset="0"/>
              </a:rPr>
              <a:t>Created a survey called “Artificial Intelligence impact on future”. Maybe too complicated, only got 40 responses after 20 days.</a:t>
            </a:r>
          </a:p>
          <a:p>
            <a:r>
              <a:rPr lang="en-IN" sz="3600" dirty="0">
                <a:latin typeface="Times New Roman" panose="02020603050405020304" pitchFamily="18" charset="0"/>
                <a:cs typeface="Times New Roman" panose="02020603050405020304" pitchFamily="18" charset="0"/>
              </a:rPr>
              <a:t>Collected data too late.</a:t>
            </a:r>
          </a:p>
          <a:p>
            <a:r>
              <a:rPr lang="en-IN" sz="3600" dirty="0">
                <a:latin typeface="Times New Roman" panose="02020603050405020304" pitchFamily="18" charset="0"/>
                <a:cs typeface="Times New Roman" panose="02020603050405020304" pitchFamily="18" charset="0"/>
              </a:rPr>
              <a:t>Could have started sooner, rushed it a little bit.</a:t>
            </a:r>
          </a:p>
          <a:p>
            <a:r>
              <a:rPr lang="en-IN" sz="3600" dirty="0">
                <a:latin typeface="Times New Roman" panose="02020603050405020304" pitchFamily="18" charset="0"/>
                <a:cs typeface="Times New Roman" panose="02020603050405020304" pitchFamily="18" charset="0"/>
              </a:rPr>
              <a:t>Did numerical analyses for categorical data at first, removed it after ma’am had mentioned it.</a:t>
            </a:r>
          </a:p>
        </p:txBody>
      </p:sp>
    </p:spTree>
    <p:extLst>
      <p:ext uri="{BB962C8B-B14F-4D97-AF65-F5344CB8AC3E}">
        <p14:creationId xmlns:p14="http://schemas.microsoft.com/office/powerpoint/2010/main" val="100412548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668BBD1-3F61-4568-7C95-D6705ECF758D}"/>
              </a:ext>
            </a:extLst>
          </p:cNvPr>
          <p:cNvSpPr txBox="1"/>
          <p:nvPr/>
        </p:nvSpPr>
        <p:spPr>
          <a:xfrm>
            <a:off x="3352800" y="946484"/>
            <a:ext cx="3769895" cy="830997"/>
          </a:xfrm>
          <a:prstGeom prst="rect">
            <a:avLst/>
          </a:prstGeom>
          <a:noFill/>
        </p:spPr>
        <p:txBody>
          <a:bodyPr wrap="square" rtlCol="0">
            <a:spAutoFit/>
          </a:bodyPr>
          <a:lstStyle/>
          <a:p>
            <a:pPr algn="ctr"/>
            <a:r>
              <a:rPr lang="en-IN" sz="4800" dirty="0">
                <a:latin typeface="Times New Roman" panose="02020603050405020304" pitchFamily="18" charset="0"/>
                <a:cs typeface="Times New Roman" panose="02020603050405020304" pitchFamily="18" charset="0"/>
              </a:rPr>
              <a:t>Conclusion</a:t>
            </a:r>
          </a:p>
        </p:txBody>
      </p:sp>
      <p:sp>
        <p:nvSpPr>
          <p:cNvPr id="3" name="TextBox 2">
            <a:extLst>
              <a:ext uri="{FF2B5EF4-FFF2-40B4-BE49-F238E27FC236}">
                <a16:creationId xmlns:a16="http://schemas.microsoft.com/office/drawing/2014/main" id="{85071C9D-263E-0CFD-3EDD-471A8080DAC4}"/>
              </a:ext>
            </a:extLst>
          </p:cNvPr>
          <p:cNvSpPr txBox="1"/>
          <p:nvPr/>
        </p:nvSpPr>
        <p:spPr>
          <a:xfrm>
            <a:off x="150829" y="2518611"/>
            <a:ext cx="11415859" cy="3477875"/>
          </a:xfrm>
          <a:prstGeom prst="rect">
            <a:avLst/>
          </a:prstGeom>
          <a:noFill/>
        </p:spPr>
        <p:txBody>
          <a:bodyPr wrap="square" rtlCol="0">
            <a:spAutoFit/>
          </a:bodyPr>
          <a:lstStyle/>
          <a:p>
            <a:pPr algn="just"/>
            <a:r>
              <a:rPr lang="en-IN" sz="4400" dirty="0">
                <a:latin typeface="Times New Roman" panose="02020603050405020304" pitchFamily="18" charset="0"/>
                <a:cs typeface="Times New Roman" panose="02020603050405020304" pitchFamily="18" charset="0"/>
              </a:rPr>
              <a:t>Most have chosen slight influence over moderate, and no influence over high influence. I would conclude that people are quite sceptical about social media influencers.</a:t>
            </a:r>
          </a:p>
          <a:p>
            <a:pPr algn="ctr"/>
            <a:r>
              <a:rPr lang="en-IN" sz="4400"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63920415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F46216B-77A9-411A-B9D3-5023FCB7020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919</TotalTime>
  <Words>1926</Words>
  <Application>Microsoft Office PowerPoint</Application>
  <PresentationFormat>Widescreen</PresentationFormat>
  <Paragraphs>322</Paragraphs>
  <Slides>55</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55</vt:i4>
      </vt:variant>
    </vt:vector>
  </HeadingPairs>
  <TitlesOfParts>
    <vt:vector size="60" baseType="lpstr">
      <vt:lpstr>Arial</vt:lpstr>
      <vt:lpstr>Calibri</vt:lpstr>
      <vt:lpstr>Calibri Light</vt:lpstr>
      <vt:lpstr>Times New Roman</vt:lpstr>
      <vt:lpstr>Office Theme</vt:lpstr>
      <vt:lpstr>Impact of social media influencers</vt:lpstr>
      <vt:lpstr>Introduction </vt:lpstr>
      <vt:lpstr>Data</vt:lpstr>
      <vt:lpstr>Data analysis </vt:lpstr>
      <vt:lpstr>PowerPoint Presentation</vt:lpstr>
      <vt:lpstr>PowerPoint Presentation</vt:lpstr>
      <vt:lpstr>PowerPoint Presentation</vt:lpstr>
      <vt:lpstr>PowerPoint Presentation</vt:lpstr>
      <vt:lpstr>PowerPoint Presentation</vt:lpstr>
      <vt:lpstr>PowerPoint Presentation</vt:lpstr>
      <vt:lpstr>Inference: Most response are from male humans.</vt:lpstr>
      <vt:lpstr>1. How often do you trust the recommendations of social media influencers? </vt:lpstr>
      <vt:lpstr>PowerPoint Presentation</vt:lpstr>
      <vt:lpstr>PowerPoint Presentation</vt:lpstr>
      <vt:lpstr>2.How authentic do you find social media influencers?</vt:lpstr>
      <vt:lpstr>PowerPoint Presentation</vt:lpstr>
      <vt:lpstr>PowerPoint Presentation</vt:lpstr>
      <vt:lpstr>3. How knowledgeable are social media influencers in their niche? </vt:lpstr>
      <vt:lpstr>PowerPoint Presentation</vt:lpstr>
      <vt:lpstr>PowerPoint Presentation</vt:lpstr>
      <vt:lpstr>PowerPoint Presentation</vt:lpstr>
      <vt:lpstr>skewness -0.51771073 kurtosis -0.888527296 </vt:lpstr>
      <vt:lpstr>Inference A significant portion of respondents (40%) report a moderate impact of social media influencers on their fashion choices. Insight: there is a notable proportion of people who either experience significant influence or none at all. Recommendation: They should consider whether these trends genuinely suit their style and needs, rather than following them blindly.</vt:lpstr>
      <vt:lpstr>8.How much do social media influencers impact your fashion choices? </vt:lpstr>
      <vt:lpstr>9.How often do you follow health and fitness advice from social media influencers? </vt:lpstr>
      <vt:lpstr>PowerPoint Presentation</vt:lpstr>
      <vt:lpstr>Skewness 0.224151336 positive skew Kurtosis -0.879862884 platykurtic </vt:lpstr>
      <vt:lpstr>PowerPoint Presentation</vt:lpstr>
      <vt:lpstr>10. How much do social media influencers impact your beauty and skincare routine? 1 </vt:lpstr>
      <vt:lpstr>PowerPoint Presentation</vt:lpstr>
      <vt:lpstr>skewness 0.061409206 kurtosis -1.66555473 </vt:lpstr>
      <vt:lpstr>Inference The largest portion of respondents (39%) indicates that social media influencers impact their beauty and skincare routine “moderately.”  Insight Social media influencers have a varied impact on beauty and skincare routines, with the majority experiencing moderate to slight influence. Recommendation: Encourage individuals to approach beauty and skincare advice from influencers with a critical eye.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Sanjay J</dc:creator>
  <cp:lastModifiedBy>Sanjay J</cp:lastModifiedBy>
  <cp:revision>7</cp:revision>
  <dcterms:created xsi:type="dcterms:W3CDTF">2024-09-11T02:54:27Z</dcterms:created>
  <dcterms:modified xsi:type="dcterms:W3CDTF">2024-09-12T04:30:07Z</dcterms:modified>
</cp:coreProperties>
</file>